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08"/>
  </p:notesMasterIdLst>
  <p:sldIdLst>
    <p:sldId id="256" r:id="rId2"/>
    <p:sldId id="976" r:id="rId3"/>
    <p:sldId id="257" r:id="rId4"/>
    <p:sldId id="258" r:id="rId5"/>
    <p:sldId id="259" r:id="rId6"/>
    <p:sldId id="409" r:id="rId7"/>
    <p:sldId id="260" r:id="rId8"/>
    <p:sldId id="261" r:id="rId9"/>
    <p:sldId id="367" r:id="rId10"/>
    <p:sldId id="264" r:id="rId11"/>
    <p:sldId id="989" r:id="rId12"/>
    <p:sldId id="300" r:id="rId13"/>
    <p:sldId id="1020" r:id="rId14"/>
    <p:sldId id="1004" r:id="rId15"/>
    <p:sldId id="1009" r:id="rId16"/>
    <p:sldId id="265" r:id="rId17"/>
    <p:sldId id="267" r:id="rId18"/>
    <p:sldId id="268" r:id="rId19"/>
    <p:sldId id="269" r:id="rId20"/>
    <p:sldId id="979" r:id="rId21"/>
    <p:sldId id="304" r:id="rId22"/>
    <p:sldId id="262" r:id="rId23"/>
    <p:sldId id="1005" r:id="rId24"/>
    <p:sldId id="1021" r:id="rId25"/>
    <p:sldId id="980" r:id="rId26"/>
    <p:sldId id="1006" r:id="rId27"/>
    <p:sldId id="299" r:id="rId28"/>
    <p:sldId id="1026" r:id="rId29"/>
    <p:sldId id="1027" r:id="rId30"/>
    <p:sldId id="1028" r:id="rId31"/>
    <p:sldId id="1029" r:id="rId32"/>
    <p:sldId id="983" r:id="rId33"/>
    <p:sldId id="984" r:id="rId34"/>
    <p:sldId id="985" r:id="rId35"/>
    <p:sldId id="1022" r:id="rId36"/>
    <p:sldId id="1023" r:id="rId37"/>
    <p:sldId id="1030" r:id="rId38"/>
    <p:sldId id="1031" r:id="rId39"/>
    <p:sldId id="1032" r:id="rId40"/>
    <p:sldId id="1033" r:id="rId41"/>
    <p:sldId id="1034" r:id="rId42"/>
    <p:sldId id="1035" r:id="rId43"/>
    <p:sldId id="986" r:id="rId44"/>
    <p:sldId id="1012" r:id="rId45"/>
    <p:sldId id="999" r:id="rId46"/>
    <p:sldId id="1024" r:id="rId47"/>
    <p:sldId id="1025" r:id="rId48"/>
    <p:sldId id="1000" r:id="rId49"/>
    <p:sldId id="1001" r:id="rId50"/>
    <p:sldId id="1002" r:id="rId51"/>
    <p:sldId id="1008" r:id="rId52"/>
    <p:sldId id="1007" r:id="rId53"/>
    <p:sldId id="981" r:id="rId54"/>
    <p:sldId id="978" r:id="rId55"/>
    <p:sldId id="1011" r:id="rId56"/>
    <p:sldId id="305" r:id="rId57"/>
    <p:sldId id="982" r:id="rId58"/>
    <p:sldId id="306" r:id="rId59"/>
    <p:sldId id="307" r:id="rId60"/>
    <p:sldId id="987" r:id="rId61"/>
    <p:sldId id="1010" r:id="rId62"/>
    <p:sldId id="273" r:id="rId63"/>
    <p:sldId id="998" r:id="rId64"/>
    <p:sldId id="988" r:id="rId65"/>
    <p:sldId id="1003" r:id="rId66"/>
    <p:sldId id="1038" r:id="rId67"/>
    <p:sldId id="1037" r:id="rId68"/>
    <p:sldId id="1036" r:id="rId69"/>
    <p:sldId id="1014" r:id="rId70"/>
    <p:sldId id="1013" r:id="rId71"/>
    <p:sldId id="271" r:id="rId72"/>
    <p:sldId id="272" r:id="rId73"/>
    <p:sldId id="274" r:id="rId74"/>
    <p:sldId id="276" r:id="rId75"/>
    <p:sldId id="277" r:id="rId76"/>
    <p:sldId id="278" r:id="rId77"/>
    <p:sldId id="279" r:id="rId78"/>
    <p:sldId id="280" r:id="rId79"/>
    <p:sldId id="270" r:id="rId80"/>
    <p:sldId id="281" r:id="rId81"/>
    <p:sldId id="282" r:id="rId82"/>
    <p:sldId id="283" r:id="rId83"/>
    <p:sldId id="284" r:id="rId84"/>
    <p:sldId id="285" r:id="rId85"/>
    <p:sldId id="286" r:id="rId86"/>
    <p:sldId id="287" r:id="rId87"/>
    <p:sldId id="288" r:id="rId88"/>
    <p:sldId id="289" r:id="rId89"/>
    <p:sldId id="291" r:id="rId90"/>
    <p:sldId id="292" r:id="rId91"/>
    <p:sldId id="294" r:id="rId92"/>
    <p:sldId id="296" r:id="rId93"/>
    <p:sldId id="297" r:id="rId94"/>
    <p:sldId id="380" r:id="rId95"/>
    <p:sldId id="418" r:id="rId96"/>
    <p:sldId id="298" r:id="rId97"/>
    <p:sldId id="1015" r:id="rId98"/>
    <p:sldId id="990" r:id="rId99"/>
    <p:sldId id="991" r:id="rId100"/>
    <p:sldId id="992" r:id="rId101"/>
    <p:sldId id="1016" r:id="rId102"/>
    <p:sldId id="994" r:id="rId103"/>
    <p:sldId id="1017" r:id="rId104"/>
    <p:sldId id="1018" r:id="rId105"/>
    <p:sldId id="995" r:id="rId106"/>
    <p:sldId id="1019" r:id="rId107"/>
  </p:sldIdLst>
  <p:sldSz cx="12192000" cy="6858000"/>
  <p:notesSz cx="6797675" cy="9928225"/>
  <p:embeddedFontLst>
    <p:embeddedFont>
      <p:font typeface="Calibri" panose="020F0502020204030204" pitchFamily="34" charset="0"/>
      <p:regular r:id="rId109"/>
      <p:bold r:id="rId110"/>
      <p:italic r:id="rId111"/>
      <p:boldItalic r:id="rId112"/>
    </p:embeddedFont>
    <p:embeddedFont>
      <p:font typeface="Consolas" panose="020B0609020204030204" pitchFamily="49" charset="0"/>
      <p:regular r:id="rId113"/>
      <p:bold r:id="rId114"/>
      <p:italic r:id="rId115"/>
      <p:boldItalic r:id="rId116"/>
    </p:embeddedFont>
    <p:embeddedFont>
      <p:font typeface="Fira Code" panose="020B0809050000020004" pitchFamily="49" charset="0"/>
      <p:regular r:id="rId117"/>
      <p:bold r:id="rId118"/>
    </p:embeddedFont>
    <p:embeddedFont>
      <p:font typeface="Helvetica Neue" panose="02020500000000000000" charset="0"/>
      <p:regular r:id="rId119"/>
      <p:bold r:id="rId120"/>
      <p:italic r:id="rId121"/>
      <p:boldItalic r:id="rId122"/>
    </p:embeddedFont>
    <p:embeddedFont>
      <p:font typeface="Lato" panose="020F0502020204030203" pitchFamily="34" charset="0"/>
      <p:regular r:id="rId123"/>
      <p:bold r:id="rId124"/>
      <p:italic r:id="rId125"/>
      <p:boldItalic r:id="rId126"/>
    </p:embeddedFont>
    <p:embeddedFont>
      <p:font typeface="Lucida Console" panose="020B0609040504020204" pitchFamily="49" charset="0"/>
      <p:regular r:id="rId127"/>
    </p:embeddedFont>
    <p:embeddedFont>
      <p:font typeface="Segoe UI" panose="020B0502040204020203" pitchFamily="34" charset="0"/>
      <p:regular r:id="rId128"/>
      <p:bold r:id="rId129"/>
      <p:italic r:id="rId130"/>
      <p:boldItalic r:id="rId131"/>
    </p:embeddedFont>
    <p:embeddedFont>
      <p:font typeface="Verdana" panose="020B0604030504040204" pitchFamily="34" charset="0"/>
      <p:regular r:id="rId132"/>
      <p:bold r:id="rId133"/>
      <p:italic r:id="rId134"/>
      <p:boldItalic r:id="rId135"/>
    </p:embeddedFont>
    <p:embeddedFont>
      <p:font typeface="微軟正黑體" panose="020B0604030504040204" pitchFamily="34" charset="-120"/>
      <p:regular r:id="rId136"/>
      <p:bold r:id="rId1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166">
          <p15:clr>
            <a:srgbClr val="A4A3A4"/>
          </p15:clr>
        </p15:guide>
        <p15:guide id="4" pos="38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8" roundtripDataSignature="AMtx7mhsFSnfBdEgYbw7+WLI3+FnK5tb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4EC54D-0DAB-4541-8A27-4D770AF52201}">
  <a:tblStyle styleId="{7D4EC54D-0DAB-4541-8A27-4D770AF5220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DF2"/>
          </a:solidFill>
        </a:fill>
      </a:tcStyle>
    </a:wholeTbl>
    <a:band1H>
      <a:tcTxStyle/>
      <a:tcStyle>
        <a:tcBdr/>
        <a:fill>
          <a:solidFill>
            <a:srgbClr val="CBDAE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AE3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1" autoAdjust="0"/>
    <p:restoredTop sz="94660"/>
  </p:normalViewPr>
  <p:slideViewPr>
    <p:cSldViewPr snapToGrid="0">
      <p:cViewPr varScale="1">
        <p:scale>
          <a:sx n="79" d="100"/>
          <a:sy n="79" d="100"/>
        </p:scale>
        <p:origin x="48" y="43"/>
      </p:cViewPr>
      <p:guideLst>
        <p:guide orient="horz" pos="2160"/>
        <p:guide pos="3840"/>
        <p:guide orient="horz" pos="2166"/>
        <p:guide pos="38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9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customschemas.google.com/relationships/presentationmetadata" Target="meta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5.fntdata"/><Relationship Id="rId128" Type="http://schemas.openxmlformats.org/officeDocument/2006/relationships/font" Target="fonts/font20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5.fntdata"/><Relationship Id="rId118" Type="http://schemas.openxmlformats.org/officeDocument/2006/relationships/font" Target="fonts/font10.fntdata"/><Relationship Id="rId134" Type="http://schemas.openxmlformats.org/officeDocument/2006/relationships/font" Target="fonts/font26.fntdata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124" Type="http://schemas.openxmlformats.org/officeDocument/2006/relationships/font" Target="fonts/font16.fntdata"/><Relationship Id="rId129" Type="http://schemas.openxmlformats.org/officeDocument/2006/relationships/font" Target="fonts/font21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6.fntdata"/><Relationship Id="rId119" Type="http://schemas.openxmlformats.org/officeDocument/2006/relationships/font" Target="fonts/font11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22.fntdata"/><Relationship Id="rId135" Type="http://schemas.openxmlformats.org/officeDocument/2006/relationships/font" Target="fonts/font27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1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12.fntdata"/><Relationship Id="rId125" Type="http://schemas.openxmlformats.org/officeDocument/2006/relationships/font" Target="fonts/font17.fntdata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2.fntdata"/><Relationship Id="rId115" Type="http://schemas.openxmlformats.org/officeDocument/2006/relationships/font" Target="fonts/font7.fntdata"/><Relationship Id="rId131" Type="http://schemas.openxmlformats.org/officeDocument/2006/relationships/font" Target="fonts/font23.fntdata"/><Relationship Id="rId136" Type="http://schemas.openxmlformats.org/officeDocument/2006/relationships/font" Target="fonts/font28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13.fntdata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8.fntdata"/><Relationship Id="rId137" Type="http://schemas.openxmlformats.org/officeDocument/2006/relationships/font" Target="fonts/font2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3.fntdata"/><Relationship Id="rId132" Type="http://schemas.openxmlformats.org/officeDocument/2006/relationships/font" Target="fonts/font24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font" Target="fonts/font4.fntdata"/><Relationship Id="rId133" Type="http://schemas.openxmlformats.org/officeDocument/2006/relationships/font" Target="fonts/font25.fntdata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8737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8756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8340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747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5271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621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1122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56400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9300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3238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4329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54540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761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24801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4367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30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0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4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1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2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>
            <a:extLst>
              <a:ext uri="{FF2B5EF4-FFF2-40B4-BE49-F238E27FC236}">
                <a16:creationId xmlns:a16="http://schemas.microsoft.com/office/drawing/2014/main" id="{3B0305EF-42FF-430E-BE17-B07D12204C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備忘稿版面配置區 2">
            <a:extLst>
              <a:ext uri="{FF2B5EF4-FFF2-40B4-BE49-F238E27FC236}">
                <a16:creationId xmlns:a16="http://schemas.microsoft.com/office/drawing/2014/main" id="{4F6196AB-71A8-4271-9AD1-DA50729B9F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55300" name="投影片編號版面配置區 3">
            <a:extLst>
              <a:ext uri="{FF2B5EF4-FFF2-40B4-BE49-F238E27FC236}">
                <a16:creationId xmlns:a16="http://schemas.microsoft.com/office/drawing/2014/main" id="{BF75CA1F-B30B-4755-A578-CB9EE53D0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fld id="{5429EADF-9E8B-4392-AA9D-063543501FE1}" type="slidenum">
              <a:rPr kumimoji="0" lang="zh-TW" altLang="en-US" sz="1200" smtClean="0">
                <a:ea typeface="新細明體" panose="02020500000000000000" pitchFamily="18" charset="-120"/>
              </a:rPr>
              <a:pPr/>
              <a:t>94</a:t>
            </a:fld>
            <a:endParaRPr kumimoji="0" lang="zh-TW" altLang="en-US" sz="120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30354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3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tline">
  <p:cSld name="outlin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6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4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46"/>
          <p:cNvSpPr/>
          <p:nvPr/>
        </p:nvSpPr>
        <p:spPr>
          <a:xfrm rot="1800000">
            <a:off x="8240119" y="4242101"/>
            <a:ext cx="9372655" cy="3736136"/>
          </a:xfrm>
          <a:custGeom>
            <a:avLst/>
            <a:gdLst/>
            <a:ahLst/>
            <a:cxnLst/>
            <a:rect l="l" t="t" r="r" b="b"/>
            <a:pathLst>
              <a:path w="9372655" h="3792276" extrusionOk="0">
                <a:moveTo>
                  <a:pt x="0" y="3792276"/>
                </a:moveTo>
                <a:lnTo>
                  <a:pt x="142215" y="0"/>
                </a:lnTo>
                <a:lnTo>
                  <a:pt x="9372655" y="9841"/>
                </a:lnTo>
                <a:lnTo>
                  <a:pt x="9372655" y="3769912"/>
                </a:lnTo>
                <a:lnTo>
                  <a:pt x="0" y="3792276"/>
                </a:lnTo>
                <a:close/>
              </a:path>
            </a:pathLst>
          </a:custGeom>
          <a:gradFill>
            <a:gsLst>
              <a:gs pos="0">
                <a:srgbClr val="D8D8D8">
                  <a:alpha val="40000"/>
                </a:srgbClr>
              </a:gs>
              <a:gs pos="84600">
                <a:srgbClr val="F2F2F2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/>
          <p:nvPr/>
        </p:nvSpPr>
        <p:spPr>
          <a:xfrm rot="1800000">
            <a:off x="2693785" y="4242101"/>
            <a:ext cx="9372655" cy="3736136"/>
          </a:xfrm>
          <a:custGeom>
            <a:avLst/>
            <a:gdLst/>
            <a:ahLst/>
            <a:cxnLst/>
            <a:rect l="l" t="t" r="r" b="b"/>
            <a:pathLst>
              <a:path w="9372655" h="3792276" extrusionOk="0">
                <a:moveTo>
                  <a:pt x="0" y="3792276"/>
                </a:moveTo>
                <a:lnTo>
                  <a:pt x="142215" y="0"/>
                </a:lnTo>
                <a:lnTo>
                  <a:pt x="9372655" y="9841"/>
                </a:lnTo>
                <a:lnTo>
                  <a:pt x="9372655" y="3769912"/>
                </a:lnTo>
                <a:lnTo>
                  <a:pt x="0" y="3792276"/>
                </a:lnTo>
                <a:close/>
              </a:path>
            </a:pathLst>
          </a:custGeom>
          <a:gradFill>
            <a:gsLst>
              <a:gs pos="0">
                <a:srgbClr val="D8D8D8">
                  <a:alpha val="40000"/>
                </a:srgbClr>
              </a:gs>
              <a:gs pos="84600">
                <a:srgbClr val="F2F2F2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7"/>
          <p:cNvSpPr>
            <a:spLocks noGrp="1"/>
          </p:cNvSpPr>
          <p:nvPr>
            <p:ph type="pic" idx="2"/>
          </p:nvPr>
        </p:nvSpPr>
        <p:spPr>
          <a:xfrm>
            <a:off x="2114769" y="2366759"/>
            <a:ext cx="2845204" cy="2845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>
  <p:cSld name="2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8"/>
          <p:cNvSpPr>
            <a:spLocks noGrp="1"/>
          </p:cNvSpPr>
          <p:nvPr>
            <p:ph type="pic" idx="2"/>
          </p:nvPr>
        </p:nvSpPr>
        <p:spPr>
          <a:xfrm>
            <a:off x="1553026" y="1268413"/>
            <a:ext cx="3889831" cy="388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4"/>
          <p:cNvGrpSpPr/>
          <p:nvPr/>
        </p:nvGrpSpPr>
        <p:grpSpPr>
          <a:xfrm>
            <a:off x="-13448" y="6779768"/>
            <a:ext cx="12205447" cy="78232"/>
            <a:chOff x="-13448" y="277732"/>
            <a:chExt cx="12205447" cy="71120"/>
          </a:xfrm>
        </p:grpSpPr>
        <p:sp>
          <p:nvSpPr>
            <p:cNvPr id="11" name="Google Shape;11;p44"/>
            <p:cNvSpPr/>
            <p:nvPr/>
          </p:nvSpPr>
          <p:spPr>
            <a:xfrm>
              <a:off x="-13448" y="277732"/>
              <a:ext cx="2441089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44"/>
            <p:cNvSpPr/>
            <p:nvPr/>
          </p:nvSpPr>
          <p:spPr>
            <a:xfrm>
              <a:off x="2427641" y="277732"/>
              <a:ext cx="2441089" cy="7112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4"/>
            <p:cNvSpPr/>
            <p:nvPr/>
          </p:nvSpPr>
          <p:spPr>
            <a:xfrm>
              <a:off x="4868731" y="277732"/>
              <a:ext cx="2441089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4"/>
            <p:cNvSpPr/>
            <p:nvPr/>
          </p:nvSpPr>
          <p:spPr>
            <a:xfrm>
              <a:off x="7309820" y="277732"/>
              <a:ext cx="2441089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4"/>
            <p:cNvSpPr/>
            <p:nvPr/>
          </p:nvSpPr>
          <p:spPr>
            <a:xfrm>
              <a:off x="9750910" y="277732"/>
              <a:ext cx="2441089" cy="711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onze.tw/jquery-prop-vs-attr/" TargetMode="External"/><Relationship Id="rId2" Type="http://schemas.openxmlformats.org/officeDocument/2006/relationships/hyperlink" Target="https://www.cythilya.tw/2017/09/10/jquery-attr-vs-prop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hyperlink" Target="https://www.runoob.com/try/try.php?filename=tryjquery_traversing_filter_even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try/try.php?filename=tryjquery_traversing_filter_multiple" TargetMode="Externa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hyperlink" Target="https://www.runoob.com/try/try.php?filename=tryjquery_traversing_filter_dom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www.runoob.com/try/try.php?filename=tryjquery_traversing_filter_func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query/jquery_ref_selectors.asp" TargetMode="External"/><Relationship Id="rId2" Type="http://schemas.openxmlformats.org/officeDocument/2006/relationships/hyperlink" Target="https://www.w3schools.com/jquery/sel_gt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query/tryit.asp?filename=tryjquery_html_addclass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oscarotero.com/jquery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scarotero.com/jquery/" TargetMode="External"/><Relationship Id="rId4" Type="http://schemas.openxmlformats.org/officeDocument/2006/relationships/image" Target="../media/image15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2.png"/><Relationship Id="rId7" Type="http://schemas.openxmlformats.org/officeDocument/2006/relationships/image" Target="../media/image18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20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3.png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fontawesome.com/icons?d=gallery&amp;q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7.png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hyperlink" Target="https://developer.mozilla.org/zh-TW/docs/Web/API/Fetch_API/Using_Fetch" TargetMode="Externa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4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dkBky9iIfg" TargetMode="External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/>
          <p:nvPr/>
        </p:nvSpPr>
        <p:spPr>
          <a:xfrm>
            <a:off x="3326130" y="1015365"/>
            <a:ext cx="46987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本次課程內容介紹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1337310" y="3278503"/>
            <a:ext cx="28520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網頁設計(44)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4248150" y="3261892"/>
            <a:ext cx="331372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資料庫設計(16)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7620654" y="3278503"/>
            <a:ext cx="42246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後端網站建置(32)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" name="Google Shape;37;p1"/>
          <p:cNvGraphicFramePr/>
          <p:nvPr/>
        </p:nvGraphicFramePr>
        <p:xfrm>
          <a:off x="4646791" y="1983105"/>
          <a:ext cx="2057400" cy="838200"/>
        </p:xfrm>
        <a:graphic>
          <a:graphicData uri="http://schemas.openxmlformats.org/drawingml/2006/table">
            <a:tbl>
              <a:tblPr>
                <a:noFill/>
                <a:tableStyleId>{7D4EC54D-0DAB-4541-8A27-4D770AF52201}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網頁設計: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44小時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11時段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資料庫: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16小時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4時段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後端網站: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32小時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8時段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92小時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/>
                        <a:t>23時段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PMingLiu"/>
                        <a:ea typeface="PMingLiu"/>
                        <a:cs typeface="PMingLiu"/>
                        <a:sym typeface="PMingLiu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Google Shape;38;p1"/>
          <p:cNvSpPr txBox="1"/>
          <p:nvPr/>
        </p:nvSpPr>
        <p:spPr>
          <a:xfrm>
            <a:off x="1824990" y="4147185"/>
            <a:ext cx="2946063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jQuery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Bootstrap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Vue.js (若時間夠,後端展示)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5044549" y="4147185"/>
            <a:ext cx="17919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資料庫理論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 SQL Server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8024852" y="4147185"/>
            <a:ext cx="21384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ASP.NET C#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ASP.NET C#  MVC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114300" y="6287213"/>
            <a:ext cx="27238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資料參考來源：六角學院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B0CC1AA-83EA-4246-B47B-E3C7EAFBB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36" y="1664612"/>
            <a:ext cx="10668925" cy="437425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9B24A6A-A226-4826-8F8F-776F4F5DC7A3}"/>
              </a:ext>
            </a:extLst>
          </p:cNvPr>
          <p:cNvSpPr txBox="1"/>
          <p:nvPr/>
        </p:nvSpPr>
        <p:spPr>
          <a:xfrm>
            <a:off x="2179782" y="406400"/>
            <a:ext cx="6754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111</a:t>
            </a:r>
            <a:r>
              <a:rPr lang="zh-TW" altLang="en-US" dirty="0"/>
              <a:t> 年度 勞動部新尖兵計畫 </a:t>
            </a:r>
            <a:r>
              <a:rPr lang="en-US" altLang="zh-TW" dirty="0"/>
              <a:t>–</a:t>
            </a:r>
            <a:r>
              <a:rPr lang="zh-TW" altLang="en-US" dirty="0"/>
              <a:t> 北商大 互動程式設計人才培育計畫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F707676-79F1-4055-80A8-957C4437FE93}"/>
              </a:ext>
            </a:extLst>
          </p:cNvPr>
          <p:cNvSpPr txBox="1"/>
          <p:nvPr/>
        </p:nvSpPr>
        <p:spPr>
          <a:xfrm>
            <a:off x="9256836" y="116378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授課講師：許正憲</a:t>
            </a:r>
          </a:p>
        </p:txBody>
      </p:sp>
    </p:spTree>
    <p:extLst>
      <p:ext uri="{BB962C8B-B14F-4D97-AF65-F5344CB8AC3E}">
        <p14:creationId xmlns:p14="http://schemas.microsoft.com/office/powerpoint/2010/main" val="170260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387" y="967892"/>
            <a:ext cx="5234929" cy="554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2493" y="668198"/>
            <a:ext cx="4942857" cy="6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 txBox="1"/>
          <p:nvPr/>
        </p:nvSpPr>
        <p:spPr>
          <a:xfrm flipH="1">
            <a:off x="425387" y="537085"/>
            <a:ext cx="12094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原課表</a:t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 flipH="1">
            <a:off x="6394497" y="298866"/>
            <a:ext cx="17947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擬調整後課表</a:t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11058356" y="0"/>
            <a:ext cx="113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第01節完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/>
        </p:nvSpPr>
        <p:spPr>
          <a:xfrm>
            <a:off x="1990344" y="3650361"/>
            <a:ext cx="96488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jQuery基本語法介紹</a:t>
            </a:r>
            <a:endParaRPr sz="54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964691" y="1537454"/>
            <a:ext cx="962314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使用 jQuery 打造互動性網頁動畫效果</a:t>
            </a:r>
            <a:endParaRPr sz="4400" b="1" i="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4"/>
          <p:cNvPicPr preferRelativeResize="0"/>
          <p:nvPr/>
        </p:nvPicPr>
        <p:blipFill rotWithShape="1">
          <a:blip r:embed="rId3">
            <a:alphaModFix/>
          </a:blip>
          <a:srcRect r="50700"/>
          <a:stretch/>
        </p:blipFill>
        <p:spPr>
          <a:xfrm>
            <a:off x="436351" y="1050554"/>
            <a:ext cx="6010657" cy="381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5713" y="5026227"/>
            <a:ext cx="4831929" cy="136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3311" y="1050554"/>
            <a:ext cx="5318273" cy="387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4"/>
          <p:cNvPicPr preferRelativeResize="0"/>
          <p:nvPr/>
        </p:nvPicPr>
        <p:blipFill rotWithShape="1">
          <a:blip r:embed="rId6">
            <a:alphaModFix/>
          </a:blip>
          <a:srcRect b="68356"/>
          <a:stretch/>
        </p:blipFill>
        <p:spPr>
          <a:xfrm>
            <a:off x="6334359" y="5133613"/>
            <a:ext cx="5661294" cy="1547122"/>
          </a:xfrm>
          <a:prstGeom prst="rect">
            <a:avLst/>
          </a:prstGeom>
          <a:noFill/>
          <a:ln w="9525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65" name="Google Shape;65;p4"/>
          <p:cNvCxnSpPr/>
          <p:nvPr/>
        </p:nvCxnSpPr>
        <p:spPr>
          <a:xfrm>
            <a:off x="8205216" y="4218432"/>
            <a:ext cx="1280160" cy="168874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6" name="Google Shape;66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6351" y="4607150"/>
            <a:ext cx="1075457" cy="2699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4"/>
          <p:cNvCxnSpPr/>
          <p:nvPr/>
        </p:nvCxnSpPr>
        <p:spPr>
          <a:xfrm flipH="1">
            <a:off x="1194816" y="3560064"/>
            <a:ext cx="1917626" cy="1047086"/>
          </a:xfrm>
          <a:prstGeom prst="straightConnector1">
            <a:avLst/>
          </a:prstGeom>
          <a:noFill/>
          <a:ln w="9525" cap="flat" cmpd="sng">
            <a:solidFill>
              <a:srgbClr val="FF006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8" name="Google Shape;68;p4"/>
          <p:cNvCxnSpPr/>
          <p:nvPr/>
        </p:nvCxnSpPr>
        <p:spPr>
          <a:xfrm>
            <a:off x="841248" y="4926203"/>
            <a:ext cx="487680" cy="68211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" name="Google Shape;69;p4"/>
          <p:cNvSpPr txBox="1"/>
          <p:nvPr/>
        </p:nvSpPr>
        <p:spPr>
          <a:xfrm>
            <a:off x="538033" y="150819"/>
            <a:ext cx="739176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jQuery 的下載環境檔案與CDN連結</a:t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548996" y="6389839"/>
            <a:ext cx="46987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注意：下載的jQuery檔可放在 js 資料夾下。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文字方塊 2">
            <a:extLst>
              <a:ext uri="{FF2B5EF4-FFF2-40B4-BE49-F238E27FC236}">
                <a16:creationId xmlns:a16="http://schemas.microsoft.com/office/drawing/2014/main" id="{A54BC413-90D1-4387-ACCA-331A2C1C6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620713"/>
            <a:ext cx="6292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»"/>
              <a:defRPr sz="2800">
                <a:solidFill>
                  <a:schemeClr val="tx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˃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+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chemeClr val="tx1"/>
                </a:solidFill>
                <a:ea typeface="標楷體" panose="03000509000000000000" pitchFamily="65" charset="-120"/>
              </a:rPr>
              <a:t>http://www.w3school.com.cn/jquery/jquery_selectors.asp</a:t>
            </a:r>
            <a:endParaRPr lang="zh-TW" altLang="en-US" sz="2000">
              <a:solidFill>
                <a:schemeClr val="tx1"/>
              </a:solidFill>
              <a:ea typeface="標楷體" panose="03000509000000000000" pitchFamily="65" charset="-120"/>
            </a:endParaRPr>
          </a:p>
        </p:txBody>
      </p:sp>
      <p:pic>
        <p:nvPicPr>
          <p:cNvPr id="4" name="圖片 1">
            <a:extLst>
              <a:ext uri="{FF2B5EF4-FFF2-40B4-BE49-F238E27FC236}">
                <a16:creationId xmlns:a16="http://schemas.microsoft.com/office/drawing/2014/main" id="{D27A9A96-2E64-45AA-A877-B251A1B1C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37" y="1233028"/>
            <a:ext cx="4659448" cy="5459162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4" name="圖片 1">
            <a:extLst>
              <a:ext uri="{FF2B5EF4-FFF2-40B4-BE49-F238E27FC236}">
                <a16:creationId xmlns:a16="http://schemas.microsoft.com/office/drawing/2014/main" id="{2C4E2F6A-BF3E-4F6B-AFD1-7688BDF50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483" y="2671429"/>
            <a:ext cx="6607920" cy="3047582"/>
          </a:xfrm>
          <a:prstGeom prst="rect">
            <a:avLst/>
          </a:prstGeom>
          <a:noFill/>
          <a:ln w="19050">
            <a:solidFill>
              <a:srgbClr val="00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6ED9557D-5DF4-4031-AE9A-F61416C319E3}"/>
              </a:ext>
            </a:extLst>
          </p:cNvPr>
          <p:cNvCxnSpPr>
            <a:cxnSpLocks/>
          </p:cNvCxnSpPr>
          <p:nvPr/>
        </p:nvCxnSpPr>
        <p:spPr>
          <a:xfrm flipH="1">
            <a:off x="7444497" y="2293415"/>
            <a:ext cx="360946" cy="10404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316FFAF6-1D1D-4D61-90F7-351D6347C02F}"/>
              </a:ext>
            </a:extLst>
          </p:cNvPr>
          <p:cNvSpPr txBox="1"/>
          <p:nvPr/>
        </p:nvSpPr>
        <p:spPr>
          <a:xfrm>
            <a:off x="5947611" y="1732785"/>
            <a:ext cx="5073315" cy="523220"/>
          </a:xfrm>
          <a:prstGeom prst="rect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注意：這些取得的對象都是經</a:t>
            </a:r>
            <a:r>
              <a:rPr lang="en-US" altLang="zh-TW" b="1" dirty="0">
                <a:solidFill>
                  <a:srgbClr val="FF0000"/>
                </a:solidFill>
              </a:rPr>
              <a:t>jQuery </a:t>
            </a:r>
            <a:r>
              <a:rPr lang="zh-TW" altLang="en-US" b="1" dirty="0">
                <a:solidFill>
                  <a:srgbClr val="FF0000"/>
                </a:solidFill>
              </a:rPr>
              <a:t>處理過的對象，與 </a:t>
            </a:r>
            <a:r>
              <a:rPr lang="en-US" altLang="zh-TW" b="1" dirty="0">
                <a:solidFill>
                  <a:srgbClr val="FF0000"/>
                </a:solidFill>
              </a:rPr>
              <a:t>HTML</a:t>
            </a:r>
            <a:r>
              <a:rPr lang="zh-TW" altLang="en-US" b="1" dirty="0">
                <a:solidFill>
                  <a:srgbClr val="FF0000"/>
                </a:solidFill>
              </a:rPr>
              <a:t> 上的 </a:t>
            </a:r>
            <a:r>
              <a:rPr lang="en-US" altLang="zh-TW" b="1" dirty="0">
                <a:solidFill>
                  <a:srgbClr val="FF0000"/>
                </a:solidFill>
              </a:rPr>
              <a:t>DOM</a:t>
            </a:r>
            <a:r>
              <a:rPr lang="zh-TW" altLang="en-US" b="1" dirty="0">
                <a:solidFill>
                  <a:srgbClr val="FF0000"/>
                </a:solidFill>
              </a:rPr>
              <a:t> 元素有些微不同，因此有自己的屬性與方法。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/>
          <p:nvPr/>
        </p:nvSpPr>
        <p:spPr>
          <a:xfrm>
            <a:off x="1371599" y="1148316"/>
            <a:ext cx="10455106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1.先把jQuery載入進來  </a:t>
            </a:r>
            <a:endParaRPr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$</a:t>
            </a:r>
            <a:r>
              <a:rPr lang="en-US" sz="28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(document).ready</a:t>
            </a:r>
            <a:r>
              <a:rPr lang="en-US" sz="2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function() { ….}  </a:t>
            </a:r>
            <a:r>
              <a:rPr lang="en-US" sz="2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2.$(‘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</a:rPr>
              <a:t>選擇器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’).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</a:rPr>
              <a:t>方法</a:t>
            </a:r>
            <a:endParaRPr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$(“h3”)      $(“.box”)      $(“#main”)      $(“.box  p”)    $(“</a:t>
            </a:r>
            <a:r>
              <a:rPr lang="en-US" sz="2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li:even</a:t>
            </a:r>
            <a:r>
              <a:rPr lang="en-US" sz="2800" dirty="0">
                <a:solidFill>
                  <a:srgbClr val="FF0000"/>
                </a:solidFill>
                <a:sym typeface="Arial"/>
              </a:rPr>
              <a:t>”) </a:t>
            </a:r>
            <a:endParaRPr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1967023" y="4625163"/>
            <a:ext cx="126188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元素(標籤)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選擇器</a:t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3892063" y="4625163"/>
            <a:ext cx="8771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類別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選擇器</a:t>
            </a:r>
            <a:endParaRPr/>
          </a:p>
        </p:txBody>
      </p:sp>
      <p:sp>
        <p:nvSpPr>
          <p:cNvPr id="78" name="Google Shape;78;p5"/>
          <p:cNvSpPr txBox="1"/>
          <p:nvPr/>
        </p:nvSpPr>
        <p:spPr>
          <a:xfrm>
            <a:off x="5954777" y="4625162"/>
            <a:ext cx="8771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選擇器</a:t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8410895" y="4625162"/>
            <a:ext cx="8771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子孫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選擇器</a:t>
            </a:r>
            <a:endParaRPr/>
          </a:p>
        </p:txBody>
      </p:sp>
      <p:cxnSp>
        <p:nvCxnSpPr>
          <p:cNvPr id="80" name="Google Shape;80;p5"/>
          <p:cNvCxnSpPr/>
          <p:nvPr/>
        </p:nvCxnSpPr>
        <p:spPr>
          <a:xfrm rot="10800000">
            <a:off x="2615609" y="3976577"/>
            <a:ext cx="0" cy="63795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1" name="Google Shape;81;p5"/>
          <p:cNvCxnSpPr/>
          <p:nvPr/>
        </p:nvCxnSpPr>
        <p:spPr>
          <a:xfrm rot="10800000">
            <a:off x="4359348" y="3976577"/>
            <a:ext cx="0" cy="63795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2" name="Google Shape;82;p5"/>
          <p:cNvCxnSpPr/>
          <p:nvPr/>
        </p:nvCxnSpPr>
        <p:spPr>
          <a:xfrm rot="10800000">
            <a:off x="6337002" y="3976577"/>
            <a:ext cx="0" cy="63795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3" name="Google Shape;83;p5"/>
          <p:cNvCxnSpPr/>
          <p:nvPr/>
        </p:nvCxnSpPr>
        <p:spPr>
          <a:xfrm rot="10800000">
            <a:off x="8739958" y="3976577"/>
            <a:ext cx="0" cy="63795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84;p5"/>
          <p:cNvSpPr txBox="1"/>
          <p:nvPr/>
        </p:nvSpPr>
        <p:spPr>
          <a:xfrm>
            <a:off x="2477386" y="253906"/>
            <a:ext cx="567334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jQuery() 較常用的一般語法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9930026" y="4614530"/>
            <a:ext cx="146706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虛擬/擬態/偽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選擇器</a:t>
            </a:r>
            <a:endParaRPr/>
          </a:p>
        </p:txBody>
      </p:sp>
      <p:cxnSp>
        <p:nvCxnSpPr>
          <p:cNvPr id="86" name="Google Shape;86;p5"/>
          <p:cNvCxnSpPr/>
          <p:nvPr/>
        </p:nvCxnSpPr>
        <p:spPr>
          <a:xfrm rot="10800000">
            <a:off x="10554040" y="3965945"/>
            <a:ext cx="0" cy="63795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" name="Google Shape;87;p5"/>
          <p:cNvSpPr txBox="1"/>
          <p:nvPr/>
        </p:nvSpPr>
        <p:spPr>
          <a:xfrm>
            <a:off x="1787497" y="5816009"/>
            <a:ext cx="54489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***   $( </a:t>
            </a:r>
            <a:r>
              <a:rPr lang="en-US" sz="2400" b="1" i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en-US" sz="2400" b="1" i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表示目前點選的元素物件</a:t>
            </a:r>
            <a:endParaRPr dirty="0"/>
          </a:p>
        </p:txBody>
      </p:sp>
      <p:sp>
        <p:nvSpPr>
          <p:cNvPr id="88" name="Google Shape;88;p5"/>
          <p:cNvSpPr txBox="1"/>
          <p:nvPr/>
        </p:nvSpPr>
        <p:spPr>
          <a:xfrm>
            <a:off x="8284495" y="1266830"/>
            <a:ext cx="3770810" cy="1824346"/>
          </a:xfrm>
          <a:prstGeom prst="rect">
            <a:avLst/>
          </a:prstGeom>
          <a:solidFill>
            <a:srgbClr val="BFFBF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利用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ready事件來進行各項初始化的動作，例如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‘：</a:t>
            </a:r>
            <a:r>
              <a:rPr lang="en-US" sz="1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設定各項物件處理函式、執行初始化城市敘述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8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簡寫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endParaRPr sz="18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lang="en-US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function() {….} </a:t>
            </a:r>
            <a:r>
              <a:rPr lang="en-US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CD21843-8AEE-433F-B41A-7F935F5B84FD}"/>
              </a:ext>
            </a:extLst>
          </p:cNvPr>
          <p:cNvSpPr txBox="1"/>
          <p:nvPr/>
        </p:nvSpPr>
        <p:spPr>
          <a:xfrm>
            <a:off x="8755205" y="422743"/>
            <a:ext cx="2731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Js : </a:t>
            </a:r>
            <a:r>
              <a:rPr lang="en-US" altLang="zh-TW" dirty="0" err="1"/>
              <a:t>document.getElementById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Js : </a:t>
            </a:r>
            <a:r>
              <a:rPr lang="en-US" altLang="zh-TW" dirty="0" err="1"/>
              <a:t>document.QuerySeleter</a:t>
            </a:r>
            <a:r>
              <a:rPr lang="en-US" altLang="zh-TW" dirty="0"/>
              <a:t> ()  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/>
        </p:nvSpPr>
        <p:spPr>
          <a:xfrm>
            <a:off x="1035993" y="397421"/>
            <a:ext cx="10120014" cy="6063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3. 存/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</a:rPr>
              <a:t>取一般元素的文字內容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。(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</a:rPr>
              <a:t>如同js的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</a:rPr>
              <a:t>textContent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280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讀取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</a:t>
            </a:r>
            <a:r>
              <a:rPr lang="en-US" sz="2800" b="1" dirty="0" err="1">
                <a:solidFill>
                  <a:srgbClr val="FF0000"/>
                </a:solidFill>
              </a:rPr>
              <a:t>存入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$(“h3“).text();                  $(“h3”).text(“Hello”);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TW" altLang="en-US" sz="2800" dirty="0">
                <a:solidFill>
                  <a:srgbClr val="0000FF"/>
                </a:solidFill>
              </a:rPr>
              <a:t>     同 </a:t>
            </a:r>
            <a:r>
              <a:rPr lang="en-US" altLang="zh-TW" sz="2800" dirty="0" err="1">
                <a:solidFill>
                  <a:srgbClr val="0000FF"/>
                </a:solidFill>
              </a:rPr>
              <a:t>js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zh-TW" altLang="en-US" sz="2800" dirty="0">
                <a:solidFill>
                  <a:srgbClr val="0000FF"/>
                </a:solidFill>
              </a:rPr>
              <a:t>的 </a:t>
            </a:r>
            <a:r>
              <a:rPr lang="en-US" altLang="zh-TW" sz="2800" dirty="0">
                <a:solidFill>
                  <a:srgbClr val="0000FF"/>
                </a:solidFill>
              </a:rPr>
              <a:t>.</a:t>
            </a:r>
            <a:r>
              <a:rPr lang="en-US" altLang="zh-TW" sz="2800" dirty="0" err="1">
                <a:solidFill>
                  <a:srgbClr val="0000FF"/>
                </a:solidFill>
              </a:rPr>
              <a:t>textContent</a:t>
            </a:r>
            <a:r>
              <a:rPr lang="en-US" altLang="zh-TW" sz="2800" dirty="0">
                <a:solidFill>
                  <a:srgbClr val="0000FF"/>
                </a:solidFill>
              </a:rPr>
              <a:t>           </a:t>
            </a:r>
            <a:endParaRPr dirty="0">
              <a:solidFill>
                <a:srgbClr val="0000FF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4. 存/取 input 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</a:rPr>
              <a:t>元素的內容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</a:rPr>
              <a:t>注意:取得是文字資料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2800" b="1" dirty="0" err="1">
                <a:solidFill>
                  <a:srgbClr val="FF0000"/>
                </a:solidFill>
              </a:rPr>
              <a:t>讀取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</a:t>
            </a:r>
            <a:r>
              <a:rPr lang="en-US" sz="2800" b="1" dirty="0" err="1">
                <a:solidFill>
                  <a:srgbClr val="FF0000"/>
                </a:solidFill>
              </a:rPr>
              <a:t>存入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$(“#name”).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();              $(“#name”).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(“Eric Wu”);   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FF"/>
                </a:solidFill>
              </a:rPr>
              <a:t>     </a:t>
            </a:r>
            <a:r>
              <a:rPr lang="zh-TW" altLang="en-US" sz="2800" dirty="0">
                <a:solidFill>
                  <a:srgbClr val="0000FF"/>
                </a:solidFill>
              </a:rPr>
              <a:t>同 </a:t>
            </a:r>
            <a:r>
              <a:rPr lang="en-US" altLang="zh-TW" sz="2800" dirty="0" err="1">
                <a:solidFill>
                  <a:srgbClr val="0000FF"/>
                </a:solidFill>
              </a:rPr>
              <a:t>js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zh-TW" altLang="en-US" sz="2800" dirty="0">
                <a:solidFill>
                  <a:srgbClr val="0000FF"/>
                </a:solidFill>
              </a:rPr>
              <a:t>的 </a:t>
            </a:r>
            <a:r>
              <a:rPr lang="en-US" altLang="zh-TW" sz="2800" dirty="0">
                <a:solidFill>
                  <a:srgbClr val="0000FF"/>
                </a:solidFill>
              </a:rPr>
              <a:t>.value</a:t>
            </a:r>
            <a:r>
              <a:rPr lang="en-US" sz="2800" dirty="0">
                <a:solidFill>
                  <a:srgbClr val="0000FF"/>
                </a:solidFill>
              </a:rPr>
              <a:t>         </a:t>
            </a:r>
            <a:endParaRPr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>
            <a:extLst>
              <a:ext uri="{FF2B5EF4-FFF2-40B4-BE49-F238E27FC236}">
                <a16:creationId xmlns:a16="http://schemas.microsoft.com/office/drawing/2014/main" id="{E83F49D4-E022-4CD7-8105-70C9254B75D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2133600" y="523082"/>
            <a:ext cx="8709109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 sz="4400" b="1" dirty="0">
                <a:solidFill>
                  <a:schemeClr val="accent6">
                    <a:lumMod val="50000"/>
                  </a:schemeClr>
                </a:solidFill>
              </a:rPr>
              <a:t>jQuery </a:t>
            </a:r>
            <a:r>
              <a:rPr lang="zh-TW" altLang="en-US" sz="4400" b="1" dirty="0">
                <a:solidFill>
                  <a:schemeClr val="accent6">
                    <a:lumMod val="50000"/>
                  </a:schemeClr>
                </a:solidFill>
              </a:rPr>
              <a:t>物件與 </a:t>
            </a:r>
            <a:r>
              <a:rPr lang="en-US" altLang="zh-TW" sz="4400" b="1" dirty="0">
                <a:solidFill>
                  <a:schemeClr val="accent6">
                    <a:lumMod val="50000"/>
                  </a:schemeClr>
                </a:solidFill>
              </a:rPr>
              <a:t>DOM </a:t>
            </a:r>
            <a:r>
              <a:rPr lang="zh-TW" altLang="en-US" sz="4400" b="1" dirty="0">
                <a:solidFill>
                  <a:schemeClr val="accent6">
                    <a:lumMod val="50000"/>
                  </a:schemeClr>
                </a:solidFill>
              </a:rPr>
              <a:t>物件內容</a:t>
            </a:r>
          </a:p>
        </p:txBody>
      </p:sp>
      <p:sp>
        <p:nvSpPr>
          <p:cNvPr id="32771" name="內容版面配置區 2">
            <a:extLst>
              <a:ext uri="{FF2B5EF4-FFF2-40B4-BE49-F238E27FC236}">
                <a16:creationId xmlns:a16="http://schemas.microsoft.com/office/drawing/2014/main" id="{0EDF6097-1C93-453A-A12B-99295722B8C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79650" y="1557338"/>
            <a:ext cx="7467600" cy="4419600"/>
          </a:xfrm>
        </p:spPr>
        <p:txBody>
          <a:bodyPr/>
          <a:lstStyle/>
          <a:p>
            <a:pPr eaLnBrk="1" hangingPunct="1">
              <a:buClr>
                <a:srgbClr val="00B0F0"/>
              </a:buClr>
            </a:pPr>
            <a:endParaRPr lang="zh-TW" altLang="en-US" dirty="0"/>
          </a:p>
          <a:p>
            <a:pPr eaLnBrk="1" hangingPunct="1">
              <a:buClr>
                <a:srgbClr val="00B0F0"/>
              </a:buClr>
            </a:pPr>
            <a:endParaRPr lang="zh-TW" altLang="en-US" dirty="0"/>
          </a:p>
          <a:p>
            <a:pPr eaLnBrk="1" hangingPunct="1">
              <a:buClr>
                <a:srgbClr val="00B0F0"/>
              </a:buClr>
            </a:pPr>
            <a:endParaRPr lang="zh-TW" altLang="en-US" dirty="0"/>
          </a:p>
          <a:p>
            <a:pPr eaLnBrk="1" hangingPunct="1">
              <a:buClr>
                <a:srgbClr val="00B0F0"/>
              </a:buClr>
            </a:pPr>
            <a:endParaRPr lang="zh-TW" altLang="en-US" dirty="0"/>
          </a:p>
          <a:p>
            <a:pPr eaLnBrk="1" hangingPunct="1">
              <a:buClr>
                <a:srgbClr val="00B0F0"/>
              </a:buClr>
            </a:pPr>
            <a:endParaRPr lang="zh-TW" altLang="en-US" dirty="0"/>
          </a:p>
          <a:p>
            <a:pPr eaLnBrk="1" hangingPunct="1">
              <a:buClr>
                <a:srgbClr val="00B0F0"/>
              </a:buClr>
            </a:pPr>
            <a:endParaRPr lang="zh-TW" altLang="en-US" dirty="0"/>
          </a:p>
          <a:p>
            <a:pPr eaLnBrk="1" hangingPunct="1">
              <a:buClr>
                <a:srgbClr val="00B0F0"/>
              </a:buClr>
            </a:pPr>
            <a:endParaRPr lang="zh-TW" altLang="en-US" dirty="0"/>
          </a:p>
          <a:p>
            <a:pPr eaLnBrk="1" hangingPunct="1">
              <a:buClr>
                <a:srgbClr val="00B0F0"/>
              </a:buClr>
            </a:pPr>
            <a:endParaRPr lang="zh-TW" altLang="en-US" dirty="0"/>
          </a:p>
        </p:txBody>
      </p:sp>
      <p:grpSp>
        <p:nvGrpSpPr>
          <p:cNvPr id="32772" name="Group 7">
            <a:extLst>
              <a:ext uri="{FF2B5EF4-FFF2-40B4-BE49-F238E27FC236}">
                <a16:creationId xmlns:a16="http://schemas.microsoft.com/office/drawing/2014/main" id="{C3037B94-B4AB-47DE-AF54-D88DC2A4BB56}"/>
              </a:ext>
            </a:extLst>
          </p:cNvPr>
          <p:cNvGrpSpPr>
            <a:grpSpLocks/>
          </p:cNvGrpSpPr>
          <p:nvPr/>
        </p:nvGrpSpPr>
        <p:grpSpPr bwMode="auto">
          <a:xfrm>
            <a:off x="1337176" y="2958306"/>
            <a:ext cx="8239961" cy="2247357"/>
            <a:chOff x="476" y="1389"/>
            <a:chExt cx="4770" cy="1691"/>
          </a:xfrm>
        </p:grpSpPr>
        <p:pic>
          <p:nvPicPr>
            <p:cNvPr id="32774" name="Picture 5">
              <a:extLst>
                <a:ext uri="{FF2B5EF4-FFF2-40B4-BE49-F238E27FC236}">
                  <a16:creationId xmlns:a16="http://schemas.microsoft.com/office/drawing/2014/main" id="{D26CEB81-03EB-4954-A2EE-20F478455A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1389"/>
              <a:ext cx="4770" cy="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75" name="Picture 6">
              <a:extLst>
                <a:ext uri="{FF2B5EF4-FFF2-40B4-BE49-F238E27FC236}">
                  <a16:creationId xmlns:a16="http://schemas.microsoft.com/office/drawing/2014/main" id="{319D9387-F8BB-464D-947D-BD6703CD9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" y="2840"/>
              <a:ext cx="459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773" name="文字方塊 7">
            <a:extLst>
              <a:ext uri="{FF2B5EF4-FFF2-40B4-BE49-F238E27FC236}">
                <a16:creationId xmlns:a16="http://schemas.microsoft.com/office/drawing/2014/main" id="{ECBA3513-4D36-450C-8E1E-A2D576D9F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7176" y="1725046"/>
            <a:ext cx="9352547" cy="117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»"/>
              <a:defRPr sz="2800">
                <a:solidFill>
                  <a:schemeClr val="tx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˃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+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rgbClr val="0000FF"/>
                </a:solidFill>
                <a:ea typeface="標楷體" panose="03000509000000000000" pitchFamily="65" charset="-120"/>
              </a:rPr>
              <a:t>$()</a:t>
            </a:r>
            <a:r>
              <a:rPr lang="zh-TW" altLang="en-US" sz="2000" dirty="0">
                <a:solidFill>
                  <a:srgbClr val="0000FF"/>
                </a:solidFill>
                <a:ea typeface="標楷體" panose="03000509000000000000" pitchFamily="65" charset="-120"/>
              </a:rPr>
              <a:t>方法傳回的是</a:t>
            </a:r>
            <a:r>
              <a:rPr lang="en-US" altLang="zh-TW" sz="2000" dirty="0">
                <a:solidFill>
                  <a:srgbClr val="0000FF"/>
                </a:solidFill>
                <a:ea typeface="標楷體" panose="03000509000000000000" pitchFamily="65" charset="-120"/>
              </a:rPr>
              <a:t>jQuery</a:t>
            </a:r>
            <a:r>
              <a:rPr lang="zh-TW" altLang="en-US" sz="2000" dirty="0">
                <a:solidFill>
                  <a:srgbClr val="0000FF"/>
                </a:solidFill>
                <a:ea typeface="標楷體" panose="03000509000000000000" pitchFamily="65" charset="-120"/>
              </a:rPr>
              <a:t>物件集合</a:t>
            </a:r>
            <a:r>
              <a:rPr lang="zh-TW" altLang="en-US" sz="2000" dirty="0">
                <a:solidFill>
                  <a:srgbClr val="FF0000"/>
                </a:solidFill>
                <a:ea typeface="標楷體" panose="03000509000000000000" pitchFamily="65" charset="-120"/>
              </a:rPr>
              <a:t>，並不是像</a:t>
            </a:r>
            <a:r>
              <a:rPr lang="en-US" altLang="zh-TW" sz="2000" dirty="0">
                <a:solidFill>
                  <a:srgbClr val="FF0000"/>
                </a:solidFill>
                <a:ea typeface="標楷體" panose="03000509000000000000" pitchFamily="65" charset="-120"/>
              </a:rPr>
              <a:t>DOM</a:t>
            </a:r>
            <a:r>
              <a:rPr lang="zh-TW" altLang="en-US" sz="2000" dirty="0">
                <a:solidFill>
                  <a:srgbClr val="FF0000"/>
                </a:solidFill>
                <a:ea typeface="標楷體" panose="03000509000000000000" pitchFamily="65" charset="-120"/>
              </a:rPr>
              <a:t>介面</a:t>
            </a:r>
            <a:r>
              <a:rPr lang="en-US" altLang="zh-TW" sz="2000" dirty="0" err="1">
                <a:solidFill>
                  <a:srgbClr val="FF0000"/>
                </a:solidFill>
                <a:ea typeface="標楷體" panose="03000509000000000000" pitchFamily="65" charset="-120"/>
              </a:rPr>
              <a:t>getElementById</a:t>
            </a:r>
            <a:r>
              <a:rPr lang="en-US" altLang="zh-TW" sz="2000" dirty="0">
                <a:solidFill>
                  <a:srgbClr val="FF0000"/>
                </a:solidFill>
                <a:ea typeface="標楷體" panose="03000509000000000000" pitchFamily="65" charset="-120"/>
              </a:rPr>
              <a:t>()</a:t>
            </a:r>
            <a:r>
              <a:rPr lang="zh-TW" altLang="en-US" sz="2000" dirty="0">
                <a:solidFill>
                  <a:srgbClr val="FF0000"/>
                </a:solidFill>
                <a:ea typeface="標楷體" panose="03000509000000000000" pitchFamily="65" charset="-120"/>
              </a:rPr>
              <a:t>等方法取得的</a:t>
            </a:r>
            <a:r>
              <a:rPr lang="en-US" altLang="zh-TW" sz="2000" dirty="0">
                <a:solidFill>
                  <a:srgbClr val="0000FF"/>
                </a:solidFill>
                <a:ea typeface="標楷體" panose="03000509000000000000" pitchFamily="65" charset="-120"/>
              </a:rPr>
              <a:t>HTML</a:t>
            </a:r>
            <a:r>
              <a:rPr lang="zh-TW" altLang="en-US" sz="2000" dirty="0">
                <a:solidFill>
                  <a:srgbClr val="0000FF"/>
                </a:solidFill>
                <a:ea typeface="標楷體" panose="03000509000000000000" pitchFamily="65" charset="-120"/>
              </a:rPr>
              <a:t>元素物件</a:t>
            </a:r>
            <a:r>
              <a:rPr lang="zh-TW" altLang="en-US" sz="2000" dirty="0">
                <a:solidFill>
                  <a:srgbClr val="FF0000"/>
                </a:solidFill>
                <a:ea typeface="標楷體" panose="03000509000000000000" pitchFamily="65" charset="-120"/>
              </a:rPr>
              <a:t>，因此，如果要讓</a:t>
            </a:r>
            <a:r>
              <a:rPr lang="en-US" altLang="zh-TW" sz="2000" dirty="0">
                <a:solidFill>
                  <a:srgbClr val="FF0000"/>
                </a:solidFill>
                <a:ea typeface="標楷體" panose="03000509000000000000" pitchFamily="65" charset="-120"/>
              </a:rPr>
              <a:t>$()</a:t>
            </a:r>
            <a:r>
              <a:rPr lang="zh-TW" altLang="en-US" sz="2000" dirty="0">
                <a:solidFill>
                  <a:srgbClr val="FF0000"/>
                </a:solidFill>
                <a:ea typeface="標楷體" panose="03000509000000000000" pitchFamily="65" charset="-120"/>
              </a:rPr>
              <a:t>能夠使用</a:t>
            </a:r>
            <a:r>
              <a:rPr lang="en-US" altLang="zh-TW" sz="2000" dirty="0">
                <a:solidFill>
                  <a:srgbClr val="FF0000"/>
                </a:solidFill>
                <a:ea typeface="標楷體" panose="03000509000000000000" pitchFamily="65" charset="-120"/>
              </a:rPr>
              <a:t>DOM</a:t>
            </a:r>
            <a:r>
              <a:rPr lang="zh-TW" altLang="en-US" sz="2000" dirty="0">
                <a:solidFill>
                  <a:srgbClr val="FF0000"/>
                </a:solidFill>
                <a:ea typeface="標楷體" panose="03000509000000000000" pitchFamily="65" charset="-120"/>
              </a:rPr>
              <a:t>介面的元素物件屬性，請記得使用下面方式：        </a:t>
            </a:r>
            <a:r>
              <a:rPr lang="en-US" altLang="zh-TW" sz="2000" dirty="0">
                <a:solidFill>
                  <a:srgbClr val="FF0000"/>
                </a:solidFill>
                <a:ea typeface="標楷體" panose="03000509000000000000" pitchFamily="65" charset="-120"/>
              </a:rPr>
              <a:t>get(n)  </a:t>
            </a:r>
            <a:r>
              <a:rPr lang="zh-TW" altLang="en-US" sz="2000" dirty="0">
                <a:solidFill>
                  <a:srgbClr val="FF0000"/>
                </a:solidFill>
                <a:ea typeface="標楷體" panose="03000509000000000000" pitchFamily="65" charset="-120"/>
              </a:rPr>
              <a:t>或   </a:t>
            </a:r>
            <a:r>
              <a:rPr lang="en-US" altLang="zh-TW" sz="2000" dirty="0">
                <a:solidFill>
                  <a:srgbClr val="FF0000"/>
                </a:solidFill>
                <a:ea typeface="標楷體" panose="03000509000000000000" pitchFamily="65" charset="-120"/>
              </a:rPr>
              <a:t>[n]</a:t>
            </a:r>
            <a:endParaRPr lang="zh-TW" altLang="en-US" sz="2000" dirty="0">
              <a:solidFill>
                <a:srgbClr val="FF0000"/>
              </a:solidFill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28EAC30-D9C2-4084-A998-FC97A29265EF}"/>
              </a:ext>
            </a:extLst>
          </p:cNvPr>
          <p:cNvSpPr txBox="1"/>
          <p:nvPr/>
        </p:nvSpPr>
        <p:spPr>
          <a:xfrm>
            <a:off x="1414911" y="5585672"/>
            <a:ext cx="6607899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600" b="1" dirty="0">
                <a:solidFill>
                  <a:srgbClr val="FF0000"/>
                </a:solidFill>
              </a:rPr>
              <a:t>$(this) </a:t>
            </a:r>
            <a:r>
              <a:rPr lang="zh-TW" altLang="en-US" sz="1600" b="1" dirty="0">
                <a:solidFill>
                  <a:srgbClr val="FF0000"/>
                </a:solidFill>
              </a:rPr>
              <a:t>表示目前點選作業中的 </a:t>
            </a:r>
            <a:r>
              <a:rPr lang="en-US" altLang="zh-TW" sz="1600" b="1" dirty="0">
                <a:solidFill>
                  <a:srgbClr val="FF0000"/>
                </a:solidFill>
              </a:rPr>
              <a:t>jQuery </a:t>
            </a:r>
            <a:r>
              <a:rPr lang="zh-TW" altLang="en-US" sz="1600" b="1" dirty="0">
                <a:solidFill>
                  <a:srgbClr val="FF0000"/>
                </a:solidFill>
              </a:rPr>
              <a:t>物件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r>
              <a:rPr lang="en-US" altLang="zh-TW" sz="1600" b="1" dirty="0">
                <a:solidFill>
                  <a:srgbClr val="FF0000"/>
                </a:solidFill>
              </a:rPr>
              <a:t>$(this).index()</a:t>
            </a:r>
            <a:r>
              <a:rPr lang="zh-TW" altLang="en-US" sz="1600" b="1" dirty="0">
                <a:solidFill>
                  <a:srgbClr val="FF0000"/>
                </a:solidFill>
              </a:rPr>
              <a:t> 表示可傳回目前點選的物件 在</a:t>
            </a:r>
            <a:r>
              <a:rPr lang="en-US" altLang="zh-TW" sz="1600" b="1" dirty="0">
                <a:solidFill>
                  <a:srgbClr val="FF0000"/>
                </a:solidFill>
              </a:rPr>
              <a:t>jQuery</a:t>
            </a:r>
            <a:r>
              <a:rPr lang="zh-TW" altLang="en-US" sz="1600" b="1" dirty="0">
                <a:solidFill>
                  <a:srgbClr val="FF0000"/>
                </a:solidFill>
              </a:rPr>
              <a:t>陣列物件的索引值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9D36D31-A7C9-4B75-BE99-C0CC772B2B6B}"/>
              </a:ext>
            </a:extLst>
          </p:cNvPr>
          <p:cNvSpPr txBox="1"/>
          <p:nvPr/>
        </p:nvSpPr>
        <p:spPr>
          <a:xfrm>
            <a:off x="1337176" y="4478431"/>
            <a:ext cx="4889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000FF"/>
                </a:solidFill>
              </a:rPr>
              <a:t>相反的，要讓 </a:t>
            </a:r>
            <a:r>
              <a:rPr lang="en-US" altLang="zh-TW" b="1" dirty="0">
                <a:solidFill>
                  <a:srgbClr val="0000FF"/>
                </a:solidFill>
              </a:rPr>
              <a:t>HTML</a:t>
            </a:r>
            <a:r>
              <a:rPr lang="zh-TW" altLang="en-US" b="1" dirty="0">
                <a:solidFill>
                  <a:srgbClr val="0000FF"/>
                </a:solidFill>
              </a:rPr>
              <a:t>元件以 </a:t>
            </a:r>
            <a:r>
              <a:rPr lang="en-US" altLang="zh-TW" b="1" dirty="0">
                <a:solidFill>
                  <a:srgbClr val="0000FF"/>
                </a:solidFill>
              </a:rPr>
              <a:t>jQuery</a:t>
            </a:r>
            <a:r>
              <a:rPr lang="zh-TW" altLang="en-US" b="1" dirty="0">
                <a:solidFill>
                  <a:srgbClr val="0000FF"/>
                </a:solidFill>
              </a:rPr>
              <a:t>物件使用，方法如下：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/>
        </p:nvSpPr>
        <p:spPr>
          <a:xfrm>
            <a:off x="951147" y="1580895"/>
            <a:ext cx="723198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■"/>
            </a:pPr>
            <a:r>
              <a:rPr lang="en-US" sz="280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28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() </a:t>
            </a:r>
            <a:r>
              <a:rPr lang="en-US" sz="280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可以查詢或設定樣式屬性</a:t>
            </a:r>
            <a:endParaRPr sz="2800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$(‘a’).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(‘font-size’);   //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讀取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$(‘a’).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(‘font-size’ , ‘2em’);  //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設定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■"/>
            </a:pPr>
            <a:r>
              <a:rPr lang="en-US" sz="280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28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US" sz="280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樣式設定可以是鏈結式</a:t>
            </a:r>
            <a:endParaRPr sz="2800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$(‘p’).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(‘height’,50).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(‘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color’,’red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’)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或    $(‘p’).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{ ‘height’:50 , ‘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color’:’red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’} )</a:t>
            </a:r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A0C4B9C-FB27-4B76-8A92-5F4C642AC6BF}"/>
              </a:ext>
            </a:extLst>
          </p:cNvPr>
          <p:cNvSpPr txBox="1"/>
          <p:nvPr/>
        </p:nvSpPr>
        <p:spPr>
          <a:xfrm>
            <a:off x="787998" y="360679"/>
            <a:ext cx="8276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變更 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CSS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樣式</a:t>
            </a:r>
          </a:p>
        </p:txBody>
      </p:sp>
    </p:spTree>
    <p:extLst>
      <p:ext uri="{BB962C8B-B14F-4D97-AF65-F5344CB8AC3E}">
        <p14:creationId xmlns:p14="http://schemas.microsoft.com/office/powerpoint/2010/main" val="403436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/>
        </p:nvSpPr>
        <p:spPr>
          <a:xfrm>
            <a:off x="787998" y="1417497"/>
            <a:ext cx="5134739" cy="521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$(‘#</a:t>
            </a:r>
            <a:r>
              <a:rPr lang="en-US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btn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’).click</a:t>
            </a:r>
            <a:r>
              <a:rPr lang="en-US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function() {</a:t>
            </a:r>
            <a:endParaRPr b="1" dirty="0"/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: </a:t>
            </a:r>
            <a:endParaRPr b="1" dirty="0"/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} </a:t>
            </a:r>
            <a:r>
              <a:rPr lang="en-US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TW" altLang="en-US" b="1" dirty="0">
                <a:solidFill>
                  <a:schemeClr val="dk1"/>
                </a:solidFill>
              </a:rPr>
              <a:t>方法二：</a:t>
            </a:r>
            <a:endParaRPr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$(‘#</a:t>
            </a:r>
            <a:r>
              <a:rPr lang="en-US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btn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’).bind</a:t>
            </a:r>
            <a:r>
              <a:rPr lang="en-US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 ‘click’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function() {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TW" b="1" dirty="0">
                <a:solidFill>
                  <a:schemeClr val="dk1"/>
                </a:solidFill>
              </a:rPr>
              <a:t> : : </a:t>
            </a:r>
            <a:endParaRPr lang="en-US" altLang="zh-TW" b="1" dirty="0"/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en-US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TW" altLang="en-US" b="1" dirty="0">
                <a:solidFill>
                  <a:srgbClr val="FF0000"/>
                </a:solidFill>
              </a:rPr>
              <a:t>方法三：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TW" b="1" dirty="0">
                <a:solidFill>
                  <a:schemeClr val="dk1"/>
                </a:solidFill>
              </a:rPr>
              <a:t>$(‘#</a:t>
            </a:r>
            <a:r>
              <a:rPr lang="en-US" altLang="zh-TW" b="1" dirty="0" err="1">
                <a:solidFill>
                  <a:schemeClr val="dk1"/>
                </a:solidFill>
              </a:rPr>
              <a:t>btn</a:t>
            </a:r>
            <a:r>
              <a:rPr lang="en-US" altLang="zh-TW" b="1" dirty="0">
                <a:solidFill>
                  <a:schemeClr val="dk1"/>
                </a:solidFill>
              </a:rPr>
              <a:t>’).on</a:t>
            </a:r>
            <a:r>
              <a:rPr lang="en-US" altLang="zh-TW" b="1" dirty="0">
                <a:solidFill>
                  <a:srgbClr val="FF0000"/>
                </a:solidFill>
              </a:rPr>
              <a:t>( ‘click’</a:t>
            </a:r>
            <a:r>
              <a:rPr lang="en-US" altLang="zh-TW" b="1" dirty="0">
                <a:solidFill>
                  <a:schemeClr val="dk1"/>
                </a:solidFill>
              </a:rPr>
              <a:t> , function() {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TW" b="1" dirty="0">
                <a:solidFill>
                  <a:schemeClr val="dk1"/>
                </a:solidFill>
              </a:rPr>
              <a:t> : : </a:t>
            </a:r>
            <a:endParaRPr lang="en-US" altLang="zh-TW" b="1" dirty="0"/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TW" b="1" dirty="0">
                <a:solidFill>
                  <a:schemeClr val="dk1"/>
                </a:solidFill>
              </a:rPr>
              <a:t>} </a:t>
            </a:r>
            <a:r>
              <a:rPr lang="en-US" altLang="zh-TW" b="1" dirty="0">
                <a:solidFill>
                  <a:srgbClr val="FF0000"/>
                </a:solidFill>
              </a:rPr>
              <a:t>);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TW" altLang="en-US" b="1" dirty="0"/>
              <a:t>方法四：</a:t>
            </a:r>
            <a:endParaRPr lang="en-US" altLang="zh-TW" b="1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TW" b="1" dirty="0">
                <a:solidFill>
                  <a:schemeClr val="dk1"/>
                </a:solidFill>
              </a:rPr>
              <a:t>$(‘#</a:t>
            </a:r>
            <a:r>
              <a:rPr lang="en-US" altLang="zh-TW" b="1" dirty="0" err="1">
                <a:solidFill>
                  <a:schemeClr val="dk1"/>
                </a:solidFill>
              </a:rPr>
              <a:t>btn</a:t>
            </a:r>
            <a:r>
              <a:rPr lang="en-US" altLang="zh-TW" b="1" dirty="0">
                <a:solidFill>
                  <a:schemeClr val="dk1"/>
                </a:solidFill>
              </a:rPr>
              <a:t>’).on</a:t>
            </a:r>
            <a:r>
              <a:rPr lang="en-US" altLang="zh-TW" b="1" dirty="0">
                <a:solidFill>
                  <a:srgbClr val="FF0000"/>
                </a:solidFill>
              </a:rPr>
              <a:t>( ‘click’</a:t>
            </a:r>
            <a:r>
              <a:rPr lang="en-US" altLang="zh-TW" b="1" dirty="0">
                <a:solidFill>
                  <a:schemeClr val="dk1"/>
                </a:solidFill>
              </a:rPr>
              <a:t> , XXX</a:t>
            </a:r>
            <a:r>
              <a:rPr lang="zh-TW" altLang="en-US" b="1" dirty="0">
                <a:solidFill>
                  <a:schemeClr val="dk1"/>
                </a:solidFill>
              </a:rPr>
              <a:t> </a:t>
            </a:r>
            <a:r>
              <a:rPr lang="en-US" altLang="zh-TW" b="1" dirty="0">
                <a:solidFill>
                  <a:schemeClr val="dk1"/>
                </a:solidFill>
              </a:rPr>
              <a:t>)</a:t>
            </a:r>
            <a:r>
              <a:rPr lang="zh-TW" altLang="en-US" b="1" dirty="0">
                <a:solidFill>
                  <a:schemeClr val="dk1"/>
                </a:solidFill>
              </a:rPr>
              <a:t> </a:t>
            </a:r>
            <a:r>
              <a:rPr lang="en-US" altLang="zh-TW" b="1" dirty="0">
                <a:solidFill>
                  <a:schemeClr val="dk1"/>
                </a:solidFill>
              </a:rPr>
              <a:t>;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55314B1-88D2-45A6-AB7F-545139FA97B1}"/>
              </a:ext>
            </a:extLst>
          </p:cNvPr>
          <p:cNvSpPr txBox="1"/>
          <p:nvPr/>
        </p:nvSpPr>
        <p:spPr>
          <a:xfrm>
            <a:off x="787998" y="360679"/>
            <a:ext cx="8276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撰寫 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event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方法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函數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的做法</a:t>
            </a:r>
          </a:p>
        </p:txBody>
      </p:sp>
      <p:graphicFrame>
        <p:nvGraphicFramePr>
          <p:cNvPr id="9" name="內容版面配置區 2">
            <a:extLst>
              <a:ext uri="{FF2B5EF4-FFF2-40B4-BE49-F238E27FC236}">
                <a16:creationId xmlns:a16="http://schemas.microsoft.com/office/drawing/2014/main" id="{E241EB95-B440-4451-876C-21F17D1845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9584481"/>
              </p:ext>
            </p:extLst>
          </p:nvPr>
        </p:nvGraphicFramePr>
        <p:xfrm>
          <a:off x="4477418" y="1417497"/>
          <a:ext cx="6230687" cy="49847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35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方法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click()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按鈕點選事件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dbclick</a:t>
                      </a:r>
                      <a:r>
                        <a:rPr lang="en-US" altLang="zh-TW" sz="1400" dirty="0"/>
                        <a:t>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雙按鈕點選事件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load()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載入事件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mouseenter</a:t>
                      </a:r>
                      <a:r>
                        <a:rPr lang="en-US" altLang="zh-TW" sz="1400" dirty="0"/>
                        <a:t>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滑鼠進入事件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mouseleave</a:t>
                      </a:r>
                      <a:r>
                        <a:rPr lang="en-US" altLang="zh-TW" sz="1400" dirty="0"/>
                        <a:t>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滑鼠離開事件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change()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改變內容事件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submit()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送出表單事件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focus()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取得選擇或欄位焦點事件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blur()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失去選擇或欄位焦點事件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select()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選擇網頁元素的文字內容事件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78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keydown</a:t>
                      </a:r>
                      <a:r>
                        <a:rPr lang="en-US" altLang="zh-TW" sz="1400" dirty="0"/>
                        <a:t>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當按下鍵盤按鍵時觸發事件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18291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keypress</a:t>
                      </a:r>
                      <a:r>
                        <a:rPr lang="en-US" altLang="zh-TW" sz="1400" dirty="0"/>
                        <a:t>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在</a:t>
                      </a:r>
                      <a:r>
                        <a:rPr lang="en-US" altLang="zh-TW" sz="1400" dirty="0" err="1"/>
                        <a:t>keydown</a:t>
                      </a:r>
                      <a:r>
                        <a:rPr lang="zh-TW" altLang="en-US" sz="1400" dirty="0"/>
                        <a:t>到</a:t>
                      </a:r>
                      <a:r>
                        <a:rPr lang="en-US" altLang="zh-TW" sz="1400" dirty="0" err="1"/>
                        <a:t>keyup</a:t>
                      </a:r>
                      <a:r>
                        <a:rPr lang="zh-TW" altLang="en-US" sz="1400" dirty="0"/>
                        <a:t>之間觸發的事件，也就是在按下按鍵到放在按鍵期間觸發的事件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935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keyup</a:t>
                      </a:r>
                      <a:r>
                        <a:rPr lang="en-US" altLang="zh-TW" sz="1400" dirty="0"/>
                        <a:t>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當放開鍵盤按鍵時觸發事件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935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hover()</a:t>
                      </a:r>
                      <a:endParaRPr lang="zh-TW" altLang="en-US" sz="14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點選提示</a:t>
                      </a:r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72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6B5D004-852F-40D8-979F-46A1BC5FE5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0AA576-CBD4-4F30-9396-C8FA11B8CD46}"/>
              </a:ext>
            </a:extLst>
          </p:cNvPr>
          <p:cNvSpPr/>
          <p:nvPr/>
        </p:nvSpPr>
        <p:spPr>
          <a:xfrm>
            <a:off x="2716475" y="2763972"/>
            <a:ext cx="532526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&lt;input type="text" class="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Sna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"&gt;&lt;button id="send"&gt;</a:t>
            </a:r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送出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&lt;/button&gt;&lt;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br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&lt;p&gt;&lt;/p&gt;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    $(document).ready(function(){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       $(".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Sna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").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val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許正憲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       $("#send").click(function(){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var x = $(".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Sna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").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val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() ;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$("p").text(x);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$("p").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css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color","red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").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css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("font-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size","x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-large").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</a:rPr>
              <a:t>css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("font-weight","800");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       });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</a:rPr>
              <a:t>&lt;/script&gt;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FFF994-FB23-4CB7-9B55-DFE87FE69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199" y="2310163"/>
            <a:ext cx="5932370" cy="379326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等腰三角形 4">
            <a:extLst>
              <a:ext uri="{FF2B5EF4-FFF2-40B4-BE49-F238E27FC236}">
                <a16:creationId xmlns:a16="http://schemas.microsoft.com/office/drawing/2014/main" id="{04A66908-3EAB-4F1F-8A7D-ADB1343461A6}"/>
              </a:ext>
            </a:extLst>
          </p:cNvPr>
          <p:cNvSpPr/>
          <p:nvPr/>
        </p:nvSpPr>
        <p:spPr>
          <a:xfrm>
            <a:off x="8263475" y="2624405"/>
            <a:ext cx="163630" cy="27913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C1BB47C-B2EC-4646-B39F-EFCFFA2C8DA6}"/>
              </a:ext>
            </a:extLst>
          </p:cNvPr>
          <p:cNvSpPr txBox="1"/>
          <p:nvPr/>
        </p:nvSpPr>
        <p:spPr>
          <a:xfrm>
            <a:off x="508794" y="425035"/>
            <a:ext cx="109114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實機練習題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一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： </a:t>
            </a:r>
            <a:endParaRPr lang="en-US" altLang="zh-TW" sz="28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預設載入頁面時，在輸入框中塞入 許正憲 姓名的值，可以修改內容，但按 送出鈕後，會把最新 姓名 資料顯示在下方文字，並改變樣式為，紅色粗體，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X-large 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的字體。</a:t>
            </a:r>
          </a:p>
        </p:txBody>
      </p:sp>
    </p:spTree>
    <p:extLst>
      <p:ext uri="{BB962C8B-B14F-4D97-AF65-F5344CB8AC3E}">
        <p14:creationId xmlns:p14="http://schemas.microsoft.com/office/powerpoint/2010/main" val="1812046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233441-52C4-4C4F-9A51-8620420FDC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31DE717-498F-4017-873F-E0F743A1201F}"/>
              </a:ext>
            </a:extLst>
          </p:cNvPr>
          <p:cNvSpPr txBox="1"/>
          <p:nvPr/>
        </p:nvSpPr>
        <p:spPr>
          <a:xfrm>
            <a:off x="1001949" y="794232"/>
            <a:ext cx="9484468" cy="1154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實機練習題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二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：</a:t>
            </a:r>
            <a:endParaRPr lang="en-US" altLang="zh-TW"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請把前面 的 計算 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BMI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 值的 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Js 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程式，改成 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jQuery 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語法。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216D66E-904E-410D-BC7F-141442E6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49" y="2507551"/>
            <a:ext cx="4795845" cy="3280407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E3792ED-82BA-44B4-ACFF-D2CA1ED85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520" y="2507551"/>
            <a:ext cx="4805188" cy="3280407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6763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43694B-6603-4105-A445-AF306EBC4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88E69A-7FC2-482C-940A-99DFC604F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40" y="3144507"/>
            <a:ext cx="4942857" cy="317142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02256D5-4414-4B43-B626-D1F57945A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898" y="1563555"/>
            <a:ext cx="4971429" cy="3161905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F43E95F-17CA-41A3-8BB8-163D9FD8B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495" y="3149269"/>
            <a:ext cx="4961905" cy="3152381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3BACF5A-D67E-4CF3-AC0C-191B39D243C5}"/>
              </a:ext>
            </a:extLst>
          </p:cNvPr>
          <p:cNvSpPr txBox="1"/>
          <p:nvPr/>
        </p:nvSpPr>
        <p:spPr>
          <a:xfrm>
            <a:off x="606691" y="529738"/>
            <a:ext cx="24867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b="1" dirty="0">
                <a:solidFill>
                  <a:schemeClr val="accent6">
                    <a:lumMod val="50000"/>
                  </a:schemeClr>
                </a:solidFill>
              </a:rPr>
              <a:t>實機練習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14350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978453-FF37-4707-BBED-3E8F101680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E01AB20-94FC-400C-B0A4-1CE44DD57647}"/>
              </a:ext>
            </a:extLst>
          </p:cNvPr>
          <p:cNvSpPr txBox="1"/>
          <p:nvPr/>
        </p:nvSpPr>
        <p:spPr>
          <a:xfrm>
            <a:off x="2102563" y="938195"/>
            <a:ext cx="8276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顯示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隱藏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切換 元素的三種方法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0A28385-66B0-4AE4-AD05-1EE4B667B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281240"/>
              </p:ext>
            </p:extLst>
          </p:nvPr>
        </p:nvGraphicFramePr>
        <p:xfrm>
          <a:off x="1076739" y="2111145"/>
          <a:ext cx="10038521" cy="2377440"/>
        </p:xfrm>
        <a:graphic>
          <a:graphicData uri="http://schemas.openxmlformats.org/drawingml/2006/table">
            <a:tbl>
              <a:tblPr firstRow="1" bandRow="1">
                <a:tableStyleId>{7D4EC54D-0DAB-4541-8A27-4D770AF52201}</a:tableStyleId>
              </a:tblPr>
              <a:tblGrid>
                <a:gridCol w="2925766">
                  <a:extLst>
                    <a:ext uri="{9D8B030D-6E8A-4147-A177-3AD203B41FA5}">
                      <a16:colId xmlns:a16="http://schemas.microsoft.com/office/drawing/2014/main" val="1244200773"/>
                    </a:ext>
                  </a:extLst>
                </a:gridCol>
                <a:gridCol w="3962051">
                  <a:extLst>
                    <a:ext uri="{9D8B030D-6E8A-4147-A177-3AD203B41FA5}">
                      <a16:colId xmlns:a16="http://schemas.microsoft.com/office/drawing/2014/main" val="1984125040"/>
                    </a:ext>
                  </a:extLst>
                </a:gridCol>
                <a:gridCol w="3150704">
                  <a:extLst>
                    <a:ext uri="{9D8B030D-6E8A-4147-A177-3AD203B41FA5}">
                      <a16:colId xmlns:a16="http://schemas.microsoft.com/office/drawing/2014/main" val="1019356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方法</a:t>
                      </a:r>
                      <a:r>
                        <a:rPr lang="en-US" altLang="zh-TW" sz="3600" dirty="0"/>
                        <a:t>(</a:t>
                      </a:r>
                      <a:r>
                        <a:rPr lang="zh-TW" altLang="en-US" sz="3600" dirty="0"/>
                        <a:t>函數</a:t>
                      </a:r>
                      <a:r>
                        <a:rPr lang="en-US" altLang="zh-TW" sz="3600" dirty="0"/>
                        <a:t>)</a:t>
                      </a:r>
                      <a:endParaRPr lang="zh-TW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備註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48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隱藏元素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/>
                        <a:t>.hide()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63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顯示元素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3200" dirty="0"/>
                        <a:t>.show()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010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隱藏</a:t>
                      </a:r>
                      <a:r>
                        <a:rPr lang="en-US" altLang="zh-TW" sz="3200" dirty="0"/>
                        <a:t>/</a:t>
                      </a:r>
                      <a:r>
                        <a:rPr lang="zh-TW" altLang="en-US" sz="3200" dirty="0"/>
                        <a:t>顯示元素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/>
                        <a:t>.toggle()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219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075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/>
          <p:nvPr/>
        </p:nvSpPr>
        <p:spPr>
          <a:xfrm>
            <a:off x="397480" y="234006"/>
            <a:ext cx="45544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選擇器：設定 CSS 般指定要操控的網頁元素</a:t>
            </a:r>
            <a:endParaRPr sz="1800" b="1" i="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671" y="1100745"/>
            <a:ext cx="5590476" cy="4323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671" y="5498151"/>
            <a:ext cx="5638095" cy="847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4381" y="1100745"/>
            <a:ext cx="6247619" cy="2352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23874" y="3760179"/>
            <a:ext cx="3519455" cy="2352382"/>
          </a:xfrm>
          <a:prstGeom prst="rect">
            <a:avLst/>
          </a:prstGeom>
          <a:noFill/>
          <a:ln w="28575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9" name="Google Shape;119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9319" y="3861444"/>
            <a:ext cx="3326992" cy="2344854"/>
          </a:xfrm>
          <a:prstGeom prst="rect">
            <a:avLst/>
          </a:prstGeom>
          <a:noFill/>
          <a:ln w="28575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7032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/>
          <p:nvPr/>
        </p:nvSpPr>
        <p:spPr>
          <a:xfrm>
            <a:off x="115763" y="244280"/>
            <a:ext cx="3700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 輕鬆撰寫第一個網頁設計互動效果</a:t>
            </a:r>
            <a:endParaRPr sz="1800" b="1" i="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812" y="2255177"/>
            <a:ext cx="7970847" cy="3623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763" y="5938282"/>
            <a:ext cx="4063082" cy="76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0555" y="469531"/>
            <a:ext cx="5238095" cy="15714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12"/>
          <p:cNvCxnSpPr/>
          <p:nvPr/>
        </p:nvCxnSpPr>
        <p:spPr>
          <a:xfrm flipH="1">
            <a:off x="1965790" y="1561672"/>
            <a:ext cx="3715819" cy="138701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5" name="Google Shape;135;p12"/>
          <p:cNvSpPr txBox="1"/>
          <p:nvPr/>
        </p:nvSpPr>
        <p:spPr>
          <a:xfrm>
            <a:off x="4053356" y="915341"/>
            <a:ext cx="14285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加 按鈕點選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隱藏 h1文字</a:t>
            </a:r>
            <a:endParaRPr/>
          </a:p>
        </p:txBody>
      </p:sp>
      <p:pic>
        <p:nvPicPr>
          <p:cNvPr id="136" name="Google Shape;136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0971" y="3966382"/>
            <a:ext cx="3914667" cy="273877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2"/>
          <p:cNvSpPr txBox="1"/>
          <p:nvPr/>
        </p:nvSpPr>
        <p:spPr>
          <a:xfrm>
            <a:off x="909464" y="5086649"/>
            <a:ext cx="156966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載入時會自動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隱藏 h1文字</a:t>
            </a:r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8479603" y="3105834"/>
            <a:ext cx="20313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按鈕點選後，注意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h1文字</a:t>
            </a:r>
            <a:endParaRPr/>
          </a:p>
        </p:txBody>
      </p:sp>
      <p:sp>
        <p:nvSpPr>
          <p:cNvPr id="139" name="Google Shape;139;p12"/>
          <p:cNvSpPr/>
          <p:nvPr/>
        </p:nvSpPr>
        <p:spPr>
          <a:xfrm>
            <a:off x="6852077" y="40962"/>
            <a:ext cx="5339923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2-01-hidebutton-輕鬆撰寫第一個網頁設計互動效果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351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/>
          <p:nvPr/>
        </p:nvSpPr>
        <p:spPr>
          <a:xfrm>
            <a:off x="162115" y="223732"/>
            <a:ext cx="840086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使用</a:t>
            </a: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 toggle 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切換開啟或隱藏效果</a:t>
            </a: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(1/2)</a:t>
            </a:r>
            <a:endParaRPr sz="3600" b="1" i="0" dirty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262" y="1217919"/>
            <a:ext cx="4857143" cy="1771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7513" y="3121279"/>
            <a:ext cx="4432032" cy="3492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327" y="3121280"/>
            <a:ext cx="4803162" cy="3492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/>
          <p:nvPr/>
        </p:nvSpPr>
        <p:spPr>
          <a:xfrm>
            <a:off x="7574295" y="0"/>
            <a:ext cx="4724370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2-02-toggle-使用 toggle 切換開啟或隱藏效果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397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049" y="2335637"/>
            <a:ext cx="5142857" cy="393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2203082"/>
            <a:ext cx="5761905" cy="38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4"/>
          <p:cNvSpPr/>
          <p:nvPr/>
        </p:nvSpPr>
        <p:spPr>
          <a:xfrm>
            <a:off x="162116" y="223732"/>
            <a:ext cx="76203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使用 toggle 切換開啟或隱藏效果(2/2)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432049" y="1167240"/>
            <a:ext cx="5788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可先一個設定開，一個設定關。用 toggle 可互換顯示。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077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50EA2E5-CFD0-4ACF-853E-EE25840B29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EF2DC43-ABD6-4F1D-B34C-D41865C1FAB6}"/>
              </a:ext>
            </a:extLst>
          </p:cNvPr>
          <p:cNvSpPr txBox="1"/>
          <p:nvPr/>
        </p:nvSpPr>
        <p:spPr>
          <a:xfrm>
            <a:off x="921980" y="156292"/>
            <a:ext cx="10059164" cy="17900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實機練習：切換 顯示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隱藏 的方法 的兩種方法 。</a:t>
            </a:r>
            <a:br>
              <a:rPr lang="en-US" altLang="zh-TW" sz="2000" dirty="0"/>
            </a:br>
            <a:r>
              <a:rPr lang="zh-TW" altLang="en-US" sz="2000" dirty="0"/>
              <a:t>           </a:t>
            </a:r>
            <a:r>
              <a:rPr lang="en-US" altLang="zh-TW" sz="2000" dirty="0"/>
              <a:t>Hint</a:t>
            </a:r>
            <a:r>
              <a:rPr lang="zh-TW" altLang="en-US" sz="2000" dirty="0">
                <a:sym typeface="Wingdings" panose="05000000000000000000" pitchFamily="2" charset="2"/>
              </a:rPr>
              <a:t>： </a:t>
            </a:r>
            <a:r>
              <a:rPr lang="en-US" altLang="zh-TW" sz="2000" dirty="0">
                <a:sym typeface="Wingdings" panose="05000000000000000000" pitchFamily="2" charset="2"/>
              </a:rPr>
              <a:t>(1)  </a:t>
            </a:r>
            <a:r>
              <a:rPr lang="zh-TW" altLang="en-US" sz="2000" dirty="0">
                <a:sym typeface="Wingdings" panose="05000000000000000000" pitchFamily="2" charset="2"/>
              </a:rPr>
              <a:t>透過 </a:t>
            </a:r>
            <a:r>
              <a:rPr lang="en-US" altLang="zh-TW" sz="2000" dirty="0">
                <a:sym typeface="Wingdings" panose="05000000000000000000" pitchFamily="2" charset="2"/>
              </a:rPr>
              <a:t>flag </a:t>
            </a:r>
            <a:r>
              <a:rPr lang="zh-TW" altLang="en-US" sz="2000" dirty="0">
                <a:sym typeface="Wingdings" panose="05000000000000000000" pitchFamily="2" charset="2"/>
              </a:rPr>
              <a:t>旗標與 </a:t>
            </a:r>
            <a:r>
              <a:rPr lang="en-US" altLang="zh-TW" sz="2000" dirty="0">
                <a:sym typeface="Wingdings" panose="05000000000000000000" pitchFamily="2" charset="2"/>
              </a:rPr>
              <a:t>show() </a:t>
            </a:r>
            <a:r>
              <a:rPr lang="zh-TW" altLang="en-US" sz="2000" dirty="0">
                <a:sym typeface="Wingdings" panose="05000000000000000000" pitchFamily="2" charset="2"/>
              </a:rPr>
              <a:t>與 </a:t>
            </a:r>
            <a:r>
              <a:rPr lang="en-US" altLang="zh-TW" sz="2000" dirty="0">
                <a:sym typeface="Wingdings" panose="05000000000000000000" pitchFamily="2" charset="2"/>
              </a:rPr>
              <a:t>hide()</a:t>
            </a:r>
            <a:r>
              <a:rPr lang="zh-TW" altLang="en-US" sz="2000" dirty="0">
                <a:sym typeface="Wingdings" panose="05000000000000000000" pitchFamily="2" charset="2"/>
              </a:rPr>
              <a:t>方式。</a:t>
            </a:r>
            <a:br>
              <a:rPr lang="en-US" altLang="zh-TW" sz="2000" dirty="0">
                <a:sym typeface="Wingdings" panose="05000000000000000000" pitchFamily="2" charset="2"/>
              </a:rPr>
            </a:br>
            <a:r>
              <a:rPr lang="zh-TW" altLang="en-US" sz="2000" dirty="0">
                <a:sym typeface="Wingdings" panose="05000000000000000000" pitchFamily="2" charset="2"/>
              </a:rPr>
              <a:t>                      </a:t>
            </a:r>
            <a:r>
              <a:rPr lang="en-US" altLang="zh-TW" sz="2000" dirty="0">
                <a:sym typeface="Wingdings" panose="05000000000000000000" pitchFamily="2" charset="2"/>
              </a:rPr>
              <a:t>(2)</a:t>
            </a:r>
            <a:r>
              <a:rPr lang="zh-TW" altLang="en-US" sz="2000" dirty="0">
                <a:sym typeface="Wingdings" panose="05000000000000000000" pitchFamily="2" charset="2"/>
              </a:rPr>
              <a:t>  透過 </a:t>
            </a:r>
            <a:r>
              <a:rPr lang="en-US" altLang="zh-TW" sz="2000" dirty="0">
                <a:sym typeface="Wingdings" panose="05000000000000000000" pitchFamily="2" charset="2"/>
              </a:rPr>
              <a:t>toggle() </a:t>
            </a:r>
            <a:r>
              <a:rPr lang="zh-TW" altLang="en-US" sz="2000" dirty="0">
                <a:sym typeface="Wingdings" panose="05000000000000000000" pitchFamily="2" charset="2"/>
              </a:rPr>
              <a:t>方法</a:t>
            </a:r>
            <a:endParaRPr lang="zh-TW" altLang="en-US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AFA21A0-C246-441B-AD4A-CD1C91CF4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75" y="2375095"/>
            <a:ext cx="4480713" cy="285838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4DAA263-E7A0-4EF0-967A-376F3429D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116" y="3942727"/>
            <a:ext cx="3933934" cy="248025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075CCE6-98AA-4149-B8D4-BA47CBE24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987" y="2324467"/>
            <a:ext cx="4507787" cy="285838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2022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048B2F1-8ECD-4F1F-9252-AE5C5414F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6E8B0A2-41EC-4583-AD67-48B5E04FA83D}"/>
              </a:ext>
            </a:extLst>
          </p:cNvPr>
          <p:cNvSpPr txBox="1"/>
          <p:nvPr/>
        </p:nvSpPr>
        <p:spPr>
          <a:xfrm>
            <a:off x="793706" y="816715"/>
            <a:ext cx="30059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solidFill>
                  <a:schemeClr val="accent6">
                    <a:lumMod val="50000"/>
                  </a:schemeClr>
                </a:solidFill>
              </a:rPr>
              <a:t>實機練習題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7786EDE-2D70-4D17-AAD6-5D4170967C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896"/>
          <a:stretch/>
        </p:blipFill>
        <p:spPr>
          <a:xfrm>
            <a:off x="473484" y="1786772"/>
            <a:ext cx="3962330" cy="70184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88BE8D0-968B-49C7-9178-E2E0AF7E2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84" y="2644472"/>
            <a:ext cx="3808862" cy="65708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5E51931-7299-4DD2-8B6D-C1BEBB74C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84" y="3385416"/>
            <a:ext cx="3839661" cy="65708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8D91145-82BA-4492-80DD-35AC1950E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526" y="931677"/>
            <a:ext cx="5363323" cy="189574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D1076C7-7E4E-4D54-A547-CA258EA2E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526" y="2973014"/>
            <a:ext cx="5839908" cy="35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1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/>
        </p:nvSpPr>
        <p:spPr>
          <a:xfrm>
            <a:off x="574157" y="786810"/>
            <a:ext cx="11265300" cy="564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8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讀取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變更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屬性的值</a:t>
            </a:r>
            <a:endParaRPr sz="2800" b="1" dirty="0">
              <a:solidFill>
                <a:schemeClr val="accent6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280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讀取</a:t>
            </a:r>
            <a:r>
              <a:rPr lang="en-US" sz="2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</a:t>
            </a:r>
            <a:r>
              <a:rPr lang="en-US" sz="280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變更</a:t>
            </a:r>
            <a:r>
              <a:rPr lang="en-US" sz="2800" b="1" dirty="0">
                <a:solidFill>
                  <a:srgbClr val="FF0000"/>
                </a:solidFill>
                <a:sym typeface="Arial"/>
              </a:rPr>
              <a:t> </a:t>
            </a:r>
            <a:endParaRPr b="1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$(“a“).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(‘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’);           $(“a”).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(‘</a:t>
            </a:r>
            <a:r>
              <a:rPr lang="en-US" sz="2800" dirty="0" err="1">
                <a:solidFill>
                  <a:schemeClr val="dk1"/>
                </a:solidFill>
              </a:rPr>
              <a:t>href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 , ‘https://www.yahoo.com’);</a:t>
            </a:r>
            <a:endParaRPr dirty="0"/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.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建立新元素</a:t>
            </a:r>
            <a:endParaRPr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var  el  = $(‘&lt;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&gt;Hello&lt;/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&gt;’);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$(‘p’).append( el );           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</a:rPr>
              <a:t>10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.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</a:rPr>
              <a:t>移除現有元素</a:t>
            </a:r>
            <a:endParaRPr sz="28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$(‘#foo’).remove();            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C88B209-779E-4806-8910-BAA0837E1C4B}"/>
              </a:ext>
            </a:extLst>
          </p:cNvPr>
          <p:cNvSpPr txBox="1"/>
          <p:nvPr/>
        </p:nvSpPr>
        <p:spPr>
          <a:xfrm>
            <a:off x="7048500" y="786810"/>
            <a:ext cx="4679486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</a:rPr>
              <a:t>移除屬性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r>
              <a:rPr lang="en-US" altLang="zh-TW" sz="2800" dirty="0"/>
              <a:t>$(</a:t>
            </a:r>
            <a:r>
              <a:rPr lang="zh-TW" altLang="en-US" sz="2800" dirty="0"/>
              <a:t>選擇器</a:t>
            </a:r>
            <a:r>
              <a:rPr lang="en-US" altLang="zh-TW" sz="2800" dirty="0"/>
              <a:t>).</a:t>
            </a:r>
            <a:r>
              <a:rPr lang="en-US" altLang="zh-TW" sz="2800" dirty="0" err="1"/>
              <a:t>removeAttr</a:t>
            </a:r>
            <a:r>
              <a:rPr lang="en-US" altLang="zh-TW" sz="2800" dirty="0"/>
              <a:t>(‘</a:t>
            </a:r>
            <a:r>
              <a:rPr lang="zh-TW" altLang="en-US" sz="2800" dirty="0"/>
              <a:t>屬性</a:t>
            </a:r>
            <a:r>
              <a:rPr lang="en-US" altLang="zh-TW" sz="2800" dirty="0"/>
              <a:t>’)</a:t>
            </a:r>
            <a:endParaRPr lang="zh-TW" altLang="en-US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DDAA399-FE7E-4785-B97E-40D6AB76F8F2}"/>
              </a:ext>
            </a:extLst>
          </p:cNvPr>
          <p:cNvSpPr txBox="1"/>
          <p:nvPr/>
        </p:nvSpPr>
        <p:spPr>
          <a:xfrm>
            <a:off x="6938357" y="5463585"/>
            <a:ext cx="3102131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</a:rPr>
              <a:t>移除所有物件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r>
              <a:rPr lang="en-US" altLang="zh-TW" sz="2800" dirty="0"/>
              <a:t>$(</a:t>
            </a:r>
            <a:r>
              <a:rPr lang="zh-TW" altLang="en-US" sz="2800" dirty="0"/>
              <a:t>選擇器</a:t>
            </a:r>
            <a:r>
              <a:rPr lang="en-US" altLang="zh-TW" sz="2800" dirty="0"/>
              <a:t>).empty()</a:t>
            </a:r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978453-FF37-4707-BBED-3E8F101680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E01AB20-94FC-400C-B0A4-1CE44DD57647}"/>
              </a:ext>
            </a:extLst>
          </p:cNvPr>
          <p:cNvSpPr txBox="1"/>
          <p:nvPr/>
        </p:nvSpPr>
        <p:spPr>
          <a:xfrm>
            <a:off x="2623931" y="849963"/>
            <a:ext cx="57845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8. </a:t>
            </a:r>
            <a:r>
              <a:rPr lang="en-US" altLang="zh-TW" sz="4000" b="1" dirty="0" err="1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讀取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altLang="zh-TW" sz="4000" b="1" dirty="0" err="1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變更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移除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4000" b="1" dirty="0" err="1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屬性</a:t>
            </a:r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0A28385-66B0-4AE4-AD05-1EE4B667B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748752"/>
              </p:ext>
            </p:extLst>
          </p:nvPr>
        </p:nvGraphicFramePr>
        <p:xfrm>
          <a:off x="1076739" y="1663526"/>
          <a:ext cx="10505661" cy="3962400"/>
        </p:xfrm>
        <a:graphic>
          <a:graphicData uri="http://schemas.openxmlformats.org/drawingml/2006/table">
            <a:tbl>
              <a:tblPr firstRow="1" bandRow="1">
                <a:tableStyleId>{7D4EC54D-0DAB-4541-8A27-4D770AF52201}</a:tableStyleId>
              </a:tblPr>
              <a:tblGrid>
                <a:gridCol w="1835426">
                  <a:extLst>
                    <a:ext uri="{9D8B030D-6E8A-4147-A177-3AD203B41FA5}">
                      <a16:colId xmlns:a16="http://schemas.microsoft.com/office/drawing/2014/main" val="1244200773"/>
                    </a:ext>
                  </a:extLst>
                </a:gridCol>
                <a:gridCol w="2564296">
                  <a:extLst>
                    <a:ext uri="{9D8B030D-6E8A-4147-A177-3AD203B41FA5}">
                      <a16:colId xmlns:a16="http://schemas.microsoft.com/office/drawing/2014/main" val="1984125040"/>
                    </a:ext>
                  </a:extLst>
                </a:gridCol>
                <a:gridCol w="6105939">
                  <a:extLst>
                    <a:ext uri="{9D8B030D-6E8A-4147-A177-3AD203B41FA5}">
                      <a16:colId xmlns:a16="http://schemas.microsoft.com/office/drawing/2014/main" val="1019356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方法</a:t>
                      </a:r>
                      <a:r>
                        <a:rPr lang="en-US" altLang="zh-TW" sz="3600" dirty="0"/>
                        <a:t>(</a:t>
                      </a:r>
                      <a:r>
                        <a:rPr lang="zh-TW" altLang="en-US" sz="3600" dirty="0"/>
                        <a:t>函數</a:t>
                      </a:r>
                      <a:r>
                        <a:rPr lang="en-US" altLang="zh-TW" sz="3600" dirty="0"/>
                        <a:t>)</a:t>
                      </a:r>
                      <a:endParaRPr lang="zh-TW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備註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48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讀取屬性值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.</a:t>
                      </a:r>
                      <a:r>
                        <a:rPr lang="en-US" altLang="zh-TW" sz="2000" dirty="0" err="1"/>
                        <a:t>attr</a:t>
                      </a:r>
                      <a:r>
                        <a:rPr lang="en-US" altLang="zh-TW" sz="2000" dirty="0"/>
                        <a:t>(‘</a:t>
                      </a:r>
                      <a:r>
                        <a:rPr lang="zh-TW" altLang="en-US" sz="2000" dirty="0"/>
                        <a:t>屬性</a:t>
                      </a:r>
                      <a:r>
                        <a:rPr lang="en-US" altLang="zh-TW" sz="2000" dirty="0"/>
                        <a:t>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.prop(‘</a:t>
                      </a:r>
                      <a:r>
                        <a:rPr lang="zh-TW" altLang="en-US" sz="2000" dirty="0"/>
                        <a:t>屬性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cs typeface="Arial"/>
                          <a:sym typeface="Arial"/>
                        </a:rPr>
                        <a:t>核取 與 有效顯示</a:t>
                      </a:r>
                      <a:endParaRPr lang="en-US" altLang="zh-TW" sz="1600" b="0" i="0" u="none" strike="noStrike" cap="none" dirty="0">
                        <a:solidFill>
                          <a:schemeClr val="dk1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0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cs typeface="Arial"/>
                          <a:sym typeface="Arial"/>
                        </a:rPr>
                        <a:t>chkVIP.attr</a:t>
                      </a:r>
                      <a:r>
                        <a:rPr lang="en-US" altLang="zh-TW" sz="16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cs typeface="Arial"/>
                          <a:sym typeface="Arial"/>
                        </a:rPr>
                        <a:t>(“checked”)-&gt;  checked / checked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0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cs typeface="Arial"/>
                          <a:sym typeface="Arial"/>
                        </a:rPr>
                        <a:t>numQty.disabled</a:t>
                      </a:r>
                      <a:r>
                        <a:rPr lang="en-US" altLang="zh-TW" sz="16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cs typeface="Arial"/>
                          <a:sym typeface="Arial"/>
                        </a:rPr>
                        <a:t>         -&gt; </a:t>
                      </a:r>
                      <a:r>
                        <a:rPr lang="zh-TW" altLang="en-US" sz="16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zh-TW" sz="16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cs typeface="Arial"/>
                          <a:sym typeface="Arial"/>
                        </a:rPr>
                        <a:t>disabled / undefined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chkVIP.prop</a:t>
                      </a:r>
                      <a:r>
                        <a:rPr kumimoji="0" lang="en-US" altLang="zh-TW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(“checked”) -&gt; true / false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numQty.disabled</a:t>
                      </a:r>
                      <a:r>
                        <a:rPr kumimoji="0" lang="en-US" altLang="zh-TW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         -&gt;  false / true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https://www.cythilya.tw/2017/09/10/jquery-attr-vs-prop/</a:t>
                      </a:r>
                      <a:endParaRPr kumimoji="0" lang="en-US" altLang="zh-TW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https://bonze.tw/jquery-prop-vs-attr/</a:t>
                      </a:r>
                      <a:r>
                        <a:rPr kumimoji="0" lang="en-US" altLang="zh-TW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  </a:t>
                      </a:r>
                      <a:endParaRPr kumimoji="0" lang="zh-TW" alt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63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變更屬性值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.</a:t>
                      </a:r>
                      <a:r>
                        <a:rPr lang="en-US" altLang="zh-TW" sz="2000" dirty="0" err="1"/>
                        <a:t>attr</a:t>
                      </a:r>
                      <a:r>
                        <a:rPr lang="en-US" altLang="zh-TW" sz="2000" dirty="0"/>
                        <a:t>(‘</a:t>
                      </a:r>
                      <a:r>
                        <a:rPr lang="zh-TW" altLang="en-US" sz="2000" dirty="0"/>
                        <a:t>屬性</a:t>
                      </a:r>
                      <a:r>
                        <a:rPr lang="en-US" altLang="zh-TW" sz="2000" dirty="0"/>
                        <a:t>’ , </a:t>
                      </a:r>
                      <a:r>
                        <a:rPr lang="zh-TW" altLang="en-US" sz="2000" dirty="0"/>
                        <a:t>新值</a:t>
                      </a:r>
                      <a:r>
                        <a:rPr lang="en-US" altLang="zh-TW" sz="2000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.prop(‘</a:t>
                      </a:r>
                      <a:r>
                        <a:rPr lang="zh-TW" altLang="en-US" sz="2000" dirty="0"/>
                        <a:t>屬性</a:t>
                      </a:r>
                      <a:r>
                        <a:rPr lang="en-US" altLang="zh-TW" sz="2000" dirty="0"/>
                        <a:t>’, </a:t>
                      </a:r>
                      <a:r>
                        <a:rPr lang="zh-TW" altLang="en-US" sz="2000" dirty="0"/>
                        <a:t>新值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800" b="0" i="0" u="none" strike="noStrike" cap="none" dirty="0">
                        <a:solidFill>
                          <a:schemeClr val="dk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010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移除屬性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.</a:t>
                      </a:r>
                      <a:r>
                        <a:rPr lang="en-US" altLang="zh-TW" sz="2000" dirty="0" err="1"/>
                        <a:t>removeAttr</a:t>
                      </a:r>
                      <a:r>
                        <a:rPr lang="en-US" altLang="zh-TW" sz="2000" dirty="0"/>
                        <a:t>(‘</a:t>
                      </a:r>
                      <a:r>
                        <a:rPr lang="zh-TW" altLang="en-US" sz="2000" dirty="0"/>
                        <a:t>屬性</a:t>
                      </a:r>
                      <a:r>
                        <a:rPr lang="en-US" altLang="zh-TW" sz="2000" dirty="0"/>
                        <a:t>’)</a:t>
                      </a:r>
                    </a:p>
                    <a:p>
                      <a:r>
                        <a:rPr lang="en-US" altLang="zh-TW" sz="2000" dirty="0"/>
                        <a:t>.</a:t>
                      </a:r>
                      <a:r>
                        <a:rPr lang="en-US" altLang="zh-TW" sz="2000" dirty="0" err="1"/>
                        <a:t>removeProp</a:t>
                      </a:r>
                      <a:r>
                        <a:rPr lang="en-US" altLang="zh-TW" sz="2000" dirty="0"/>
                        <a:t>(‘</a:t>
                      </a:r>
                      <a:r>
                        <a:rPr lang="zh-TW" altLang="en-US" sz="2000" dirty="0"/>
                        <a:t>屬性</a:t>
                      </a:r>
                      <a:r>
                        <a:rPr lang="en-US" altLang="zh-TW" sz="2000" dirty="0"/>
                        <a:t>’)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82692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ABBE1C49-F277-4155-B40A-1B4239067833}"/>
              </a:ext>
            </a:extLst>
          </p:cNvPr>
          <p:cNvSpPr txBox="1"/>
          <p:nvPr/>
        </p:nvSpPr>
        <p:spPr>
          <a:xfrm>
            <a:off x="998882" y="5547303"/>
            <a:ext cx="10661374" cy="120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TW" altLang="en-US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讀取                                   變更</a:t>
            </a:r>
            <a:endParaRPr lang="zh-TW" altLang="en-US" sz="2400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TW" altLang="en-US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$(“a“).</a:t>
            </a:r>
            <a:r>
              <a:rPr lang="en-US" altLang="zh-TW" sz="24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attr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(‘</a:t>
            </a:r>
            <a:r>
              <a:rPr lang="en-US" altLang="zh-TW" sz="24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’);   </a:t>
            </a:r>
            <a:r>
              <a:rPr lang="zh-TW" altLang="en-US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$(“a”).</a:t>
            </a:r>
            <a:r>
              <a:rPr lang="en-US" altLang="zh-TW" sz="24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attr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(‘</a:t>
            </a:r>
            <a:r>
              <a:rPr lang="en-US" altLang="zh-TW" sz="2400" dirty="0" err="1">
                <a:solidFill>
                  <a:srgbClr val="FF0000"/>
                </a:solidFill>
              </a:rPr>
              <a:t>href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’ , ‘https://www.yahoo.com’);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92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字方塊 16">
            <a:extLst>
              <a:ext uri="{FF2B5EF4-FFF2-40B4-BE49-F238E27FC236}">
                <a16:creationId xmlns:a16="http://schemas.microsoft.com/office/drawing/2014/main" id="{2D5A2B92-AF85-4C0F-9900-3DCE8DEDCD18}"/>
              </a:ext>
            </a:extLst>
          </p:cNvPr>
          <p:cNvSpPr txBox="1"/>
          <p:nvPr/>
        </p:nvSpPr>
        <p:spPr>
          <a:xfrm>
            <a:off x="481395" y="2785532"/>
            <a:ext cx="89650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(1)VIP:&lt;input type="checkbox" id='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isvip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 checked&gt;&lt;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(2)</a:t>
            </a:r>
            <a:r>
              <a:rPr lang="zh-TW" altLang="en-US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年齡：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&lt;input type="number" id='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isage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 value="28"&gt;&lt;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&lt;script&gt;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$(document).ready(function () {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alert( "(1)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-VIP</a:t>
            </a:r>
            <a:r>
              <a:rPr lang="zh-TW" altLang="en-US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有核取屬性：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+ $("#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isvip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").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('checked'));    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// =&gt; checked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alert( "(1)prop-VIP</a:t>
            </a:r>
            <a:r>
              <a:rPr lang="zh-TW" altLang="en-US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有核取屬性：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+ $("#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isvip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").prop('checked'));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// =&gt; true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alert( "(2)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-number</a:t>
            </a:r>
            <a:r>
              <a:rPr lang="zh-TW" altLang="en-US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有效屬性：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+ $("#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isage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").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('disabled'));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// =&gt; undefined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alert( "(2)prop-number</a:t>
            </a:r>
            <a:r>
              <a:rPr lang="zh-TW" altLang="en-US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有效屬性：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+ $("#</a:t>
            </a:r>
            <a:r>
              <a:rPr lang="en-US" altLang="zh-TW" sz="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isage</a:t>
            </a:r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").prop('disabled'));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    // =&gt; false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en-US" altLang="zh-TW" sz="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  &lt;/script&gt;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F923787-9572-4386-87C3-0BDC9EF19726}"/>
              </a:ext>
            </a:extLst>
          </p:cNvPr>
          <p:cNvSpPr txBox="1"/>
          <p:nvPr/>
        </p:nvSpPr>
        <p:spPr>
          <a:xfrm>
            <a:off x="6761922" y="2686561"/>
            <a:ext cx="89650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(1)VIP:</a:t>
            </a:r>
            <a:r>
              <a:rPr lang="en-US" altLang="zh-TW" sz="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isvip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altLang="zh-TW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TW" sz="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TW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(2)</a:t>
            </a:r>
            <a:r>
              <a:rPr lang="zh-TW" alt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年齡：</a:t>
            </a:r>
            <a:r>
              <a:rPr lang="en-US" altLang="zh-TW" sz="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isage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"28"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n-US" altLang="zh-TW" sz="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altLang="zh-TW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TW" sz="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TW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altLang="zh-TW" sz="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TW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"(1)</a:t>
            </a:r>
            <a:r>
              <a:rPr lang="en-US" altLang="zh-TW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-VIP</a:t>
            </a:r>
            <a:r>
              <a:rPr lang="zh-TW" alt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無核取屬性：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US" altLang="zh-TW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isvip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TW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'checked'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    </a:t>
            </a: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=&gt; undefined</a:t>
            </a:r>
            <a:endParaRPr lang="en-US" altLang="zh-TW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"(1)prop-VIP</a:t>
            </a:r>
            <a:r>
              <a:rPr lang="zh-TW" alt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無核取屬性：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US" altLang="zh-TW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isvip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prop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'checked'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=&gt; false</a:t>
            </a:r>
            <a:endParaRPr lang="en-US" altLang="zh-TW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"(2)</a:t>
            </a:r>
            <a:r>
              <a:rPr lang="en-US" altLang="zh-TW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-number</a:t>
            </a:r>
            <a:r>
              <a:rPr lang="zh-TW" alt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無效屬性：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US" altLang="zh-TW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isage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TW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'disabled'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=&gt; disabled</a:t>
            </a:r>
            <a:endParaRPr lang="en-US" altLang="zh-TW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"(2)prop-number</a:t>
            </a:r>
            <a:r>
              <a:rPr lang="zh-TW" alt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無效屬性：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US" altLang="zh-TW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isage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TW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prop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'disabled'</a:t>
            </a:r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=&gt; true</a:t>
            </a:r>
            <a:endParaRPr lang="en-US" altLang="zh-TW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en-US" altLang="zh-TW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TW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altLang="zh-TW" sz="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TW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DD6BFD4-C79F-4098-94AF-94AF24A310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0BA5B49-F544-4A61-8B21-C2F2F93DD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0" y="774204"/>
            <a:ext cx="3741744" cy="1234547"/>
          </a:xfrm>
          <a:prstGeom prst="rect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6D2FB59-2FBE-4D64-887F-EA12B9283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1845"/>
            <a:ext cx="5982359" cy="272700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F723F9E-0864-4B62-B2DF-46E7C90C4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643" y="2345220"/>
            <a:ext cx="5982359" cy="280025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97BEB65-3803-4071-8D7B-A8831B9CA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019" y="904743"/>
            <a:ext cx="3680779" cy="1112616"/>
          </a:xfrm>
          <a:prstGeom prst="rect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</p:pic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AFEC1C3B-3F19-43F6-B662-76E9F54A215C}"/>
              </a:ext>
            </a:extLst>
          </p:cNvPr>
          <p:cNvSpPr/>
          <p:nvPr/>
        </p:nvSpPr>
        <p:spPr>
          <a:xfrm>
            <a:off x="11887200" y="2345220"/>
            <a:ext cx="208722" cy="34134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E59CB351-5BEC-44D2-A4ED-E716ABDBC413}"/>
              </a:ext>
            </a:extLst>
          </p:cNvPr>
          <p:cNvSpPr/>
          <p:nvPr/>
        </p:nvSpPr>
        <p:spPr>
          <a:xfrm>
            <a:off x="5717316" y="2345219"/>
            <a:ext cx="208722" cy="34134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245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A5F9E964-29E8-4652-A7F7-62EE3706F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65" y="3832178"/>
            <a:ext cx="7055541" cy="231890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CEDA1BA-86E5-487B-82D9-1FBBA78E8A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C50B3C1-B533-4823-809F-3E03B6174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52" y="1605984"/>
            <a:ext cx="3703098" cy="2071971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778916F-34BC-4B8D-993C-CCDF49DDC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52" y="3832178"/>
            <a:ext cx="4016232" cy="242414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CBFC91E-BC05-465D-82C8-4559BDAAF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53" y="3813825"/>
            <a:ext cx="4016232" cy="2395367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0CC2D0E-99FC-4E5B-9818-381BC616A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075" y="1301321"/>
            <a:ext cx="3445673" cy="2322993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C46611F-94EF-4CA3-942F-5CA8F9D686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547" b="19563"/>
          <a:stretch/>
        </p:blipFill>
        <p:spPr>
          <a:xfrm>
            <a:off x="8321585" y="3813825"/>
            <a:ext cx="3818710" cy="2337254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B86EC8B-DE65-4AD0-A57D-EC1675A589BF}"/>
              </a:ext>
            </a:extLst>
          </p:cNvPr>
          <p:cNvSpPr txBox="1"/>
          <p:nvPr/>
        </p:nvSpPr>
        <p:spPr>
          <a:xfrm>
            <a:off x="272252" y="652918"/>
            <a:ext cx="11333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實機演練： 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05_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配合 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data-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自訂屬性 與 </a:t>
            </a:r>
            <a:r>
              <a:rPr lang="en-US" altLang="zh-TW" sz="4000" b="1" dirty="0" err="1">
                <a:solidFill>
                  <a:schemeClr val="accent6">
                    <a:lumMod val="50000"/>
                  </a:schemeClr>
                </a:solidFill>
              </a:rPr>
              <a:t>attr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()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屬性</a:t>
            </a: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9B264AF2-6655-4B80-ABFD-11483A4E01D8}"/>
              </a:ext>
            </a:extLst>
          </p:cNvPr>
          <p:cNvSpPr/>
          <p:nvPr/>
        </p:nvSpPr>
        <p:spPr>
          <a:xfrm>
            <a:off x="4071486" y="3927107"/>
            <a:ext cx="144379" cy="23100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FC8B28-C3D4-42CE-97D3-E947A924E298}"/>
              </a:ext>
            </a:extLst>
          </p:cNvPr>
          <p:cNvSpPr/>
          <p:nvPr/>
        </p:nvSpPr>
        <p:spPr>
          <a:xfrm>
            <a:off x="8084752" y="-105498"/>
            <a:ext cx="4150495" cy="7403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TW" sz="3200" dirty="0">
                <a:solidFill>
                  <a:srgbClr val="FF0000"/>
                </a:solidFill>
              </a:rPr>
              <a:t>8. </a:t>
            </a:r>
            <a:r>
              <a:rPr lang="zh-TW" altLang="en-US" sz="3200" dirty="0">
                <a:solidFill>
                  <a:srgbClr val="FF0000"/>
                </a:solidFill>
              </a:rPr>
              <a:t>讀取</a:t>
            </a:r>
            <a:r>
              <a:rPr lang="en-US" altLang="zh-TW" sz="3200" dirty="0">
                <a:solidFill>
                  <a:srgbClr val="FF0000"/>
                </a:solidFill>
              </a:rPr>
              <a:t>/</a:t>
            </a:r>
            <a:r>
              <a:rPr lang="zh-TW" altLang="en-US" sz="3200" dirty="0">
                <a:solidFill>
                  <a:srgbClr val="FF0000"/>
                </a:solidFill>
              </a:rPr>
              <a:t>變更 屬性的值</a:t>
            </a:r>
          </a:p>
        </p:txBody>
      </p:sp>
    </p:spTree>
    <p:extLst>
      <p:ext uri="{BB962C8B-B14F-4D97-AF65-F5344CB8AC3E}">
        <p14:creationId xmlns:p14="http://schemas.microsoft.com/office/powerpoint/2010/main" val="274673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978453-FF37-4707-BBED-3E8F101680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E01AB20-94FC-400C-B0A4-1CE44DD57647}"/>
              </a:ext>
            </a:extLst>
          </p:cNvPr>
          <p:cNvSpPr txBox="1"/>
          <p:nvPr/>
        </p:nvSpPr>
        <p:spPr>
          <a:xfrm>
            <a:off x="2524540" y="502094"/>
            <a:ext cx="57845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9.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建立新元素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0A28385-66B0-4AE4-AD05-1EE4B667B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113975"/>
              </p:ext>
            </p:extLst>
          </p:nvPr>
        </p:nvGraphicFramePr>
        <p:xfrm>
          <a:off x="1020418" y="1614183"/>
          <a:ext cx="10151164" cy="3535680"/>
        </p:xfrm>
        <a:graphic>
          <a:graphicData uri="http://schemas.openxmlformats.org/drawingml/2006/table">
            <a:tbl>
              <a:tblPr firstRow="1" bandRow="1">
                <a:tableStyleId>{7D4EC54D-0DAB-4541-8A27-4D770AF52201}</a:tableStyleId>
              </a:tblPr>
              <a:tblGrid>
                <a:gridCol w="3601278">
                  <a:extLst>
                    <a:ext uri="{9D8B030D-6E8A-4147-A177-3AD203B41FA5}">
                      <a16:colId xmlns:a16="http://schemas.microsoft.com/office/drawing/2014/main" val="1244200773"/>
                    </a:ext>
                  </a:extLst>
                </a:gridCol>
                <a:gridCol w="4717774">
                  <a:extLst>
                    <a:ext uri="{9D8B030D-6E8A-4147-A177-3AD203B41FA5}">
                      <a16:colId xmlns:a16="http://schemas.microsoft.com/office/drawing/2014/main" val="1984125040"/>
                    </a:ext>
                  </a:extLst>
                </a:gridCol>
                <a:gridCol w="1832112">
                  <a:extLst>
                    <a:ext uri="{9D8B030D-6E8A-4147-A177-3AD203B41FA5}">
                      <a16:colId xmlns:a16="http://schemas.microsoft.com/office/drawing/2014/main" val="1019356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方法</a:t>
                      </a:r>
                      <a:r>
                        <a:rPr lang="en-US" altLang="zh-TW" sz="3600" dirty="0"/>
                        <a:t>(</a:t>
                      </a:r>
                      <a:r>
                        <a:rPr lang="zh-TW" altLang="en-US" sz="3600" dirty="0"/>
                        <a:t>函數</a:t>
                      </a:r>
                      <a:r>
                        <a:rPr lang="en-US" altLang="zh-TW" sz="3600" dirty="0"/>
                        <a:t>)</a:t>
                      </a:r>
                      <a:endParaRPr lang="zh-TW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備註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48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800" dirty="0"/>
                        <a:t>建立新元素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/>
                        <a:t>$(‘&lt;</a:t>
                      </a:r>
                      <a:r>
                        <a:rPr lang="zh-TW" altLang="en-US" sz="2800" dirty="0"/>
                        <a:t>標籤</a:t>
                      </a:r>
                      <a:r>
                        <a:rPr lang="en-US" altLang="zh-TW" sz="2800" dirty="0"/>
                        <a:t>&gt;</a:t>
                      </a:r>
                      <a:r>
                        <a:rPr lang="zh-TW" altLang="en-US" sz="2800" dirty="0"/>
                        <a:t>內容內容</a:t>
                      </a:r>
                      <a:r>
                        <a:rPr lang="en-US" altLang="zh-TW" sz="2800" dirty="0"/>
                        <a:t>&lt;/</a:t>
                      </a:r>
                      <a:r>
                        <a:rPr lang="zh-TW" altLang="en-US" sz="2800" dirty="0"/>
                        <a:t>標籤</a:t>
                      </a:r>
                      <a:r>
                        <a:rPr lang="en-US" altLang="zh-TW" sz="2800" dirty="0"/>
                        <a:t>&gt;’)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63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highlight>
                            <a:srgbClr val="FFFF00"/>
                          </a:highlight>
                        </a:rPr>
                        <a:t>後面添增子</a:t>
                      </a:r>
                      <a:r>
                        <a:rPr lang="en-US" altLang="zh-TW" sz="2800" dirty="0"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zh-TW" altLang="en-US" sz="2800" dirty="0">
                          <a:highlight>
                            <a:srgbClr val="FFFF00"/>
                          </a:highlight>
                        </a:rPr>
                        <a:t>新</a:t>
                      </a:r>
                      <a:r>
                        <a:rPr lang="en-US" altLang="zh-TW" sz="2800" dirty="0">
                          <a:highlight>
                            <a:srgbClr val="FFFF00"/>
                          </a:highlight>
                        </a:rPr>
                        <a:t>)</a:t>
                      </a:r>
                      <a:r>
                        <a:rPr lang="zh-TW" altLang="en-US" sz="2800" dirty="0">
                          <a:highlight>
                            <a:srgbClr val="FFFF00"/>
                          </a:highlight>
                        </a:rPr>
                        <a:t>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>
                          <a:highlight>
                            <a:srgbClr val="FFFF00"/>
                          </a:highlight>
                        </a:rPr>
                        <a:t>元素</a:t>
                      </a:r>
                      <a:r>
                        <a:rPr lang="en-US" altLang="zh-TW" sz="2800" dirty="0">
                          <a:highlight>
                            <a:srgbClr val="FFFF00"/>
                          </a:highlight>
                        </a:rPr>
                        <a:t>.append(</a:t>
                      </a:r>
                      <a:r>
                        <a:rPr lang="zh-TW" altLang="en-US" sz="2800" dirty="0">
                          <a:highlight>
                            <a:srgbClr val="FFFF00"/>
                          </a:highlight>
                        </a:rPr>
                        <a:t>新元素</a:t>
                      </a:r>
                      <a:r>
                        <a:rPr lang="en-US" altLang="zh-TW" sz="2800" dirty="0">
                          <a:highlight>
                            <a:srgbClr val="FFFF00"/>
                          </a:highlight>
                        </a:rPr>
                        <a:t>)</a:t>
                      </a:r>
                      <a:endParaRPr lang="zh-TW" altLang="en-US" sz="28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010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800" dirty="0"/>
                        <a:t>前面添增子</a:t>
                      </a:r>
                      <a:r>
                        <a:rPr lang="en-US" altLang="zh-TW" sz="2800" dirty="0"/>
                        <a:t>(</a:t>
                      </a:r>
                      <a:r>
                        <a:rPr lang="zh-TW" altLang="en-US" sz="2800" dirty="0"/>
                        <a:t>新</a:t>
                      </a:r>
                      <a:r>
                        <a:rPr lang="en-US" altLang="zh-TW" sz="2800" dirty="0"/>
                        <a:t>)</a:t>
                      </a:r>
                      <a:r>
                        <a:rPr lang="zh-TW" altLang="en-US" sz="2800" dirty="0"/>
                        <a:t>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元素</a:t>
                      </a:r>
                      <a:r>
                        <a:rPr lang="en-US" altLang="zh-TW" sz="2800" dirty="0"/>
                        <a:t>.prepend(</a:t>
                      </a:r>
                      <a:r>
                        <a:rPr lang="zh-TW" altLang="en-US" sz="2800" dirty="0"/>
                        <a:t>新元素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219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800" dirty="0"/>
                        <a:t>元素前插入新元素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元素</a:t>
                      </a:r>
                      <a:r>
                        <a:rPr lang="en-US" altLang="zh-TW" sz="2800" dirty="0"/>
                        <a:t>.before(</a:t>
                      </a:r>
                      <a:r>
                        <a:rPr lang="zh-TW" altLang="en-US" sz="2800" dirty="0"/>
                        <a:t>新元素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1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元素後插入新元素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元素</a:t>
                      </a:r>
                      <a:r>
                        <a:rPr lang="en-US" altLang="zh-TW" sz="2800" dirty="0"/>
                        <a:t>.after(</a:t>
                      </a:r>
                      <a:r>
                        <a:rPr lang="zh-TW" altLang="en-US" sz="2800" dirty="0"/>
                        <a:t>新元素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047078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ABBE1C49-F277-4155-B40A-1B4239067833}"/>
              </a:ext>
            </a:extLst>
          </p:cNvPr>
          <p:cNvSpPr txBox="1"/>
          <p:nvPr/>
        </p:nvSpPr>
        <p:spPr>
          <a:xfrm>
            <a:off x="1076739" y="5261787"/>
            <a:ext cx="1003852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altLang="en-US" sz="2400" dirty="0">
                <a:solidFill>
                  <a:srgbClr val="FF0000"/>
                </a:solidFill>
              </a:rPr>
              <a:t>範例：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rgbClr val="FF0000"/>
                </a:solidFill>
              </a:rPr>
              <a:t>var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 err="1">
                <a:solidFill>
                  <a:srgbClr val="FF0000"/>
                </a:solidFill>
              </a:rPr>
              <a:t>el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=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$(‘&lt;li&gt;</a:t>
            </a:r>
            <a:r>
              <a:rPr lang="zh-TW" altLang="en-US" sz="2400" dirty="0">
                <a:solidFill>
                  <a:srgbClr val="FF0000"/>
                </a:solidFill>
              </a:rPr>
              <a:t>新店碧潭</a:t>
            </a:r>
            <a:r>
              <a:rPr lang="en-US" altLang="zh-TW" sz="2400" dirty="0">
                <a:solidFill>
                  <a:srgbClr val="FF0000"/>
                </a:solidFill>
              </a:rPr>
              <a:t>&lt;/li&gt;’);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rgbClr val="FF0000"/>
                </a:solidFill>
              </a:rPr>
              <a:t>$(‘ul’).append(</a:t>
            </a:r>
            <a:r>
              <a:rPr lang="en-US" altLang="zh-TW" sz="2400" dirty="0" err="1">
                <a:solidFill>
                  <a:srgbClr val="FF0000"/>
                </a:solidFill>
              </a:rPr>
              <a:t>el</a:t>
            </a:r>
            <a:r>
              <a:rPr lang="en-US" altLang="zh-TW" sz="2400" dirty="0">
                <a:solidFill>
                  <a:srgbClr val="FF0000"/>
                </a:solidFill>
              </a:rPr>
              <a:t>);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15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94BE9ED-669A-4246-98A2-1CE28A81A7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3E8DECD-DD7D-4A09-A1B3-5727D797A3E2}"/>
              </a:ext>
            </a:extLst>
          </p:cNvPr>
          <p:cNvSpPr txBox="1"/>
          <p:nvPr/>
        </p:nvSpPr>
        <p:spPr>
          <a:xfrm>
            <a:off x="3829615" y="1258432"/>
            <a:ext cx="58688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6600" b="1" dirty="0">
                <a:solidFill>
                  <a:schemeClr val="accent6">
                    <a:lumMod val="75000"/>
                  </a:schemeClr>
                </a:solidFill>
              </a:rPr>
              <a:t>實機演練</a:t>
            </a:r>
            <a:r>
              <a:rPr lang="en-US" altLang="zh-TW" sz="6600" b="1" dirty="0">
                <a:solidFill>
                  <a:schemeClr val="accent6">
                    <a:lumMod val="75000"/>
                  </a:schemeClr>
                </a:solidFill>
              </a:rPr>
              <a:t>:06</a:t>
            </a:r>
            <a:endParaRPr lang="zh-TW" altLang="en-US" sz="6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9ABA66-A703-4456-9621-EF28AC132BB2}"/>
              </a:ext>
            </a:extLst>
          </p:cNvPr>
          <p:cNvSpPr/>
          <p:nvPr/>
        </p:nvSpPr>
        <p:spPr>
          <a:xfrm>
            <a:off x="781615" y="1143753"/>
            <a:ext cx="6096000" cy="538609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TW" sz="800" dirty="0"/>
          </a:p>
          <a:p>
            <a:r>
              <a:rPr lang="en-US" altLang="zh-TW" sz="800" dirty="0"/>
              <a:t>&lt;!DOCTYPE html&gt;</a:t>
            </a:r>
          </a:p>
          <a:p>
            <a:r>
              <a:rPr lang="en-US" altLang="zh-TW" sz="800" dirty="0"/>
              <a:t>&lt;html&gt;</a:t>
            </a:r>
          </a:p>
          <a:p>
            <a:r>
              <a:rPr lang="en-US" altLang="zh-TW" sz="800" dirty="0"/>
              <a:t>&lt;head&gt;</a:t>
            </a:r>
          </a:p>
          <a:p>
            <a:r>
              <a:rPr lang="en-US" altLang="zh-TW" sz="800" dirty="0"/>
              <a:t>    &lt;meta charset="utf-8"&gt;</a:t>
            </a:r>
          </a:p>
          <a:p>
            <a:r>
              <a:rPr lang="en-US" altLang="zh-TW" sz="800" dirty="0"/>
              <a:t>    &lt;title&gt;Ch10-04&lt;/title&gt;</a:t>
            </a:r>
          </a:p>
          <a:p>
            <a:r>
              <a:rPr lang="en-US" altLang="zh-TW" sz="800" dirty="0"/>
              <a:t>    &lt;script&gt;</a:t>
            </a:r>
          </a:p>
          <a:p>
            <a:r>
              <a:rPr lang="en-US" altLang="zh-TW" sz="800" dirty="0"/>
              <a:t>    function </a:t>
            </a:r>
            <a:r>
              <a:rPr lang="en-US" altLang="zh-TW" sz="800" dirty="0" err="1"/>
              <a:t>addBook</a:t>
            </a:r>
            <a:r>
              <a:rPr lang="en-US" altLang="zh-TW" sz="800" dirty="0"/>
              <a:t>(){</a:t>
            </a:r>
          </a:p>
          <a:p>
            <a:r>
              <a:rPr lang="en-US" altLang="zh-TW" sz="800" dirty="0"/>
              <a:t>      var book= </a:t>
            </a:r>
            <a:r>
              <a:rPr lang="en-US" altLang="zh-TW" sz="800" dirty="0" err="1"/>
              <a:t>document.getElementById</a:t>
            </a:r>
            <a:r>
              <a:rPr lang="en-US" altLang="zh-TW" sz="800" dirty="0"/>
              <a:t>("book");</a:t>
            </a:r>
          </a:p>
          <a:p>
            <a:r>
              <a:rPr lang="en-US" altLang="zh-TW" sz="800" dirty="0"/>
              <a:t>      </a:t>
            </a:r>
          </a:p>
          <a:p>
            <a:r>
              <a:rPr lang="en-US" altLang="zh-TW" sz="800" dirty="0"/>
              <a:t>      if(</a:t>
            </a:r>
            <a:r>
              <a:rPr lang="en-US" altLang="zh-TW" sz="800" dirty="0" err="1"/>
              <a:t>book.value</a:t>
            </a:r>
            <a:r>
              <a:rPr lang="en-US" altLang="zh-TW" sz="800" dirty="0"/>
              <a:t> == "" ) { // </a:t>
            </a:r>
            <a:r>
              <a:rPr lang="zh-TW" altLang="en-US" sz="800" dirty="0"/>
              <a:t>若輸入欄位為空白</a:t>
            </a:r>
          </a:p>
          <a:p>
            <a:r>
              <a:rPr lang="zh-TW" altLang="en-US" sz="800" dirty="0"/>
              <a:t>        </a:t>
            </a:r>
            <a:r>
              <a:rPr lang="en-US" altLang="zh-TW" sz="800" dirty="0"/>
              <a:t>alert("</a:t>
            </a:r>
            <a:r>
              <a:rPr lang="zh-TW" altLang="en-US" sz="800" dirty="0"/>
              <a:t>請先輸入書名</a:t>
            </a:r>
            <a:r>
              <a:rPr lang="en-US" altLang="zh-TW" sz="800" dirty="0"/>
              <a:t>!");</a:t>
            </a:r>
          </a:p>
          <a:p>
            <a:r>
              <a:rPr lang="en-US" altLang="zh-TW" sz="800" dirty="0"/>
              <a:t>      } </a:t>
            </a:r>
          </a:p>
          <a:p>
            <a:r>
              <a:rPr lang="en-US" altLang="zh-TW" sz="800" dirty="0"/>
              <a:t>      else {                  // </a:t>
            </a:r>
            <a:r>
              <a:rPr lang="zh-TW" altLang="en-US" sz="800" dirty="0"/>
              <a:t>輸入欄位非空白 </a:t>
            </a:r>
          </a:p>
          <a:p>
            <a:r>
              <a:rPr lang="zh-TW" altLang="en-US" sz="800" dirty="0"/>
              <a:t>        </a:t>
            </a:r>
            <a:r>
              <a:rPr lang="en-US" altLang="zh-TW" sz="800" dirty="0"/>
              <a:t>// </a:t>
            </a:r>
            <a:r>
              <a:rPr lang="zh-TW" altLang="en-US" sz="800" dirty="0"/>
              <a:t>用輸入欄位的文字建立文字節點</a:t>
            </a:r>
          </a:p>
          <a:p>
            <a:r>
              <a:rPr lang="zh-TW" altLang="en-US" sz="800" dirty="0"/>
              <a:t>        </a:t>
            </a:r>
            <a:r>
              <a:rPr lang="en-US" altLang="zh-TW" sz="800" dirty="0"/>
              <a:t>var </a:t>
            </a:r>
            <a:r>
              <a:rPr lang="en-US" altLang="zh-TW" sz="800" dirty="0" err="1"/>
              <a:t>txtNode</a:t>
            </a:r>
            <a:r>
              <a:rPr lang="en-US" altLang="zh-TW" sz="800" dirty="0"/>
              <a:t> = </a:t>
            </a:r>
            <a:r>
              <a:rPr lang="en-US" altLang="zh-TW" sz="800" dirty="0" err="1"/>
              <a:t>document.createTextNode</a:t>
            </a:r>
            <a:r>
              <a:rPr lang="en-US" altLang="zh-TW" sz="800" dirty="0"/>
              <a:t>(</a:t>
            </a:r>
            <a:r>
              <a:rPr lang="en-US" altLang="zh-TW" sz="800" dirty="0" err="1"/>
              <a:t>book.value</a:t>
            </a:r>
            <a:r>
              <a:rPr lang="en-US" altLang="zh-TW" sz="800" dirty="0"/>
              <a:t>);</a:t>
            </a:r>
          </a:p>
          <a:p>
            <a:r>
              <a:rPr lang="en-US" altLang="zh-TW" sz="800" dirty="0"/>
              <a:t>        </a:t>
            </a:r>
          </a:p>
          <a:p>
            <a:r>
              <a:rPr lang="en-US" altLang="zh-TW" sz="800" dirty="0"/>
              <a:t>        // </a:t>
            </a:r>
            <a:r>
              <a:rPr lang="zh-TW" altLang="en-US" sz="800" dirty="0"/>
              <a:t>建立新的 </a:t>
            </a:r>
            <a:r>
              <a:rPr lang="en-US" altLang="zh-TW" sz="800" dirty="0"/>
              <a:t>li </a:t>
            </a:r>
            <a:r>
              <a:rPr lang="zh-TW" altLang="en-US" sz="800" dirty="0"/>
              <a:t>元素節點</a:t>
            </a:r>
          </a:p>
          <a:p>
            <a:r>
              <a:rPr lang="zh-TW" altLang="en-US" sz="800" dirty="0"/>
              <a:t>        </a:t>
            </a:r>
            <a:r>
              <a:rPr lang="en-US" altLang="zh-TW" sz="800" dirty="0"/>
              <a:t>var li = </a:t>
            </a:r>
            <a:r>
              <a:rPr lang="en-US" altLang="zh-TW" sz="800" dirty="0" err="1"/>
              <a:t>document.createElement</a:t>
            </a:r>
            <a:r>
              <a:rPr lang="en-US" altLang="zh-TW" sz="800" dirty="0"/>
              <a:t>("li");</a:t>
            </a:r>
          </a:p>
          <a:p>
            <a:r>
              <a:rPr lang="en-US" altLang="zh-TW" sz="800" dirty="0"/>
              <a:t>        // </a:t>
            </a:r>
            <a:r>
              <a:rPr lang="zh-TW" altLang="en-US" sz="800" dirty="0"/>
              <a:t>將文字節點加入成為 </a:t>
            </a:r>
            <a:r>
              <a:rPr lang="en-US" altLang="zh-TW" sz="800" dirty="0"/>
              <a:t>li </a:t>
            </a:r>
            <a:r>
              <a:rPr lang="zh-TW" altLang="en-US" sz="800" dirty="0"/>
              <a:t>元素的子節點</a:t>
            </a:r>
          </a:p>
          <a:p>
            <a:r>
              <a:rPr lang="zh-TW" altLang="en-US" sz="800" dirty="0"/>
              <a:t>        </a:t>
            </a:r>
            <a:r>
              <a:rPr lang="en-US" altLang="zh-TW" sz="800" dirty="0" err="1"/>
              <a:t>li.appendChild</a:t>
            </a:r>
            <a:r>
              <a:rPr lang="en-US" altLang="zh-TW" sz="800" dirty="0"/>
              <a:t>(</a:t>
            </a:r>
            <a:r>
              <a:rPr lang="en-US" altLang="zh-TW" sz="800" dirty="0" err="1"/>
              <a:t>txtNode</a:t>
            </a:r>
            <a:r>
              <a:rPr lang="en-US" altLang="zh-TW" sz="800" dirty="0"/>
              <a:t>);</a:t>
            </a:r>
          </a:p>
          <a:p>
            <a:r>
              <a:rPr lang="en-US" altLang="zh-TW" sz="800" dirty="0"/>
              <a:t>        </a:t>
            </a:r>
          </a:p>
          <a:p>
            <a:r>
              <a:rPr lang="en-US" altLang="zh-TW" sz="800" dirty="0"/>
              <a:t>        // </a:t>
            </a:r>
            <a:r>
              <a:rPr lang="zh-TW" altLang="en-US" sz="800" dirty="0"/>
              <a:t>取得 </a:t>
            </a:r>
            <a:r>
              <a:rPr lang="en-US" altLang="zh-TW" sz="800" dirty="0"/>
              <a:t>id="list" </a:t>
            </a:r>
            <a:r>
              <a:rPr lang="zh-TW" altLang="en-US" sz="800" dirty="0"/>
              <a:t>的清單元素節點</a:t>
            </a:r>
          </a:p>
          <a:p>
            <a:r>
              <a:rPr lang="zh-TW" altLang="en-US" sz="800" dirty="0"/>
              <a:t>        </a:t>
            </a:r>
            <a:r>
              <a:rPr lang="en-US" altLang="zh-TW" sz="800" dirty="0"/>
              <a:t>var list = </a:t>
            </a:r>
            <a:r>
              <a:rPr lang="en-US" altLang="zh-TW" sz="800" dirty="0" err="1"/>
              <a:t>document.getElementById</a:t>
            </a:r>
            <a:r>
              <a:rPr lang="en-US" altLang="zh-TW" sz="800" dirty="0"/>
              <a:t>("list");</a:t>
            </a:r>
          </a:p>
          <a:p>
            <a:r>
              <a:rPr lang="en-US" altLang="zh-TW" sz="800" dirty="0"/>
              <a:t>        // </a:t>
            </a:r>
            <a:r>
              <a:rPr lang="zh-TW" altLang="en-US" sz="800" dirty="0"/>
              <a:t>將 </a:t>
            </a:r>
            <a:r>
              <a:rPr lang="en-US" altLang="zh-TW" sz="800" dirty="0"/>
              <a:t>li </a:t>
            </a:r>
            <a:r>
              <a:rPr lang="zh-TW" altLang="en-US" sz="800" dirty="0"/>
              <a:t>元素節點加入成為清單元素的子節點</a:t>
            </a:r>
          </a:p>
          <a:p>
            <a:r>
              <a:rPr lang="zh-TW" altLang="en-US" sz="800" dirty="0"/>
              <a:t>        </a:t>
            </a:r>
            <a:r>
              <a:rPr lang="en-US" altLang="zh-TW" sz="800" dirty="0" err="1"/>
              <a:t>list.appendChild</a:t>
            </a:r>
            <a:r>
              <a:rPr lang="en-US" altLang="zh-TW" sz="800" dirty="0"/>
              <a:t>(li);</a:t>
            </a:r>
          </a:p>
          <a:p>
            <a:r>
              <a:rPr lang="en-US" altLang="zh-TW" sz="800" dirty="0"/>
              <a:t>        </a:t>
            </a:r>
          </a:p>
          <a:p>
            <a:r>
              <a:rPr lang="en-US" altLang="zh-TW" sz="800" dirty="0"/>
              <a:t>        // </a:t>
            </a:r>
            <a:r>
              <a:rPr lang="zh-TW" altLang="en-US" sz="800" dirty="0"/>
              <a:t>將目前清單子元素的總數顯示在網頁上</a:t>
            </a:r>
          </a:p>
          <a:p>
            <a:r>
              <a:rPr lang="zh-TW" altLang="en-US" sz="800" dirty="0"/>
              <a:t>        </a:t>
            </a:r>
            <a:r>
              <a:rPr lang="en-US" altLang="zh-TW" sz="800" dirty="0" err="1"/>
              <a:t>document.getElementById</a:t>
            </a:r>
            <a:r>
              <a:rPr lang="en-US" altLang="zh-TW" sz="800" dirty="0"/>
              <a:t>("</a:t>
            </a:r>
            <a:r>
              <a:rPr lang="en-US" altLang="zh-TW" sz="800" dirty="0" err="1"/>
              <a:t>bookCount</a:t>
            </a:r>
            <a:r>
              <a:rPr lang="en-US" altLang="zh-TW" sz="800" dirty="0"/>
              <a:t>").</a:t>
            </a:r>
            <a:r>
              <a:rPr lang="en-US" altLang="zh-TW" sz="800" dirty="0" err="1"/>
              <a:t>innerText</a:t>
            </a:r>
            <a:r>
              <a:rPr lang="en-US" altLang="zh-TW" sz="800" dirty="0"/>
              <a:t> = </a:t>
            </a:r>
          </a:p>
          <a:p>
            <a:r>
              <a:rPr lang="en-US" altLang="zh-TW" sz="800" dirty="0"/>
              <a:t>          </a:t>
            </a:r>
            <a:r>
              <a:rPr lang="en-US" altLang="zh-TW" sz="800" dirty="0" err="1"/>
              <a:t>list.children.length</a:t>
            </a:r>
            <a:r>
              <a:rPr lang="en-US" altLang="zh-TW" sz="800" dirty="0"/>
              <a:t>;</a:t>
            </a:r>
          </a:p>
          <a:p>
            <a:r>
              <a:rPr lang="en-US" altLang="zh-TW" sz="800" dirty="0"/>
              <a:t>      }</a:t>
            </a:r>
          </a:p>
          <a:p>
            <a:r>
              <a:rPr lang="en-US" altLang="zh-TW" sz="800" dirty="0"/>
              <a:t>    }</a:t>
            </a:r>
          </a:p>
          <a:p>
            <a:r>
              <a:rPr lang="en-US" altLang="zh-TW" sz="800" dirty="0"/>
              <a:t>    &lt;/script&gt;</a:t>
            </a:r>
          </a:p>
          <a:p>
            <a:r>
              <a:rPr lang="en-US" altLang="zh-TW" sz="800" dirty="0"/>
              <a:t>&lt;/head&gt;</a:t>
            </a:r>
          </a:p>
          <a:p>
            <a:r>
              <a:rPr lang="en-US" altLang="zh-TW" sz="800" dirty="0"/>
              <a:t>&lt;body&gt;</a:t>
            </a:r>
          </a:p>
          <a:p>
            <a:r>
              <a:rPr lang="en-US" altLang="zh-TW" sz="800" dirty="0"/>
              <a:t>    &lt;p&gt;</a:t>
            </a:r>
          </a:p>
          <a:p>
            <a:r>
              <a:rPr lang="en-US" altLang="zh-TW" sz="800" dirty="0"/>
              <a:t>      </a:t>
            </a:r>
            <a:r>
              <a:rPr lang="zh-TW" altLang="en-US" sz="800" dirty="0"/>
              <a:t>書名：</a:t>
            </a:r>
            <a:r>
              <a:rPr lang="en-US" altLang="zh-TW" sz="800" dirty="0"/>
              <a:t>&lt;input id="book" type="text"&gt;</a:t>
            </a:r>
          </a:p>
          <a:p>
            <a:r>
              <a:rPr lang="en-US" altLang="zh-TW" sz="800" dirty="0"/>
              <a:t>      &lt;button onclick="</a:t>
            </a:r>
            <a:r>
              <a:rPr lang="en-US" altLang="zh-TW" sz="800" dirty="0" err="1"/>
              <a:t>addBook</a:t>
            </a:r>
            <a:r>
              <a:rPr lang="en-US" altLang="zh-TW" sz="800" dirty="0"/>
              <a:t>()"&gt;</a:t>
            </a:r>
            <a:r>
              <a:rPr lang="zh-TW" altLang="en-US" sz="800" dirty="0"/>
              <a:t>新增</a:t>
            </a:r>
            <a:r>
              <a:rPr lang="en-US" altLang="zh-TW" sz="800" dirty="0"/>
              <a:t>&lt;/button&gt;</a:t>
            </a:r>
          </a:p>
          <a:p>
            <a:r>
              <a:rPr lang="en-US" altLang="zh-TW" sz="800" dirty="0"/>
              <a:t>    &lt;/p&gt;</a:t>
            </a:r>
          </a:p>
          <a:p>
            <a:r>
              <a:rPr lang="en-US" altLang="zh-TW" sz="800" dirty="0"/>
              <a:t>    &lt;p&gt;</a:t>
            </a:r>
            <a:r>
              <a:rPr lang="zh-TW" altLang="en-US" sz="800" dirty="0"/>
              <a:t>現在有</a:t>
            </a:r>
            <a:r>
              <a:rPr lang="en-US" altLang="zh-TW" sz="800" dirty="0"/>
              <a:t>&lt;span id="</a:t>
            </a:r>
            <a:r>
              <a:rPr lang="en-US" altLang="zh-TW" sz="800" dirty="0" err="1"/>
              <a:t>bookCount</a:t>
            </a:r>
            <a:r>
              <a:rPr lang="en-US" altLang="zh-TW" sz="800" dirty="0"/>
              <a:t>"&gt;0&lt;/span&gt;</a:t>
            </a:r>
            <a:r>
              <a:rPr lang="zh-TW" altLang="en-US" sz="800" dirty="0"/>
              <a:t>本書</a:t>
            </a:r>
            <a:r>
              <a:rPr lang="en-US" altLang="zh-TW" sz="800" dirty="0"/>
              <a:t>&lt;/p&gt;</a:t>
            </a:r>
          </a:p>
          <a:p>
            <a:r>
              <a:rPr lang="en-US" altLang="zh-TW" sz="800" dirty="0"/>
              <a:t>    &lt;ul id="list"&gt;&lt;/ul&gt;</a:t>
            </a:r>
          </a:p>
          <a:p>
            <a:r>
              <a:rPr lang="en-US" altLang="zh-TW" sz="800" dirty="0"/>
              <a:t>&lt;/body&gt;</a:t>
            </a:r>
          </a:p>
          <a:p>
            <a:r>
              <a:rPr lang="en-US" altLang="zh-TW" sz="800" dirty="0"/>
              <a:t>&lt;/html&gt;</a:t>
            </a:r>
            <a:endParaRPr lang="zh-TW" altLang="en-US" sz="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16A56A-1AF6-4C2A-8EB1-E58DBBE6B5DE}"/>
              </a:ext>
            </a:extLst>
          </p:cNvPr>
          <p:cNvSpPr/>
          <p:nvPr/>
        </p:nvSpPr>
        <p:spPr>
          <a:xfrm>
            <a:off x="654518" y="1058779"/>
            <a:ext cx="3089709" cy="5471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99527DC5-8A83-4BEE-B107-CE850FBBF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40" y="2824105"/>
            <a:ext cx="11824860" cy="2611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等腰三角形 6">
            <a:extLst>
              <a:ext uri="{FF2B5EF4-FFF2-40B4-BE49-F238E27FC236}">
                <a16:creationId xmlns:a16="http://schemas.microsoft.com/office/drawing/2014/main" id="{C3E282E5-94BB-458C-B96A-2455D91010B1}"/>
              </a:ext>
            </a:extLst>
          </p:cNvPr>
          <p:cNvSpPr/>
          <p:nvPr/>
        </p:nvSpPr>
        <p:spPr>
          <a:xfrm>
            <a:off x="3465095" y="1143753"/>
            <a:ext cx="125128" cy="27876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C92050-2974-4352-81D0-59489E46EDCD}"/>
              </a:ext>
            </a:extLst>
          </p:cNvPr>
          <p:cNvSpPr/>
          <p:nvPr/>
        </p:nvSpPr>
        <p:spPr>
          <a:xfrm>
            <a:off x="9338699" y="90032"/>
            <a:ext cx="2691763" cy="7403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en-US" altLang="zh-TW" sz="3200" dirty="0">
                <a:solidFill>
                  <a:srgbClr val="FF0000"/>
                </a:solidFill>
              </a:rPr>
              <a:t>9. </a:t>
            </a:r>
            <a:r>
              <a:rPr lang="zh-TW" altLang="en-US" sz="3200" dirty="0">
                <a:solidFill>
                  <a:srgbClr val="FF0000"/>
                </a:solidFill>
              </a:rPr>
              <a:t>建立新元素</a:t>
            </a:r>
          </a:p>
        </p:txBody>
      </p:sp>
    </p:spTree>
    <p:extLst>
      <p:ext uri="{BB962C8B-B14F-4D97-AF65-F5344CB8AC3E}">
        <p14:creationId xmlns:p14="http://schemas.microsoft.com/office/powerpoint/2010/main" val="341454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78F4CA2-6FD1-40DC-8D09-5794C7C174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2456CA6-88BD-4470-AD0E-9945F7155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38" y="585947"/>
            <a:ext cx="6157608" cy="682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jQuery 遍歷方法</a:t>
            </a:r>
            <a:r>
              <a:rPr kumimoji="0" lang="en-US" altLang="zh-TW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kumimoji="0" lang="zh-TW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一</a:t>
            </a:r>
            <a:r>
              <a:rPr kumimoji="0" lang="en-US" altLang="zh-TW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kumimoji="0" lang="zh-TW" altLang="zh-TW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24EDB43-E0F8-4E18-BA12-33DE2E097AEF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388420"/>
          <a:ext cx="10476689" cy="5333055"/>
        </p:xfrm>
        <a:graphic>
          <a:graphicData uri="http://schemas.openxmlformats.org/drawingml/2006/table">
            <a:tbl>
              <a:tblPr>
                <a:tableStyleId>{7D4EC54D-0DAB-4541-8A27-4D770AF52201}</a:tableStyleId>
              </a:tblPr>
              <a:tblGrid>
                <a:gridCol w="701709">
                  <a:extLst>
                    <a:ext uri="{9D8B030D-6E8A-4147-A177-3AD203B41FA5}">
                      <a16:colId xmlns:a16="http://schemas.microsoft.com/office/drawing/2014/main" val="1200529182"/>
                    </a:ext>
                  </a:extLst>
                </a:gridCol>
                <a:gridCol w="1142318">
                  <a:extLst>
                    <a:ext uri="{9D8B030D-6E8A-4147-A177-3AD203B41FA5}">
                      <a16:colId xmlns:a16="http://schemas.microsoft.com/office/drawing/2014/main" val="2919006581"/>
                    </a:ext>
                  </a:extLst>
                </a:gridCol>
                <a:gridCol w="8632662">
                  <a:extLst>
                    <a:ext uri="{9D8B030D-6E8A-4147-A177-3AD203B41FA5}">
                      <a16:colId xmlns:a16="http://schemas.microsoft.com/office/drawing/2014/main" val="260002592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序號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方法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描述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735852"/>
                  </a:ext>
                </a:extLst>
              </a:tr>
              <a:tr h="256746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 dirty="0">
                          <a:effectLst/>
                        </a:rPr>
                        <a:t>1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</a:rPr>
                        <a:t>add()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effectLst/>
                        </a:rPr>
                        <a:t>將元素添加到匹配的元素集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65169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2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addBack()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</a:rPr>
                        <a:t>Adds the previous set of elements to the current set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488011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3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andSelf()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effectLst/>
                        </a:rPr>
                        <a:t>將上一組元素添加到當前集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67201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solidFill>
                            <a:srgbClr val="FF0000"/>
                          </a:solidFill>
                          <a:effectLst/>
                        </a:rPr>
                        <a:t>children()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返回所選元素的所有直接子元素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77181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closest()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effectLst/>
                        </a:rPr>
                        <a:t>返回所選元素的第一個上級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55997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6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contents()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傳回所選取元素的所有直接子項（包括文字與註釋節點）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88618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b="0" u="none" strike="noStrike">
                          <a:solidFill>
                            <a:srgbClr val="FF0000"/>
                          </a:solidFill>
                          <a:effectLst/>
                        </a:rPr>
                        <a:t>7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b="0" u="none" strike="noStrike">
                          <a:solidFill>
                            <a:srgbClr val="FF0000"/>
                          </a:solidFill>
                          <a:effectLst/>
                        </a:rPr>
                        <a:t>each()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zh-TW" altLang="zh-TW" sz="16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為每個匹配的元素執行一個函數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54572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8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end()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effectLst/>
                        </a:rPr>
                        <a:t>為每個匹配的元素執行一個函數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53835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solidFill>
                            <a:srgbClr val="FF0000"/>
                          </a:solidFill>
                          <a:effectLst/>
                        </a:rPr>
                        <a:t>9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solidFill>
                            <a:srgbClr val="FF0000"/>
                          </a:solidFill>
                          <a:effectLst/>
                        </a:rPr>
                        <a:t>eq()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返回具有所選元素的特定索引號的元素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67949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solidFill>
                            <a:srgbClr val="FF0000"/>
                          </a:solidFill>
                          <a:effectLst/>
                        </a:rPr>
                        <a:t>filter()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將匹配的元素集減少到與選擇器匹配或通過函數測試的元素集</a:t>
                      </a:r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35372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solidFill>
                            <a:srgbClr val="FF0000"/>
                          </a:solidFill>
                          <a:effectLst/>
                        </a:rPr>
                        <a:t>11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solidFill>
                            <a:srgbClr val="FF0000"/>
                          </a:solidFill>
                          <a:effectLst/>
                        </a:rPr>
                        <a:t>find()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zh-TW" altLang="zh-TW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返回所選元素的後代元素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30350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solidFill>
                            <a:srgbClr val="FF0000"/>
                          </a:solidFill>
                          <a:effectLst/>
                        </a:rPr>
                        <a:t>12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solidFill>
                            <a:srgbClr val="FF0000"/>
                          </a:solidFill>
                          <a:effectLst/>
                        </a:rPr>
                        <a:t>first()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返回所選取元素的第一個元素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07587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solidFill>
                            <a:srgbClr val="FF0000"/>
                          </a:solidFill>
                          <a:effectLst/>
                        </a:rPr>
                        <a:t>13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solidFill>
                            <a:srgbClr val="FF0000"/>
                          </a:solidFill>
                          <a:effectLst/>
                        </a:rPr>
                        <a:t>has()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返回包含一個或多個元素的所有元素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997404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14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</a:rPr>
                        <a:t>is()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effectLst/>
                        </a:rPr>
                        <a:t>根據 </a:t>
                      </a:r>
                      <a:r>
                        <a:rPr lang="en-US" sz="1600" u="none" strike="noStrike" dirty="0">
                          <a:effectLst/>
                        </a:rPr>
                        <a:t>selector/element/jQuery </a:t>
                      </a:r>
                      <a:r>
                        <a:rPr lang="zh-TW" altLang="en-US" sz="1600" u="none" strike="noStrike" dirty="0">
                          <a:effectLst/>
                        </a:rPr>
                        <a:t>物件檢查匹配的元素集，如果這些元素中至少有一個與給定參數匹配，則返回 </a:t>
                      </a:r>
                      <a:r>
                        <a:rPr lang="en-US" sz="1600" u="none" strike="noStrike" dirty="0">
                          <a:effectLst/>
                        </a:rPr>
                        <a:t>true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995378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solidFill>
                            <a:srgbClr val="FF0000"/>
                          </a:solidFill>
                          <a:effectLst/>
                        </a:rPr>
                        <a:t>15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solidFill>
                            <a:srgbClr val="FF0000"/>
                          </a:solidFill>
                          <a:effectLst/>
                        </a:rPr>
                        <a:t>last()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返回所選元素的最後一個元素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76293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357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106ED3-FAEC-47C2-BB68-A1738D633B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F9C1CBE-C444-4BBB-B836-81479CB47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815024"/>
              </p:ext>
            </p:extLst>
          </p:nvPr>
        </p:nvGraphicFramePr>
        <p:xfrm>
          <a:off x="797668" y="1268278"/>
          <a:ext cx="10126493" cy="4539114"/>
        </p:xfrm>
        <a:graphic>
          <a:graphicData uri="http://schemas.openxmlformats.org/drawingml/2006/table">
            <a:tbl>
              <a:tblPr>
                <a:tableStyleId>{7D4EC54D-0DAB-4541-8A27-4D770AF52201}</a:tableStyleId>
              </a:tblPr>
              <a:tblGrid>
                <a:gridCol w="678254">
                  <a:extLst>
                    <a:ext uri="{9D8B030D-6E8A-4147-A177-3AD203B41FA5}">
                      <a16:colId xmlns:a16="http://schemas.microsoft.com/office/drawing/2014/main" val="572681277"/>
                    </a:ext>
                  </a:extLst>
                </a:gridCol>
                <a:gridCol w="1335372">
                  <a:extLst>
                    <a:ext uri="{9D8B030D-6E8A-4147-A177-3AD203B41FA5}">
                      <a16:colId xmlns:a16="http://schemas.microsoft.com/office/drawing/2014/main" val="3831610719"/>
                    </a:ext>
                  </a:extLst>
                </a:gridCol>
                <a:gridCol w="8112867">
                  <a:extLst>
                    <a:ext uri="{9D8B030D-6E8A-4147-A177-3AD203B41FA5}">
                      <a16:colId xmlns:a16="http://schemas.microsoft.com/office/drawing/2014/main" val="1528351923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600" u="none" strike="noStrike">
                          <a:effectLst/>
                        </a:rPr>
                        <a:t>序號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>
                          <a:effectLst/>
                        </a:rPr>
                        <a:t>方法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600" u="none" strike="noStrike">
                          <a:effectLst/>
                        </a:rPr>
                        <a:t>描述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225494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 dirty="0">
                          <a:effectLst/>
                        </a:rPr>
                        <a:t>16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map()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effectLst/>
                        </a:rPr>
                        <a:t>通過函數傳遞匹配集中的每個元素，從而生成包含返回值的新 </a:t>
                      </a:r>
                      <a:r>
                        <a:rPr lang="en-US" altLang="zh-TW" sz="1600" u="none" strike="noStrike" dirty="0">
                          <a:effectLst/>
                        </a:rPr>
                        <a:t>jQuery </a:t>
                      </a:r>
                      <a:r>
                        <a:rPr lang="zh-TW" altLang="en-US" sz="1600" u="none" strike="noStrike" dirty="0">
                          <a:effectLst/>
                        </a:rPr>
                        <a:t>物件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640806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17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next()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effectLst/>
                        </a:rPr>
                        <a:t>返回所選元素的下一個同級元素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04086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18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nextAll()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effectLst/>
                        </a:rPr>
                        <a:t>返回所選元素的所有下一個同級元素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17541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19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nextUntil()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effectLst/>
                        </a:rPr>
                        <a:t>返回兩個給定參數之間的所有下一個同級元素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974476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20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not()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>
                          <a:effectLst/>
                        </a:rPr>
                        <a:t>返回與特定條件不匹配的元素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53376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21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offsetParent()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effectLst/>
                        </a:rPr>
                        <a:t>返回第一個定位的父元素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342404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solidFill>
                            <a:srgbClr val="FF0000"/>
                          </a:solidFill>
                          <a:effectLst/>
                        </a:rPr>
                        <a:t>22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parent()</a:t>
                      </a:r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返回所選元素的直接父元素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64865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solidFill>
                            <a:srgbClr val="FF0000"/>
                          </a:solidFill>
                          <a:effectLst/>
                        </a:rPr>
                        <a:t>23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parents()</a:t>
                      </a:r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返回所選元素的所有祖先元素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94157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24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parentsUntil()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effectLst/>
                        </a:rPr>
                        <a:t>返回兩個給定參數之間的所有祖先元素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36283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25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prev()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effectLst/>
                        </a:rPr>
                        <a:t>返回所選元素的上一個同級元素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7843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26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prevAll()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effectLst/>
                        </a:rPr>
                        <a:t>返回所選元素的所有先前同級元素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854456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27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prevUntil()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effectLst/>
                        </a:rPr>
                        <a:t>返回兩個給定參數之間的所有先前同級元素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57918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28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siblings()</a:t>
                      </a:r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返回所選元素的所有同級元素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795379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600" u="none" strike="noStrike">
                          <a:effectLst/>
                        </a:rPr>
                        <a:t>29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slice()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altLang="en-US" sz="1600" u="none" strike="noStrike" dirty="0">
                          <a:effectLst/>
                        </a:rPr>
                        <a:t>將匹配元素集減少為由索引範圍指定的子集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3635667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23E8128-A001-4EA2-805B-91AF5C1C0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968" y="400308"/>
            <a:ext cx="6157608" cy="682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TW" altLang="zh-TW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jQuery 遍歷方法</a:t>
            </a:r>
            <a:r>
              <a:rPr lang="en-US" altLang="zh-TW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二</a:t>
            </a:r>
            <a:r>
              <a:rPr lang="en-US" altLang="zh-TW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zh-TW" altLang="zh-TW" sz="36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41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462A948-4240-44FB-B6A7-CD286B5B14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EE2FB6A-36E1-49F4-B898-730B65CE8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186321"/>
              </p:ext>
            </p:extLst>
          </p:nvPr>
        </p:nvGraphicFramePr>
        <p:xfrm>
          <a:off x="317771" y="835397"/>
          <a:ext cx="11264629" cy="5886078"/>
        </p:xfrm>
        <a:graphic>
          <a:graphicData uri="http://schemas.openxmlformats.org/drawingml/2006/table">
            <a:tbl>
              <a:tblPr>
                <a:tableStyleId>{7D4EC54D-0DAB-4541-8A27-4D770AF52201}</a:tableStyleId>
              </a:tblPr>
              <a:tblGrid>
                <a:gridCol w="1387906">
                  <a:extLst>
                    <a:ext uri="{9D8B030D-6E8A-4147-A177-3AD203B41FA5}">
                      <a16:colId xmlns:a16="http://schemas.microsoft.com/office/drawing/2014/main" val="3591002089"/>
                    </a:ext>
                  </a:extLst>
                </a:gridCol>
                <a:gridCol w="1585362">
                  <a:extLst>
                    <a:ext uri="{9D8B030D-6E8A-4147-A177-3AD203B41FA5}">
                      <a16:colId xmlns:a16="http://schemas.microsoft.com/office/drawing/2014/main" val="2536457916"/>
                    </a:ext>
                  </a:extLst>
                </a:gridCol>
                <a:gridCol w="8291361">
                  <a:extLst>
                    <a:ext uri="{9D8B030D-6E8A-4147-A177-3AD203B41FA5}">
                      <a16:colId xmlns:a16="http://schemas.microsoft.com/office/drawing/2014/main" val="381488994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序號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方法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描述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870214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solidFill>
                            <a:srgbClr val="FF0000"/>
                          </a:solidFill>
                          <a:effectLst/>
                        </a:rPr>
                        <a:t>30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solidFill>
                            <a:srgbClr val="FF0000"/>
                          </a:solidFill>
                          <a:effectLst/>
                        </a:rPr>
                        <a:t>$.ajax()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執行異步 </a:t>
                      </a:r>
                      <a:r>
                        <a:rPr lang="en-US" altLang="zh-TW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AJAX </a:t>
                      </a: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請求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1538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31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$.ajaxPrefilter()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在發送每個請求之前以及 </a:t>
                      </a:r>
                      <a:r>
                        <a:rPr lang="en-US" altLang="zh-TW" sz="1600" u="none" strike="noStrike">
                          <a:effectLst/>
                        </a:rPr>
                        <a:t>$.ajax</a:t>
                      </a:r>
                      <a:r>
                        <a:rPr lang="zh-TW" altLang="en-US" sz="1600" u="none" strike="noStrike">
                          <a:effectLst/>
                        </a:rPr>
                        <a:t>（） 處理它們之前，處理自定義 </a:t>
                      </a:r>
                      <a:r>
                        <a:rPr lang="en-US" altLang="zh-TW" sz="1600" u="none" strike="noStrike">
                          <a:effectLst/>
                        </a:rPr>
                        <a:t>Ajax </a:t>
                      </a:r>
                      <a:r>
                        <a:rPr lang="zh-TW" altLang="en-US" sz="1600" u="none" strike="noStrike">
                          <a:effectLst/>
                        </a:rPr>
                        <a:t>選項或修改現有選項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289906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32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$.ajaxSetup()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設置將來 </a:t>
                      </a:r>
                      <a:r>
                        <a:rPr lang="en-US" altLang="zh-TW" sz="1600" u="none" strike="noStrike">
                          <a:effectLst/>
                        </a:rPr>
                        <a:t>AJAX </a:t>
                      </a:r>
                      <a:r>
                        <a:rPr lang="zh-TW" altLang="en-US" sz="1600" u="none" strike="noStrike">
                          <a:effectLst/>
                        </a:rPr>
                        <a:t>請求的預設值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874055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33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$.ajaxTransport()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創建一個處理 </a:t>
                      </a:r>
                      <a:r>
                        <a:rPr lang="en-US" altLang="zh-TW" sz="1600" u="none" strike="noStrike">
                          <a:effectLst/>
                        </a:rPr>
                        <a:t>Ajax </a:t>
                      </a:r>
                      <a:r>
                        <a:rPr lang="zh-TW" altLang="en-US" sz="1600" u="none" strike="noStrike">
                          <a:effectLst/>
                        </a:rPr>
                        <a:t>資料實際傳輸的物件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726042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34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$.get()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Loads data from a server using an AJAX HTTP GET request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11787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35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$.getJSON()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使用 </a:t>
                      </a:r>
                      <a:r>
                        <a:rPr lang="en-US" altLang="zh-TW" sz="1600" u="none" strike="noStrike">
                          <a:effectLst/>
                        </a:rPr>
                        <a:t>AJAX HTTP GET </a:t>
                      </a:r>
                      <a:r>
                        <a:rPr lang="zh-TW" altLang="en-US" sz="1600" u="none" strike="noStrike">
                          <a:effectLst/>
                        </a:rPr>
                        <a:t>請求從伺服器載入資料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54701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36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$.getScript()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使用 </a:t>
                      </a:r>
                      <a:r>
                        <a:rPr lang="en-US" sz="1600" u="none" strike="noStrike">
                          <a:effectLst/>
                        </a:rPr>
                        <a:t>AJAX HTTP GET </a:t>
                      </a:r>
                      <a:r>
                        <a:rPr lang="zh-TW" altLang="en-US" sz="1600" u="none" strike="noStrike">
                          <a:effectLst/>
                        </a:rPr>
                        <a:t>請求從伺服器載入（和執行）</a:t>
                      </a:r>
                      <a:r>
                        <a:rPr lang="en-US" sz="1600" u="none" strike="noStrike">
                          <a:effectLst/>
                        </a:rPr>
                        <a:t>JavaScript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877152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37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$.param()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建立陣列或物件的序列化表示形式（可用作 </a:t>
                      </a:r>
                      <a:r>
                        <a:rPr lang="en-US" altLang="zh-TW" sz="1600" u="none" strike="noStrike">
                          <a:effectLst/>
                        </a:rPr>
                        <a:t>AJAX </a:t>
                      </a:r>
                      <a:r>
                        <a:rPr lang="zh-TW" altLang="en-US" sz="1600" u="none" strike="noStrike">
                          <a:effectLst/>
                        </a:rPr>
                        <a:t>請求的網址查詢字串）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8045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38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$.post()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使用 </a:t>
                      </a:r>
                      <a:r>
                        <a:rPr lang="en-US" sz="1600" u="none" strike="noStrike">
                          <a:effectLst/>
                        </a:rPr>
                        <a:t>AJAX HTTP POST </a:t>
                      </a:r>
                      <a:r>
                        <a:rPr lang="zh-TW" altLang="en-US" sz="1600" u="none" strike="noStrike">
                          <a:effectLst/>
                        </a:rPr>
                        <a:t>請求從伺服器載入資料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789649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39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ajaxComplete()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指定在 </a:t>
                      </a:r>
                      <a:r>
                        <a:rPr lang="en-US" altLang="zh-TW" sz="1600" u="none" strike="noStrike">
                          <a:effectLst/>
                        </a:rPr>
                        <a:t>AJAX </a:t>
                      </a:r>
                      <a:r>
                        <a:rPr lang="zh-TW" altLang="en-US" sz="1600" u="none" strike="noStrike">
                          <a:effectLst/>
                        </a:rPr>
                        <a:t>請求完成時要執行的函數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681690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ajaxError()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指定在 </a:t>
                      </a:r>
                      <a:r>
                        <a:rPr lang="en-US" altLang="zh-TW" sz="1600" u="none" strike="noStrike">
                          <a:effectLst/>
                        </a:rPr>
                        <a:t>AJAX </a:t>
                      </a:r>
                      <a:r>
                        <a:rPr lang="zh-TW" altLang="en-US" sz="1600" u="none" strike="noStrike">
                          <a:effectLst/>
                        </a:rPr>
                        <a:t>請求完成但出現錯誤時要執行的函數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370608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ajaxSend()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指定在發送 </a:t>
                      </a:r>
                      <a:r>
                        <a:rPr lang="en-US" altLang="zh-TW" sz="1600" u="none" strike="noStrike">
                          <a:effectLst/>
                        </a:rPr>
                        <a:t>AJAX </a:t>
                      </a:r>
                      <a:r>
                        <a:rPr lang="zh-TW" altLang="en-US" sz="1600" u="none" strike="noStrike">
                          <a:effectLst/>
                        </a:rPr>
                        <a:t>請求之前要執行的函數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711821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42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ajaxStart()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指定在第一個</a:t>
                      </a:r>
                      <a:r>
                        <a:rPr lang="en-US" altLang="zh-TW" sz="1600" u="none" strike="noStrike">
                          <a:effectLst/>
                        </a:rPr>
                        <a:t>AJAX</a:t>
                      </a:r>
                      <a:r>
                        <a:rPr lang="zh-TW" altLang="en-US" sz="1600" u="none" strike="noStrike">
                          <a:effectLst/>
                        </a:rPr>
                        <a:t>請求開始時要運行的函數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52047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43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ajaxStop()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指定在所有 </a:t>
                      </a:r>
                      <a:r>
                        <a:rPr lang="en-US" altLang="zh-TW" sz="1600" u="none" strike="noStrike">
                          <a:effectLst/>
                        </a:rPr>
                        <a:t>AJAX </a:t>
                      </a:r>
                      <a:r>
                        <a:rPr lang="zh-TW" altLang="en-US" sz="1600" u="none" strike="noStrike">
                          <a:effectLst/>
                        </a:rPr>
                        <a:t>請求完成後要執行的函數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977502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ajaxSuccess()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指定在 </a:t>
                      </a:r>
                      <a:r>
                        <a:rPr lang="en-US" altLang="zh-TW" sz="1600" u="none" strike="noStrike">
                          <a:effectLst/>
                        </a:rPr>
                        <a:t>AJAX </a:t>
                      </a:r>
                      <a:r>
                        <a:rPr lang="zh-TW" altLang="en-US" sz="1600" u="none" strike="noStrike">
                          <a:effectLst/>
                        </a:rPr>
                        <a:t>請求成功完成時要執行的函數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08121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load()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從伺服器載入資料並將返回的數據放入所選元素中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15245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46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serialize()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將一組表單元素編碼為字串以供提交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020912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47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serializeArray()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effectLst/>
                        </a:rPr>
                        <a:t>將一組表單元素編碼為名稱和值的陣列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4554267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647D5D4-6E7B-4BAF-9D79-3088E12A9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70" y="136525"/>
            <a:ext cx="6157608" cy="682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TW" altLang="zh-TW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jQuery 遍歷方法</a:t>
            </a:r>
            <a:r>
              <a:rPr lang="en-US" altLang="zh-TW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三</a:t>
            </a:r>
            <a:r>
              <a:rPr lang="en-US" altLang="zh-TW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zh-TW" altLang="zh-TW" sz="36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422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99951DB-DE91-4330-862B-E073C92F6C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6CFD464-DD83-43E0-8F2E-B2B7A0ED1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545793"/>
              </p:ext>
            </p:extLst>
          </p:nvPr>
        </p:nvGraphicFramePr>
        <p:xfrm>
          <a:off x="583659" y="1065462"/>
          <a:ext cx="10710153" cy="4967295"/>
        </p:xfrm>
        <a:graphic>
          <a:graphicData uri="http://schemas.openxmlformats.org/drawingml/2006/table">
            <a:tbl>
              <a:tblPr>
                <a:tableStyleId>{7D4EC54D-0DAB-4541-8A27-4D770AF52201}</a:tableStyleId>
              </a:tblPr>
              <a:tblGrid>
                <a:gridCol w="1319588">
                  <a:extLst>
                    <a:ext uri="{9D8B030D-6E8A-4147-A177-3AD203B41FA5}">
                      <a16:colId xmlns:a16="http://schemas.microsoft.com/office/drawing/2014/main" val="2449012779"/>
                    </a:ext>
                  </a:extLst>
                </a:gridCol>
                <a:gridCol w="1880813">
                  <a:extLst>
                    <a:ext uri="{9D8B030D-6E8A-4147-A177-3AD203B41FA5}">
                      <a16:colId xmlns:a16="http://schemas.microsoft.com/office/drawing/2014/main" val="2381739045"/>
                    </a:ext>
                  </a:extLst>
                </a:gridCol>
                <a:gridCol w="7509752">
                  <a:extLst>
                    <a:ext uri="{9D8B030D-6E8A-4147-A177-3AD203B41FA5}">
                      <a16:colId xmlns:a16="http://schemas.microsoft.com/office/drawing/2014/main" val="1720871446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序號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方法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描述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718604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48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data()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將數據附加到選定元素或從選定元素獲取數據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66437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49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each()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為每個匹配的元素執行一個函數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20929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50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get()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獲取選擇器匹配的 </a:t>
                      </a:r>
                      <a:r>
                        <a:rPr lang="en-US" altLang="zh-TW" sz="1600" u="none" strike="noStrike">
                          <a:effectLst/>
                        </a:rPr>
                        <a:t>DOM </a:t>
                      </a:r>
                      <a:r>
                        <a:rPr lang="zh-TW" altLang="en-US" sz="1600" u="none" strike="noStrike">
                          <a:effectLst/>
                        </a:rPr>
                        <a:t>元素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03537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solidFill>
                            <a:srgbClr val="FF0000"/>
                          </a:solidFill>
                          <a:effectLst/>
                        </a:rPr>
                        <a:t>51</a:t>
                      </a:r>
                      <a:endParaRPr lang="en-US" altLang="zh-TW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solidFill>
                            <a:srgbClr val="FF0000"/>
                          </a:solidFill>
                          <a:effectLst/>
                        </a:rPr>
                        <a:t>index()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從匹配的元素中搜索給定元素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64020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52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$.noConflict()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釋放 </a:t>
                      </a:r>
                      <a:r>
                        <a:rPr lang="en-US" altLang="zh-TW" sz="1600" u="none" strike="noStrike">
                          <a:effectLst/>
                        </a:rPr>
                        <a:t>jQuery </a:t>
                      </a:r>
                      <a:r>
                        <a:rPr lang="zh-TW" altLang="en-US" sz="1600" u="none" strike="noStrike">
                          <a:effectLst/>
                        </a:rPr>
                        <a:t>對 </a:t>
                      </a:r>
                      <a:r>
                        <a:rPr lang="en-US" altLang="zh-TW" sz="1600" u="none" strike="noStrike">
                          <a:effectLst/>
                        </a:rPr>
                        <a:t>$ </a:t>
                      </a:r>
                      <a:r>
                        <a:rPr lang="zh-TW" altLang="en-US" sz="1600" u="none" strike="noStrike">
                          <a:effectLst/>
                        </a:rPr>
                        <a:t>變數的控制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191685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53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$.param()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建立陣列或物件的序列化表示形式（可用作 </a:t>
                      </a:r>
                      <a:r>
                        <a:rPr lang="en-US" altLang="zh-TW" sz="1600" u="none" strike="noStrike">
                          <a:effectLst/>
                        </a:rPr>
                        <a:t>AJAX </a:t>
                      </a:r>
                      <a:r>
                        <a:rPr lang="zh-TW" altLang="en-US" sz="1600" u="none" strike="noStrike">
                          <a:effectLst/>
                        </a:rPr>
                        <a:t>請求的網址查詢字串）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16297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54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removeData()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刪除以前存儲的數據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002312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55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size()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在 </a:t>
                      </a:r>
                      <a:r>
                        <a:rPr lang="en-US" altLang="zh-TW" sz="1600" u="none" strike="noStrike">
                          <a:effectLst/>
                        </a:rPr>
                        <a:t>3.0 </a:t>
                      </a:r>
                      <a:r>
                        <a:rPr lang="zh-TW" altLang="en-US" sz="1600" u="none" strike="noStrike">
                          <a:effectLst/>
                        </a:rPr>
                        <a:t>版中刪除。請改用 </a:t>
                      </a:r>
                      <a:r>
                        <a:rPr lang="en-US" sz="1600" u="none" strike="noStrike">
                          <a:effectLst/>
                        </a:rPr>
                        <a:t>length </a:t>
                      </a:r>
                      <a:r>
                        <a:rPr lang="zh-TW" altLang="en-US" sz="1600" u="none" strike="noStrike">
                          <a:effectLst/>
                        </a:rPr>
                        <a:t>屬性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797941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56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toArray()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檢索 </a:t>
                      </a:r>
                      <a:r>
                        <a:rPr lang="en-US" sz="1600" u="none" strike="noStrike">
                          <a:effectLst/>
                        </a:rPr>
                        <a:t>jQuery </a:t>
                      </a:r>
                      <a:r>
                        <a:rPr lang="zh-TW" altLang="en-US" sz="1600" u="none" strike="noStrike">
                          <a:effectLst/>
                        </a:rPr>
                        <a:t>集中包含的所有 </a:t>
                      </a:r>
                      <a:r>
                        <a:rPr lang="en-US" sz="1600" u="none" strike="noStrike">
                          <a:effectLst/>
                        </a:rPr>
                        <a:t>DOM </a:t>
                      </a:r>
                      <a:r>
                        <a:rPr lang="zh-TW" altLang="en-US" sz="1600" u="none" strike="noStrike">
                          <a:effectLst/>
                        </a:rPr>
                        <a:t>元素（作為陣列）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012757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57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context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在 </a:t>
                      </a:r>
                      <a:r>
                        <a:rPr lang="en-US" altLang="zh-TW" sz="1600" u="none" strike="noStrike">
                          <a:effectLst/>
                        </a:rPr>
                        <a:t>3.0 </a:t>
                      </a:r>
                      <a:r>
                        <a:rPr lang="zh-TW" altLang="en-US" sz="1600" u="none" strike="noStrike">
                          <a:effectLst/>
                        </a:rPr>
                        <a:t>版中刪除。包含傳遞給 </a:t>
                      </a:r>
                      <a:r>
                        <a:rPr lang="en-US" altLang="zh-TW" sz="1600" u="none" strike="noStrike">
                          <a:effectLst/>
                        </a:rPr>
                        <a:t>jQuery</a:t>
                      </a:r>
                      <a:r>
                        <a:rPr lang="zh-TW" altLang="en-US" sz="1600" u="none" strike="noStrike">
                          <a:effectLst/>
                        </a:rPr>
                        <a:t>（） 的原始上下文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31550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58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jquery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包含 </a:t>
                      </a:r>
                      <a:r>
                        <a:rPr lang="en-US" sz="1600" u="none" strike="noStrike">
                          <a:effectLst/>
                        </a:rPr>
                        <a:t>jQuery </a:t>
                      </a:r>
                      <a:r>
                        <a:rPr lang="zh-TW" altLang="en-US" sz="1600" u="none" strike="noStrike">
                          <a:effectLst/>
                        </a:rPr>
                        <a:t>版本號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366413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59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jQuery.fx.interval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變更動畫觸發速率（以毫秒為單位）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44268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60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jQuery.fx.off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全域禁用</a:t>
                      </a:r>
                      <a:r>
                        <a:rPr lang="en-US" altLang="zh-TW" sz="1600" u="none" strike="noStrike">
                          <a:effectLst/>
                        </a:rPr>
                        <a:t>/</a:t>
                      </a:r>
                      <a:r>
                        <a:rPr lang="zh-TW" altLang="en-US" sz="1600" u="none" strike="noStrike">
                          <a:effectLst/>
                        </a:rPr>
                        <a:t>啟用所有動畫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274264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61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jQuery.support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>
                          <a:effectLst/>
                        </a:rPr>
                        <a:t>表示不同瀏覽器功能或 </a:t>
                      </a:r>
                      <a:r>
                        <a:rPr lang="en-US" altLang="zh-TW" sz="1600" u="none" strike="noStrike">
                          <a:effectLst/>
                        </a:rPr>
                        <a:t>bug </a:t>
                      </a:r>
                      <a:r>
                        <a:rPr lang="zh-TW" altLang="en-US" sz="1600" u="none" strike="noStrike">
                          <a:effectLst/>
                        </a:rPr>
                        <a:t>的屬性集合（供 </a:t>
                      </a:r>
                      <a:r>
                        <a:rPr lang="en-US" altLang="zh-TW" sz="1600" u="none" strike="noStrike">
                          <a:effectLst/>
                        </a:rPr>
                        <a:t>jQuery </a:t>
                      </a:r>
                      <a:r>
                        <a:rPr lang="zh-TW" altLang="en-US" sz="1600" u="none" strike="noStrike">
                          <a:effectLst/>
                        </a:rPr>
                        <a:t>內部使用）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694926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TW" sz="1600" u="none" strike="noStrike">
                          <a:effectLst/>
                        </a:rPr>
                        <a:t>62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>
                          <a:effectLst/>
                        </a:rPr>
                        <a:t>length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zh-TW" altLang="en-US" sz="1600" u="none" strike="noStrike" dirty="0">
                          <a:effectLst/>
                        </a:rPr>
                        <a:t>包含 </a:t>
                      </a:r>
                      <a:r>
                        <a:rPr lang="en-US" sz="1600" u="none" strike="noStrike" dirty="0">
                          <a:effectLst/>
                        </a:rPr>
                        <a:t>jQuery </a:t>
                      </a:r>
                      <a:r>
                        <a:rPr lang="zh-TW" altLang="en-US" sz="1600" u="none" strike="noStrike" dirty="0">
                          <a:effectLst/>
                        </a:rPr>
                        <a:t>物件中的元素數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96263251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EC1B3FFD-DE2A-4E09-8EAC-25C633A01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968" y="400308"/>
            <a:ext cx="6157608" cy="682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TW" altLang="zh-TW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jQuery 遍歷方法</a:t>
            </a:r>
            <a:r>
              <a:rPr lang="en-US" altLang="zh-TW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四</a:t>
            </a:r>
            <a:r>
              <a:rPr lang="en-US" altLang="zh-TW" sz="3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zh-TW" altLang="zh-TW" sz="36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276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EA16E66-CBF1-46F4-99F4-C2ECEDBB95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4DDC36-D291-4E17-850B-9592B07D01F5}"/>
              </a:ext>
            </a:extLst>
          </p:cNvPr>
          <p:cNvSpPr/>
          <p:nvPr/>
        </p:nvSpPr>
        <p:spPr>
          <a:xfrm>
            <a:off x="1020590" y="1513690"/>
            <a:ext cx="55306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333333"/>
                </a:solidFill>
                <a:latin typeface="Helvetica Neue" panose="02020500000000000000" charset="0"/>
              </a:rPr>
              <a:t>first()</a:t>
            </a:r>
            <a:r>
              <a:rPr lang="zh-TW" altLang="en-US" dirty="0">
                <a:solidFill>
                  <a:srgbClr val="333333"/>
                </a:solidFill>
                <a:latin typeface="Helvetica Neue" panose="02020500000000000000" charset="0"/>
              </a:rPr>
              <a:t>是</a:t>
            </a:r>
            <a:r>
              <a:rPr lang="en-US" altLang="zh-TW" dirty="0">
                <a:solidFill>
                  <a:srgbClr val="333333"/>
                </a:solidFill>
                <a:latin typeface="Helvetica Neue" panose="02020500000000000000" charset="0"/>
              </a:rPr>
              <a:t>jQuery</a:t>
            </a:r>
            <a:r>
              <a:rPr lang="zh-TW" altLang="en-US" dirty="0">
                <a:solidFill>
                  <a:srgbClr val="333333"/>
                </a:solidFill>
                <a:latin typeface="Helvetica Neue" panose="02020500000000000000" charset="0"/>
              </a:rPr>
              <a:t>中的內置函數，用於從指定的元素中選擇第一個元素。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885A3A0-03DF-4D3A-8BB5-D6F3D2A16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016" y="3025325"/>
            <a:ext cx="4120481" cy="245056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32CA2C0-84C9-4100-BB5E-74D47E33A835}"/>
              </a:ext>
            </a:extLst>
          </p:cNvPr>
          <p:cNvSpPr txBox="1"/>
          <p:nvPr/>
        </p:nvSpPr>
        <p:spPr>
          <a:xfrm>
            <a:off x="1020590" y="493808"/>
            <a:ext cx="41585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first()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方法的使用</a:t>
            </a:r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71DE3D-9B21-41A0-9584-0A0358DBE7D3}"/>
              </a:ext>
            </a:extLst>
          </p:cNvPr>
          <p:cNvSpPr txBox="1"/>
          <p:nvPr/>
        </p:nvSpPr>
        <p:spPr>
          <a:xfrm>
            <a:off x="1734683" y="5840972"/>
            <a:ext cx="3857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相關：</a:t>
            </a:r>
            <a:r>
              <a:rPr lang="en-US" altLang="zh-TW" sz="2800" dirty="0"/>
              <a:t>last()</a:t>
            </a:r>
            <a:r>
              <a:rPr lang="zh-TW" altLang="en-US" sz="2800" dirty="0"/>
              <a:t>：最後一個</a:t>
            </a:r>
            <a:endParaRPr lang="en-US" altLang="zh-TW" sz="28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F4203A1-1598-4A40-9516-F408C138F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874" y="0"/>
            <a:ext cx="41665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9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F826DC8-C3FE-41E5-A73F-DF0EAF258E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9D11B9-34D2-4776-BD06-7C5599DA66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597" b="26205"/>
          <a:stretch/>
        </p:blipFill>
        <p:spPr>
          <a:xfrm>
            <a:off x="6432473" y="306836"/>
            <a:ext cx="5548048" cy="583408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70957F0-8C89-45CE-8F41-794B4AB4641D}"/>
              </a:ext>
            </a:extLst>
          </p:cNvPr>
          <p:cNvSpPr txBox="1"/>
          <p:nvPr/>
        </p:nvSpPr>
        <p:spPr>
          <a:xfrm>
            <a:off x="712581" y="484182"/>
            <a:ext cx="43396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after()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方法的使用</a:t>
            </a:r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4F4AC1D-65EE-44CA-AD0E-48B8CDC3DE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351" r="22638"/>
          <a:stretch/>
        </p:blipFill>
        <p:spPr>
          <a:xfrm>
            <a:off x="1181499" y="4057048"/>
            <a:ext cx="4339650" cy="184323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53859C4-3061-40A5-B779-9F6D1E7FB607}"/>
              </a:ext>
            </a:extLst>
          </p:cNvPr>
          <p:cNvSpPr/>
          <p:nvPr/>
        </p:nvSpPr>
        <p:spPr>
          <a:xfrm>
            <a:off x="712581" y="1496563"/>
            <a:ext cx="6096000" cy="17146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</a:rPr>
              <a:t>jQuery</a:t>
            </a:r>
            <a:r>
              <a:rPr lang="zh-TW" altLang="en-US" sz="1600" b="1" dirty="0">
                <a:solidFill>
                  <a:srgbClr val="002060"/>
                </a:solidFill>
              </a:rPr>
              <a:t>四種方法來添加新的 </a:t>
            </a:r>
            <a:r>
              <a:rPr lang="en-US" altLang="zh-TW" sz="1600" b="1" dirty="0">
                <a:solidFill>
                  <a:srgbClr val="002060"/>
                </a:solidFill>
              </a:rPr>
              <a:t>HTML </a:t>
            </a:r>
            <a:r>
              <a:rPr lang="zh-TW" altLang="en-US" sz="1600" b="1" dirty="0">
                <a:solidFill>
                  <a:srgbClr val="002060"/>
                </a:solidFill>
              </a:rPr>
              <a:t>内容 </a:t>
            </a:r>
            <a:r>
              <a:rPr lang="en-US" altLang="zh-TW" sz="1600" b="1" dirty="0">
                <a:solidFill>
                  <a:srgbClr val="002060"/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append() : </a:t>
            </a:r>
            <a:r>
              <a:rPr lang="zh-TW" altLang="en-US" dirty="0"/>
              <a:t>在選擇元素的結尾插入內容。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prepend() : </a:t>
            </a:r>
            <a:r>
              <a:rPr lang="zh-TW" altLang="en-US" dirty="0"/>
              <a:t>在選擇元素的開頭插入內容。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b="1" dirty="0">
                <a:solidFill>
                  <a:srgbClr val="FF0000"/>
                </a:solidFill>
              </a:rPr>
              <a:t>after() : </a:t>
            </a:r>
            <a:r>
              <a:rPr lang="zh-TW" altLang="en-US" b="1" dirty="0">
                <a:solidFill>
                  <a:srgbClr val="FF0000"/>
                </a:solidFill>
              </a:rPr>
              <a:t>在選擇元素的之後插入內容。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dirty="0"/>
              <a:t>before() : </a:t>
            </a:r>
            <a:r>
              <a:rPr lang="zh-TW" altLang="en-US" dirty="0"/>
              <a:t>在選擇元素的之前插入內容。</a:t>
            </a:r>
          </a:p>
        </p:txBody>
      </p:sp>
    </p:spTree>
    <p:extLst>
      <p:ext uri="{BB962C8B-B14F-4D97-AF65-F5344CB8AC3E}">
        <p14:creationId xmlns:p14="http://schemas.microsoft.com/office/powerpoint/2010/main" val="154157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22C56BB-C870-4708-9C6E-EA13441FE8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A15CB9C-3C6B-4D6D-A347-6144BC121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630" y="240130"/>
            <a:ext cx="5635999" cy="585587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7EAB76A-731A-43F0-A46E-154920D774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715"/>
          <a:stretch/>
        </p:blipFill>
        <p:spPr>
          <a:xfrm>
            <a:off x="8675169" y="3144251"/>
            <a:ext cx="3364430" cy="1920707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C416647-E6DA-46EC-97B1-89EDCB3F1155}"/>
              </a:ext>
            </a:extLst>
          </p:cNvPr>
          <p:cNvSpPr txBox="1"/>
          <p:nvPr/>
        </p:nvSpPr>
        <p:spPr>
          <a:xfrm>
            <a:off x="855329" y="519763"/>
            <a:ext cx="4071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has()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方法的使用</a:t>
            </a:r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0646C45-29CC-4B58-9EE0-A44A0E5AD044}"/>
              </a:ext>
            </a:extLst>
          </p:cNvPr>
          <p:cNvSpPr txBox="1"/>
          <p:nvPr/>
        </p:nvSpPr>
        <p:spPr>
          <a:xfrm>
            <a:off x="855329" y="1299839"/>
            <a:ext cx="4571429" cy="976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800" b="1" dirty="0">
                <a:solidFill>
                  <a:srgbClr val="0000FF"/>
                </a:solidFill>
              </a:rPr>
              <a:t>用途：</a:t>
            </a:r>
            <a:endParaRPr lang="en-US" altLang="zh-TW" sz="1800" b="1" dirty="0">
              <a:solidFill>
                <a:srgbClr val="0000FF"/>
              </a:solidFill>
            </a:endParaRPr>
          </a:p>
          <a:p>
            <a:pPr>
              <a:lnSpc>
                <a:spcPct val="200000"/>
              </a:lnSpc>
            </a:pPr>
            <a:r>
              <a:rPr lang="zh-TW" altLang="en-US" sz="1800" b="1" dirty="0">
                <a:solidFill>
                  <a:srgbClr val="FF0000"/>
                </a:solidFill>
              </a:rPr>
              <a:t>檢測某個元素物件是否在另一個元素物件中。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DE3B492-250C-43C0-895A-C5C1BB421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32" y="2596992"/>
            <a:ext cx="4175411" cy="383726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D4FFA52-E038-40B6-B058-5AFCFAA03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401" y="4469996"/>
            <a:ext cx="2323671" cy="206891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3233E7F-F05B-4A03-87B7-1102BE218C5C}"/>
              </a:ext>
            </a:extLst>
          </p:cNvPr>
          <p:cNvSpPr/>
          <p:nvPr/>
        </p:nvSpPr>
        <p:spPr>
          <a:xfrm>
            <a:off x="6046630" y="6172644"/>
            <a:ext cx="62600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例如：一個表格</a:t>
            </a:r>
            <a:r>
              <a:rPr lang="en-US" altLang="zh-TW" b="1" dirty="0">
                <a:solidFill>
                  <a:srgbClr val="FF0000"/>
                </a:solidFill>
              </a:rPr>
              <a:t>(</a:t>
            </a:r>
            <a:r>
              <a:rPr lang="zh-TW" altLang="en-US" b="1" dirty="0">
                <a:solidFill>
                  <a:srgbClr val="FF0000"/>
                </a:solidFill>
              </a:rPr>
              <a:t>沒</a:t>
            </a:r>
            <a:r>
              <a:rPr lang="en-US" altLang="zh-TW" b="1" dirty="0" err="1">
                <a:solidFill>
                  <a:srgbClr val="FF0000"/>
                </a:solidFill>
              </a:rPr>
              <a:t>tbody</a:t>
            </a:r>
            <a:r>
              <a:rPr lang="en-US" altLang="zh-TW" b="1" dirty="0">
                <a:solidFill>
                  <a:srgbClr val="FF0000"/>
                </a:solidFill>
              </a:rPr>
              <a:t>)</a:t>
            </a:r>
            <a:r>
              <a:rPr lang="zh-TW" altLang="en-US" b="1" dirty="0">
                <a:solidFill>
                  <a:srgbClr val="FF0000"/>
                </a:solidFill>
              </a:rPr>
              <a:t>，想清除非標題</a:t>
            </a:r>
            <a:r>
              <a:rPr lang="en-US" altLang="zh-TW" b="1" dirty="0">
                <a:solidFill>
                  <a:srgbClr val="FF0000"/>
                </a:solidFill>
              </a:rPr>
              <a:t>(</a:t>
            </a:r>
            <a:r>
              <a:rPr lang="en-US" altLang="zh-TW" b="1" dirty="0" err="1">
                <a:solidFill>
                  <a:srgbClr val="FF0000"/>
                </a:solidFill>
              </a:rPr>
              <a:t>th</a:t>
            </a:r>
            <a:r>
              <a:rPr lang="en-US" altLang="zh-TW" b="1" dirty="0">
                <a:solidFill>
                  <a:srgbClr val="FF0000"/>
                </a:solidFill>
              </a:rPr>
              <a:t>)</a:t>
            </a:r>
            <a:r>
              <a:rPr lang="zh-TW" altLang="en-US" b="1" dirty="0">
                <a:solidFill>
                  <a:srgbClr val="FF0000"/>
                </a:solidFill>
              </a:rPr>
              <a:t>的所有列資料</a:t>
            </a:r>
            <a:r>
              <a:rPr lang="en-US" altLang="zh-TW" b="1" dirty="0">
                <a:solidFill>
                  <a:srgbClr val="FF0000"/>
                </a:solidFill>
              </a:rPr>
              <a:t>(empty)</a:t>
            </a:r>
            <a:r>
              <a:rPr lang="zh-TW" altLang="en-US" b="1" dirty="0">
                <a:solidFill>
                  <a:srgbClr val="FF0000"/>
                </a:solidFill>
              </a:rPr>
              <a:t>，可用：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$("</a:t>
            </a:r>
            <a:r>
              <a:rPr lang="en-US" altLang="zh-TW" b="1" dirty="0" err="1">
                <a:solidFill>
                  <a:srgbClr val="FF0000"/>
                </a:solidFill>
              </a:rPr>
              <a:t>tr:has</a:t>
            </a:r>
            <a:r>
              <a:rPr lang="en-US" altLang="zh-TW" b="1">
                <a:solidFill>
                  <a:srgbClr val="FF0000"/>
                </a:solidFill>
              </a:rPr>
              <a:t>(td)").</a:t>
            </a:r>
            <a:r>
              <a:rPr lang="en-US" altLang="zh-TW" b="1" dirty="0">
                <a:solidFill>
                  <a:srgbClr val="FF0000"/>
                </a:solidFill>
              </a:rPr>
              <a:t>empty();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88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D7D512E7-4CB1-4067-A4FB-A618F964A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29" y="3213880"/>
            <a:ext cx="6927010" cy="351433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AF5C634-82B8-4E4E-8D0A-25734D5F95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F8C151F-7960-434C-8680-DB0F753B40EC}"/>
              </a:ext>
            </a:extLst>
          </p:cNvPr>
          <p:cNvSpPr txBox="1"/>
          <p:nvPr/>
        </p:nvSpPr>
        <p:spPr>
          <a:xfrm>
            <a:off x="855329" y="519763"/>
            <a:ext cx="41184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find()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方法的使用</a:t>
            </a:r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2C495C5-4B56-48AF-8243-346017728DEE}"/>
              </a:ext>
            </a:extLst>
          </p:cNvPr>
          <p:cNvSpPr txBox="1"/>
          <p:nvPr/>
        </p:nvSpPr>
        <p:spPr>
          <a:xfrm>
            <a:off x="855329" y="1299839"/>
            <a:ext cx="4969001" cy="184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800" b="1" dirty="0">
                <a:solidFill>
                  <a:srgbClr val="0000FF"/>
                </a:solidFill>
              </a:rPr>
              <a:t>用途：</a:t>
            </a:r>
            <a:endParaRPr lang="en-US" altLang="zh-TW" sz="1800" b="1" dirty="0">
              <a:solidFill>
                <a:srgbClr val="0000FF"/>
              </a:solidFill>
            </a:endParaRPr>
          </a:p>
          <a:p>
            <a:pPr>
              <a:lnSpc>
                <a:spcPct val="200000"/>
              </a:lnSpc>
            </a:pPr>
            <a:r>
              <a:rPr lang="zh-TW" altLang="en-US" sz="1800" b="1" dirty="0">
                <a:solidFill>
                  <a:srgbClr val="FF0000"/>
                </a:solidFill>
              </a:rPr>
              <a:t>定義和用法</a:t>
            </a:r>
          </a:p>
          <a:p>
            <a:pPr>
              <a:lnSpc>
                <a:spcPct val="150000"/>
              </a:lnSpc>
            </a:pPr>
            <a:r>
              <a:rPr lang="en-US" altLang="zh-TW" sz="1800" b="1" dirty="0">
                <a:solidFill>
                  <a:srgbClr val="FF0000"/>
                </a:solidFill>
              </a:rPr>
              <a:t>find</a:t>
            </a:r>
            <a:r>
              <a:rPr lang="zh-TW" altLang="en-US" sz="1800" b="1" dirty="0">
                <a:solidFill>
                  <a:srgbClr val="FF0000"/>
                </a:solidFill>
              </a:rPr>
              <a:t>（） 方法獲得當前元素集合中每個元素的後代，通過選擇器、</a:t>
            </a:r>
            <a:r>
              <a:rPr lang="en-US" altLang="zh-TW" sz="1800" b="1" dirty="0">
                <a:solidFill>
                  <a:srgbClr val="FF0000"/>
                </a:solidFill>
              </a:rPr>
              <a:t>jQuery </a:t>
            </a:r>
            <a:r>
              <a:rPr lang="zh-TW" altLang="en-US" sz="1800" b="1" dirty="0">
                <a:solidFill>
                  <a:srgbClr val="FF0000"/>
                </a:solidFill>
              </a:rPr>
              <a:t>物件或元素來篩選。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949C02-33AF-4EEF-833E-D9DE59207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783" y="519763"/>
            <a:ext cx="5471634" cy="2979678"/>
          </a:xfrm>
          <a:prstGeom prst="rec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45C7F05-3D01-46EB-9018-313042078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364" y="3047826"/>
            <a:ext cx="2842506" cy="1082134"/>
          </a:xfrm>
          <a:prstGeom prst="rec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0918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91A1878-4698-49E8-BDCE-396B9F3D9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D590ACA-94E3-4A38-B6D6-1599D2CBC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525"/>
            <a:ext cx="12192000" cy="468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8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3DCB550-DAE3-470F-9C8E-51D0BA1830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4C7224-FED1-42B8-A7CF-36A479894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2" y="251969"/>
            <a:ext cx="10278909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15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473BA44-15EB-46A5-AEC0-27733C87C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3DC021-9607-4D5B-85EC-41AF407DA6B5}"/>
              </a:ext>
            </a:extLst>
          </p:cNvPr>
          <p:cNvSpPr txBox="1"/>
          <p:nvPr/>
        </p:nvSpPr>
        <p:spPr>
          <a:xfrm>
            <a:off x="172665" y="294876"/>
            <a:ext cx="89640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TW" altLang="en-US" sz="3200" b="1" i="0" u="sng" dirty="0">
                <a:solidFill>
                  <a:srgbClr val="FF0000"/>
                </a:solidFill>
                <a:effectLst/>
                <a:latin typeface="Helvetica Neue" panose="02020500000000000000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傳回所有偶數號的</a:t>
            </a:r>
            <a:r>
              <a:rPr lang="en-US" altLang="zh-TW" sz="3200" b="1" i="0" u="sng" dirty="0">
                <a:solidFill>
                  <a:srgbClr val="FF0000"/>
                </a:solidFill>
                <a:effectLst/>
                <a:latin typeface="Helvetica Neue" panose="02020500000000000000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&lt;p&gt; </a:t>
            </a:r>
            <a:r>
              <a:rPr lang="zh-TW" altLang="en-US" sz="3200" b="1" i="0" u="sng" dirty="0">
                <a:solidFill>
                  <a:srgbClr val="FF0000"/>
                </a:solidFill>
                <a:effectLst/>
                <a:latin typeface="Helvetica Neue" panose="02020500000000000000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元素</a:t>
            </a:r>
            <a:endParaRPr lang="en-US" altLang="zh-TW" sz="3200" b="1" i="0" u="sng" dirty="0">
              <a:solidFill>
                <a:srgbClr val="FF0000"/>
              </a:solidFill>
              <a:effectLst/>
              <a:latin typeface="Helvetica Neue" panose="02020500000000000000" charset="0"/>
            </a:endParaRPr>
          </a:p>
          <a:p>
            <a:pPr>
              <a:spcAft>
                <a:spcPts val="1200"/>
              </a:spcAft>
            </a:pP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使用</a:t>
            </a:r>
            <a:r>
              <a:rPr lang="en-US" altLang="zh-TW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:even </a:t>
            </a: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選擇器和</a:t>
            </a:r>
            <a:r>
              <a:rPr lang="en-US" altLang="zh-TW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filter() </a:t>
            </a: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來傳回所有偶數號的</a:t>
            </a:r>
            <a:r>
              <a:rPr lang="en-US" altLang="zh-TW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&lt;p&gt; </a:t>
            </a: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元素。</a:t>
            </a:r>
            <a:endParaRPr lang="zh-TW" altLang="en-US" sz="1800" b="1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5B94FFA-93B0-4B15-A486-BF83E927F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29" y="1462324"/>
            <a:ext cx="10666080" cy="525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71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920E7E2-BAAE-4E9C-B544-94A808126E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9613D8B-EF6F-42B4-A66B-26EFD9802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78" y="1198428"/>
            <a:ext cx="10850482" cy="544786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36BC272-1133-47D2-A2D9-1AA71022B592}"/>
              </a:ext>
            </a:extLst>
          </p:cNvPr>
          <p:cNvSpPr txBox="1"/>
          <p:nvPr/>
        </p:nvSpPr>
        <p:spPr>
          <a:xfrm>
            <a:off x="248778" y="211707"/>
            <a:ext cx="89640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TW" altLang="en-US" sz="3200" b="1" i="0" u="sng" dirty="0">
                <a:solidFill>
                  <a:srgbClr val="FF0000"/>
                </a:solidFill>
                <a:effectLst/>
                <a:latin typeface="Helvetica Neue" panose="02020500000000000000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多個條件</a:t>
            </a:r>
            <a:endParaRPr lang="en-US" altLang="zh-TW" sz="3200" b="1" u="sng" dirty="0">
              <a:solidFill>
                <a:srgbClr val="FF0000"/>
              </a:solidFill>
              <a:latin typeface="Helvetica Neue" panose="02020500000000000000" charset="0"/>
            </a:endParaRPr>
          </a:p>
          <a:p>
            <a:pPr>
              <a:spcAft>
                <a:spcPts val="1200"/>
              </a:spcAft>
            </a:pP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如何傳回</a:t>
            </a:r>
            <a:r>
              <a:rPr lang="en-US" altLang="zh-TW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class </a:t>
            </a: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為</a:t>
            </a:r>
            <a:r>
              <a:rPr lang="en-US" altLang="zh-TW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“intro” </a:t>
            </a: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和 </a:t>
            </a:r>
            <a:r>
              <a:rPr lang="en-US" altLang="zh-TW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id </a:t>
            </a: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為</a:t>
            </a:r>
            <a:r>
              <a:rPr lang="en-US" altLang="zh-TW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"outro" </a:t>
            </a: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的所有</a:t>
            </a:r>
            <a:r>
              <a:rPr lang="en-US" altLang="zh-TW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&lt;p&gt; </a:t>
            </a: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元素。</a:t>
            </a:r>
            <a:endParaRPr lang="zh-TW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7906828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0FD6325-F5ED-4A08-B477-02D4899825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9ED05C3-8040-4B12-B63F-199C833982EE}"/>
              </a:ext>
            </a:extLst>
          </p:cNvPr>
          <p:cNvSpPr txBox="1"/>
          <p:nvPr/>
        </p:nvSpPr>
        <p:spPr>
          <a:xfrm>
            <a:off x="415857" y="205317"/>
            <a:ext cx="89640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2800" b="1" i="0" u="sng" dirty="0">
                <a:solidFill>
                  <a:srgbClr val="FF0000"/>
                </a:solidFill>
                <a:effectLst/>
                <a:latin typeface="Helvetica Neue" panose="02020500000000000000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</a:t>
            </a:r>
            <a:endParaRPr lang="en-US" altLang="zh-TW" sz="2800" b="1" i="0" u="sng" dirty="0">
              <a:solidFill>
                <a:srgbClr val="FF0000"/>
              </a:solidFill>
              <a:effectLst/>
              <a:latin typeface="Helvetica Neue" panose="02020500000000000000" charset="0"/>
            </a:endParaRPr>
          </a:p>
          <a:p>
            <a:r>
              <a:rPr lang="zh-TW" altLang="en-US" sz="16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如何透過</a:t>
            </a:r>
            <a:r>
              <a:rPr lang="en-US" altLang="zh-TW" sz="16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DOM </a:t>
            </a:r>
            <a:r>
              <a:rPr lang="zh-TW" altLang="en-US" sz="16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元素傳回</a:t>
            </a:r>
            <a:r>
              <a:rPr lang="en-US" altLang="zh-TW" sz="16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id </a:t>
            </a:r>
            <a:r>
              <a:rPr lang="zh-TW" altLang="en-US" sz="16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為</a:t>
            </a:r>
            <a:r>
              <a:rPr lang="en-US" altLang="zh-TW" sz="16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"intro" </a:t>
            </a:r>
            <a:r>
              <a:rPr lang="zh-TW" altLang="en-US" sz="16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的一個</a:t>
            </a:r>
            <a:r>
              <a:rPr lang="en-US" altLang="zh-TW" sz="16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&lt;p&gt; </a:t>
            </a:r>
            <a:r>
              <a:rPr lang="zh-TW" altLang="en-US" sz="16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元素。</a:t>
            </a:r>
            <a:endParaRPr lang="zh-TW" altLang="en-US" sz="1600" b="1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42A5B53-80E6-4E6D-A29D-961381732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" y="1390201"/>
            <a:ext cx="10849583" cy="505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591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D6A5972-F332-47DB-803C-9B6E25DFFA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8005483-D3B8-429A-B162-D477C2BCE7D9}"/>
              </a:ext>
            </a:extLst>
          </p:cNvPr>
          <p:cNvSpPr txBox="1"/>
          <p:nvPr/>
        </p:nvSpPr>
        <p:spPr>
          <a:xfrm>
            <a:off x="425585" y="136525"/>
            <a:ext cx="89640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TW" altLang="en-US" sz="2800" b="1" i="0" u="sng" dirty="0">
                <a:solidFill>
                  <a:srgbClr val="FF0000"/>
                </a:solidFill>
                <a:effectLst/>
                <a:latin typeface="Helvetica Neue" panose="02020500000000000000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使用函數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如何使用函數來選取擁有兩個</a:t>
            </a:r>
            <a:r>
              <a:rPr lang="en-US" altLang="zh-TW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&lt;span&gt; </a:t>
            </a: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元素在其內的所有</a:t>
            </a:r>
            <a:r>
              <a:rPr lang="en-US" altLang="zh-TW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&lt;p&gt; </a:t>
            </a:r>
            <a:r>
              <a:rPr lang="zh-TW" altLang="en-US" sz="1800" b="1" i="0" dirty="0">
                <a:solidFill>
                  <a:srgbClr val="333333"/>
                </a:solidFill>
                <a:effectLst/>
                <a:latin typeface="Helvetica Neue" panose="02020500000000000000" charset="0"/>
              </a:rPr>
              <a:t>元素。</a:t>
            </a:r>
            <a:endParaRPr lang="zh-TW" altLang="en-US" sz="1800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DE23DE9-1785-4285-8C6E-F9D2514C5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11" y="1387023"/>
            <a:ext cx="11238689" cy="473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890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F66A3C2-8201-4DA9-BAB1-C54854BE08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817651" y="6419954"/>
            <a:ext cx="28448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FE2405-12A6-4BFD-9FF4-06938B32A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19" y="0"/>
            <a:ext cx="8983265" cy="6858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A6FA64F-3F34-4051-AC6B-ECB345E8E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864" y="940657"/>
            <a:ext cx="6237917" cy="22328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FBE8DBF-3447-4462-B53F-6BC0D1B79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522" y="3429000"/>
            <a:ext cx="6280259" cy="223286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B7426BA-5635-4982-89BD-0DAA6665AE1B}"/>
              </a:ext>
            </a:extLst>
          </p:cNvPr>
          <p:cNvSpPr txBox="1"/>
          <p:nvPr/>
        </p:nvSpPr>
        <p:spPr>
          <a:xfrm>
            <a:off x="8838822" y="5390543"/>
            <a:ext cx="30277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rgbClr val="000000"/>
                </a:solidFill>
                <a:effectLst/>
                <a:latin typeface="SF Pro SC"/>
              </a:rPr>
              <a:t>toggle()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SF Pro SC"/>
              </a:rPr>
              <a:t>方法切換元素的可見狀態。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76002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0B73E6F-2378-4759-90F3-B94200ABC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960" y="499029"/>
            <a:ext cx="5694236" cy="585994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8C96BD1-DB05-4921-9B49-D5FB6F1E02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" r="42405"/>
          <a:stretch/>
        </p:blipFill>
        <p:spPr>
          <a:xfrm>
            <a:off x="9256832" y="4426651"/>
            <a:ext cx="2630368" cy="202857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3FF80A9-D370-4F18-AE61-33B8389BDBD9}"/>
              </a:ext>
            </a:extLst>
          </p:cNvPr>
          <p:cNvSpPr txBox="1"/>
          <p:nvPr/>
        </p:nvSpPr>
        <p:spPr>
          <a:xfrm>
            <a:off x="575695" y="526744"/>
            <a:ext cx="38042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eq()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方法的使用</a:t>
            </a:r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B59891-9176-425D-BF60-FAFB3BE419E3}"/>
              </a:ext>
            </a:extLst>
          </p:cNvPr>
          <p:cNvSpPr/>
          <p:nvPr/>
        </p:nvSpPr>
        <p:spPr>
          <a:xfrm>
            <a:off x="431566" y="1471504"/>
            <a:ext cx="4608385" cy="1027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F Pro SC"/>
              </a:rPr>
              <a:t>如果给定表示 </a:t>
            </a:r>
            <a:r>
              <a:rPr lang="en-US" altLang="zh-CN" dirty="0">
                <a:latin typeface="SF Pro SC"/>
              </a:rPr>
              <a:t>DOM </a:t>
            </a:r>
            <a:r>
              <a:rPr lang="zh-CN" altLang="en-US" dirty="0">
                <a:latin typeface="SF Pro SC"/>
              </a:rPr>
              <a:t>元素集合的 </a:t>
            </a:r>
            <a:r>
              <a:rPr lang="en-US" altLang="zh-CN" dirty="0">
                <a:latin typeface="SF Pro SC"/>
              </a:rPr>
              <a:t>jQuery </a:t>
            </a:r>
            <a:r>
              <a:rPr lang="zh-TW" altLang="en-US" dirty="0">
                <a:latin typeface="SF Pro SC"/>
              </a:rPr>
              <a:t>對</a:t>
            </a:r>
            <a:r>
              <a:rPr lang="zh-CN" altLang="en-US" dirty="0">
                <a:latin typeface="SF Pro SC"/>
              </a:rPr>
              <a:t>象，</a:t>
            </a:r>
            <a:r>
              <a:rPr lang="en-US" altLang="zh-CN" dirty="0">
                <a:latin typeface="SF Pro SC"/>
              </a:rPr>
              <a:t>.eq() </a:t>
            </a:r>
            <a:r>
              <a:rPr lang="zh-CN" altLang="en-US" dirty="0">
                <a:latin typeface="SF Pro SC"/>
              </a:rPr>
              <a:t>方法</a:t>
            </a:r>
            <a:r>
              <a:rPr lang="zh-TW" altLang="en-US" dirty="0">
                <a:latin typeface="SF Pro SC"/>
              </a:rPr>
              <a:t>會指定</a:t>
            </a:r>
            <a:r>
              <a:rPr lang="zh-CN" altLang="en-US" dirty="0">
                <a:latin typeface="SF Pro SC"/>
              </a:rPr>
              <a:t>集合中的</a:t>
            </a:r>
            <a:r>
              <a:rPr lang="zh-TW" altLang="en-US" dirty="0">
                <a:latin typeface="SF Pro SC"/>
              </a:rPr>
              <a:t>某</a:t>
            </a:r>
            <a:r>
              <a:rPr lang="zh-CN" altLang="en-US" dirty="0">
                <a:latin typeface="SF Pro SC"/>
              </a:rPr>
              <a:t>一</a:t>
            </a:r>
            <a:r>
              <a:rPr lang="zh-TW" altLang="en-US" dirty="0">
                <a:latin typeface="SF Pro SC"/>
              </a:rPr>
              <a:t>個</a:t>
            </a:r>
            <a:r>
              <a:rPr lang="zh-CN" altLang="en-US" dirty="0">
                <a:latin typeface="SF Pro SC"/>
              </a:rPr>
              <a:t>元素</a:t>
            </a:r>
            <a:r>
              <a:rPr lang="en-US" altLang="zh-TW" dirty="0">
                <a:latin typeface="SF Pro SC"/>
              </a:rPr>
              <a:t>(index)</a:t>
            </a:r>
            <a:r>
              <a:rPr lang="zh-TW" altLang="en-US" dirty="0">
                <a:latin typeface="SF Pro SC"/>
              </a:rPr>
              <a:t>為</a:t>
            </a:r>
            <a:r>
              <a:rPr lang="zh-CN" altLang="en-US" dirty="0">
                <a:latin typeface="SF Pro SC"/>
              </a:rPr>
              <a:t>新的 </a:t>
            </a:r>
            <a:r>
              <a:rPr lang="en-US" altLang="zh-CN" dirty="0">
                <a:latin typeface="SF Pro SC"/>
              </a:rPr>
              <a:t>jQuery </a:t>
            </a:r>
            <a:r>
              <a:rPr lang="zh-TW" altLang="en-US" dirty="0">
                <a:latin typeface="SF Pro SC"/>
              </a:rPr>
              <a:t>對</a:t>
            </a:r>
            <a:r>
              <a:rPr lang="zh-CN" altLang="en-US" dirty="0">
                <a:latin typeface="SF Pro SC"/>
              </a:rPr>
              <a:t>象。所使用的 </a:t>
            </a:r>
            <a:r>
              <a:rPr lang="en-US" altLang="zh-CN" dirty="0">
                <a:latin typeface="SF Pro SC"/>
              </a:rPr>
              <a:t>index </a:t>
            </a:r>
            <a:r>
              <a:rPr lang="zh-CN" altLang="en-US" dirty="0">
                <a:latin typeface="SF Pro SC"/>
              </a:rPr>
              <a:t>参</a:t>
            </a:r>
            <a:r>
              <a:rPr lang="zh-TW" altLang="en-US" dirty="0">
                <a:latin typeface="SF Pro SC"/>
              </a:rPr>
              <a:t>數表</a:t>
            </a:r>
            <a:r>
              <a:rPr lang="zh-CN" altLang="en-US" dirty="0">
                <a:latin typeface="SF Pro SC"/>
              </a:rPr>
              <a:t>示集合中元素的位置。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30A5B54-D01C-4BCA-B8A7-B7D5C2C70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21" y="3428999"/>
            <a:ext cx="3819403" cy="282717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4B29C4-E983-46A5-90F3-F4556E6FF4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599" y="4894268"/>
            <a:ext cx="1790476" cy="136190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70780D3-F42F-4F9E-B253-99219A5AA5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2599" y="2865895"/>
            <a:ext cx="1856958" cy="1560756"/>
          </a:xfrm>
          <a:prstGeom prst="rect">
            <a:avLst/>
          </a:prstGeom>
          <a:ln w="28575">
            <a:solidFill>
              <a:schemeClr val="accent4">
                <a:lumMod val="75000"/>
              </a:schemeClr>
            </a:solidFill>
            <a:prstDash val="sysDash"/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0DA797A-5C26-4C81-9DB4-AF1936FA6A50}"/>
              </a:ext>
            </a:extLst>
          </p:cNvPr>
          <p:cNvSpPr txBox="1"/>
          <p:nvPr/>
        </p:nvSpPr>
        <p:spPr>
          <a:xfrm>
            <a:off x="1713894" y="5211884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若</a:t>
            </a:r>
            <a:r>
              <a:rPr lang="en-US" altLang="zh-TW" b="1" dirty="0">
                <a:solidFill>
                  <a:srgbClr val="FF0000"/>
                </a:solidFill>
              </a:rPr>
              <a:t>.eq(2) </a:t>
            </a:r>
            <a:r>
              <a:rPr lang="zh-TW" altLang="en-US" b="1" dirty="0">
                <a:solidFill>
                  <a:srgbClr val="FF0000"/>
                </a:solidFill>
              </a:rPr>
              <a:t>結果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DB157DE-A686-4AFE-84CA-9DA8BCC9E513}"/>
              </a:ext>
            </a:extLst>
          </p:cNvPr>
          <p:cNvCxnSpPr/>
          <p:nvPr/>
        </p:nvCxnSpPr>
        <p:spPr>
          <a:xfrm flipV="1">
            <a:off x="1364442" y="5518484"/>
            <a:ext cx="536547" cy="248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E811209-8121-470F-ADE8-4E9F54E3CF13}"/>
              </a:ext>
            </a:extLst>
          </p:cNvPr>
          <p:cNvCxnSpPr>
            <a:stCxn id="11" idx="0"/>
          </p:cNvCxnSpPr>
          <p:nvPr/>
        </p:nvCxnSpPr>
        <p:spPr>
          <a:xfrm flipV="1">
            <a:off x="2333615" y="3826042"/>
            <a:ext cx="1319636" cy="1385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3696BAB-C1CB-4277-A51F-12559EE77268}"/>
              </a:ext>
            </a:extLst>
          </p:cNvPr>
          <p:cNvCxnSpPr/>
          <p:nvPr/>
        </p:nvCxnSpPr>
        <p:spPr>
          <a:xfrm>
            <a:off x="1524000" y="6063916"/>
            <a:ext cx="2478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05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C131A1A-E353-4C16-AC72-D5BAD44898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0FC681-0A92-4C34-9345-83DD65828685}"/>
              </a:ext>
            </a:extLst>
          </p:cNvPr>
          <p:cNvSpPr/>
          <p:nvPr/>
        </p:nvSpPr>
        <p:spPr>
          <a:xfrm>
            <a:off x="312821" y="2126099"/>
            <a:ext cx="4219074" cy="3093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1" dirty="0">
                <a:solidFill>
                  <a:srgbClr val="FF0000"/>
                </a:solidFill>
                <a:latin typeface="Segoe UI" panose="020B0502040204020203" pitchFamily="34" charset="0"/>
              </a:rPr>
              <a:t>定義和使用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Verdana" panose="020B0604030504040204" pitchFamily="34" charset="0"/>
              </a:rPr>
              <a:t>(1):</a:t>
            </a:r>
            <a:r>
              <a:rPr lang="en-US" altLang="zh-TW" sz="1600" dirty="0" err="1">
                <a:latin typeface="Verdana" panose="020B0604030504040204" pitchFamily="34" charset="0"/>
              </a:rPr>
              <a:t>lt</a:t>
            </a:r>
            <a:r>
              <a:rPr lang="en-US" altLang="zh-TW" sz="1600" dirty="0">
                <a:latin typeface="Verdana" panose="020B0604030504040204" pitchFamily="34" charset="0"/>
              </a:rPr>
              <a:t>() </a:t>
            </a:r>
            <a:r>
              <a:rPr lang="zh-TW" altLang="en-US" sz="1600" dirty="0">
                <a:latin typeface="Verdana" panose="020B0604030504040204" pitchFamily="34" charset="0"/>
              </a:rPr>
              <a:t>選擇器選擇索引號小於指定數字的元素。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Verdana" panose="020B0604030504040204" pitchFamily="34" charset="0"/>
              </a:rPr>
              <a:t>(2)</a:t>
            </a:r>
            <a:r>
              <a:rPr lang="zh-TW" altLang="en-US" sz="1600" dirty="0">
                <a:latin typeface="Verdana" panose="020B0604030504040204" pitchFamily="34" charset="0"/>
              </a:rPr>
              <a:t>索引號從 </a:t>
            </a:r>
            <a:r>
              <a:rPr lang="en-US" altLang="zh-TW" sz="1600" dirty="0">
                <a:latin typeface="Verdana" panose="020B0604030504040204" pitchFamily="34" charset="0"/>
              </a:rPr>
              <a:t>0 </a:t>
            </a:r>
            <a:r>
              <a:rPr lang="zh-TW" altLang="en-US" sz="1600" dirty="0">
                <a:latin typeface="Verdana" panose="020B0604030504040204" pitchFamily="34" charset="0"/>
              </a:rPr>
              <a:t>開始。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Verdana" panose="020B0604030504040204" pitchFamily="34" charset="0"/>
              </a:rPr>
              <a:t>(3)</a:t>
            </a:r>
            <a:r>
              <a:rPr lang="zh-TW" altLang="en-US" sz="1600" dirty="0">
                <a:latin typeface="Verdana" panose="020B0604030504040204" pitchFamily="34" charset="0"/>
              </a:rPr>
              <a:t>這主要與另一個選擇器一起使用來選擇組中的第一個元素（如上面的示例中所示）。</a:t>
            </a: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latin typeface="Verdana" panose="020B0604030504040204" pitchFamily="34" charset="0"/>
              </a:rPr>
              <a:t>(4)</a:t>
            </a:r>
            <a:r>
              <a:rPr lang="zh-TW" altLang="en-US" sz="1600" b="1" dirty="0">
                <a:latin typeface="Verdana" panose="020B0604030504040204" pitchFamily="34" charset="0"/>
              </a:rPr>
              <a:t>提示：</a:t>
            </a:r>
            <a:r>
              <a:rPr lang="zh-TW" altLang="en-US" sz="1600" dirty="0">
                <a:latin typeface="Verdana" panose="020B0604030504040204" pitchFamily="34" charset="0"/>
              </a:rPr>
              <a:t>使用</a:t>
            </a:r>
            <a:r>
              <a:rPr lang="en-US" altLang="zh-TW" sz="1600" dirty="0">
                <a:latin typeface="Verdana" panose="020B0604030504040204" pitchFamily="34" charset="0"/>
                <a:hlinkClick r:id="rId2"/>
              </a:rPr>
              <a:t>:</a:t>
            </a:r>
            <a:r>
              <a:rPr lang="en-US" altLang="zh-TW" sz="1600" dirty="0" err="1">
                <a:latin typeface="Verdana" panose="020B0604030504040204" pitchFamily="34" charset="0"/>
                <a:hlinkClick r:id="rId2"/>
              </a:rPr>
              <a:t>gt</a:t>
            </a:r>
            <a:r>
              <a:rPr lang="en-US" altLang="zh-TW" sz="1600" dirty="0">
                <a:latin typeface="Verdana" panose="020B0604030504040204" pitchFamily="34" charset="0"/>
                <a:hlinkClick r:id="rId2"/>
              </a:rPr>
              <a:t> </a:t>
            </a:r>
            <a:r>
              <a:rPr lang="zh-TW" altLang="en-US" sz="1600" dirty="0">
                <a:latin typeface="Verdana" panose="020B0604030504040204" pitchFamily="34" charset="0"/>
                <a:hlinkClick r:id="rId2"/>
              </a:rPr>
              <a:t>選擇器</a:t>
            </a:r>
            <a:r>
              <a:rPr lang="zh-TW" altLang="en-US" sz="1600" dirty="0">
                <a:latin typeface="Verdana" panose="020B0604030504040204" pitchFamily="34" charset="0"/>
              </a:rPr>
              <a:t>選擇索引號大於指定數字的元素。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EB7C6-C13C-4F82-AAE0-F15796457B41}"/>
              </a:ext>
            </a:extLst>
          </p:cNvPr>
          <p:cNvSpPr txBox="1"/>
          <p:nvPr/>
        </p:nvSpPr>
        <p:spPr>
          <a:xfrm>
            <a:off x="1081021" y="663102"/>
            <a:ext cx="35108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err="1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lt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()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方法的使用</a:t>
            </a:r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E98AA71-FFB9-43B8-9AFB-75F5F78C3084}"/>
              </a:ext>
            </a:extLst>
          </p:cNvPr>
          <p:cNvSpPr txBox="1"/>
          <p:nvPr/>
        </p:nvSpPr>
        <p:spPr>
          <a:xfrm>
            <a:off x="6769768" y="513347"/>
            <a:ext cx="4921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jQuery </a:t>
            </a:r>
            <a:r>
              <a:rPr lang="zh-TW" altLang="en-US" dirty="0"/>
              <a:t>的所有選擇器參考：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https://www.w3schools.com/jquery/jquery_ref_selectors.asp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F25844C-4713-4952-BE5B-134988433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2126099"/>
            <a:ext cx="7387483" cy="421855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4832ADF-2AE6-4821-BE21-AF1EDB450C27}"/>
              </a:ext>
            </a:extLst>
          </p:cNvPr>
          <p:cNvSpPr txBox="1"/>
          <p:nvPr/>
        </p:nvSpPr>
        <p:spPr>
          <a:xfrm>
            <a:off x="312821" y="5608361"/>
            <a:ext cx="4315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</a:rPr>
              <a:t>相關：</a:t>
            </a:r>
            <a:r>
              <a:rPr lang="en-US" altLang="zh-TW" sz="2800" b="1" dirty="0" err="1">
                <a:solidFill>
                  <a:srgbClr val="FF0000"/>
                </a:solidFill>
              </a:rPr>
              <a:t>gt</a:t>
            </a:r>
            <a:r>
              <a:rPr lang="en-US" altLang="zh-TW" sz="2800" b="1" dirty="0">
                <a:solidFill>
                  <a:srgbClr val="FF0000"/>
                </a:solidFill>
              </a:rPr>
              <a:t>()</a:t>
            </a:r>
            <a:r>
              <a:rPr lang="zh-TW" altLang="en-US" sz="2800" b="1" dirty="0">
                <a:solidFill>
                  <a:srgbClr val="FF0000"/>
                </a:solidFill>
              </a:rPr>
              <a:t>：大於指定數值</a:t>
            </a:r>
            <a:endParaRPr lang="en-US" altLang="zh-TW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19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07B845F-D8A8-4D6E-BE6C-1CC4906BBB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AD24D03-7E34-4E8A-B7D4-AEACB7FF0969}"/>
              </a:ext>
            </a:extLst>
          </p:cNvPr>
          <p:cNvSpPr txBox="1"/>
          <p:nvPr/>
        </p:nvSpPr>
        <p:spPr>
          <a:xfrm>
            <a:off x="2423744" y="4080827"/>
            <a:ext cx="4368504" cy="18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1" dirty="0"/>
              <a:t>物件</a:t>
            </a:r>
            <a:r>
              <a:rPr lang="en-US" altLang="zh-TW" sz="2000" b="1" dirty="0"/>
              <a:t>.parents().eq(0)    </a:t>
            </a:r>
            <a:r>
              <a:rPr lang="zh-TW" altLang="en-US" sz="2000" b="1" dirty="0"/>
              <a:t>表示父層</a:t>
            </a:r>
            <a:endParaRPr lang="en-US" altLang="zh-TW" sz="2000" b="1" dirty="0"/>
          </a:p>
          <a:p>
            <a:pPr>
              <a:lnSpc>
                <a:spcPct val="150000"/>
              </a:lnSpc>
            </a:pPr>
            <a:r>
              <a:rPr lang="zh-TW" altLang="en-US" sz="2000" b="1" dirty="0"/>
              <a:t>物件</a:t>
            </a:r>
            <a:r>
              <a:rPr lang="en-US" altLang="zh-TW" sz="2000" b="1" dirty="0"/>
              <a:t>.parents().eq(1)    </a:t>
            </a:r>
            <a:r>
              <a:rPr lang="zh-TW" altLang="en-US" sz="2000" b="1" dirty="0"/>
              <a:t>表示父父層</a:t>
            </a:r>
            <a:endParaRPr lang="en-US" altLang="zh-TW" sz="2000" b="1" dirty="0"/>
          </a:p>
          <a:p>
            <a:pPr>
              <a:lnSpc>
                <a:spcPct val="150000"/>
              </a:lnSpc>
            </a:pPr>
            <a:r>
              <a:rPr lang="zh-TW" altLang="en-US" sz="2000" b="1" dirty="0"/>
              <a:t>物件</a:t>
            </a:r>
            <a:r>
              <a:rPr lang="en-US" altLang="zh-TW" sz="2000" b="1" dirty="0"/>
              <a:t>.parents().eq(2)    </a:t>
            </a:r>
            <a:r>
              <a:rPr lang="zh-TW" altLang="en-US" sz="2000" b="1" dirty="0"/>
              <a:t>表示父父父層</a:t>
            </a:r>
            <a:endParaRPr lang="en-US" altLang="zh-TW" sz="2000" b="1" dirty="0"/>
          </a:p>
          <a:p>
            <a:pPr>
              <a:lnSpc>
                <a:spcPct val="150000"/>
              </a:lnSpc>
            </a:pPr>
            <a:endParaRPr lang="zh-TW" altLang="en-US" sz="2000" b="1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5590077-2CB9-47AA-AE7C-5692EE6CCB81}"/>
              </a:ext>
            </a:extLst>
          </p:cNvPr>
          <p:cNvSpPr txBox="1"/>
          <p:nvPr/>
        </p:nvSpPr>
        <p:spPr>
          <a:xfrm>
            <a:off x="1628274" y="2577925"/>
            <a:ext cx="63995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parents()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與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eq()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的結合運用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274ED59-E2C8-447B-80DA-19CEB2732479}"/>
              </a:ext>
            </a:extLst>
          </p:cNvPr>
          <p:cNvSpPr txBox="1"/>
          <p:nvPr/>
        </p:nvSpPr>
        <p:spPr>
          <a:xfrm>
            <a:off x="1628274" y="453475"/>
            <a:ext cx="47852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parent()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方法的使用</a:t>
            </a:r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E046093-BA0E-47BA-BC96-5EEED7E5F2FC}"/>
              </a:ext>
            </a:extLst>
          </p:cNvPr>
          <p:cNvSpPr txBox="1"/>
          <p:nvPr/>
        </p:nvSpPr>
        <p:spPr>
          <a:xfrm>
            <a:off x="1628274" y="1364851"/>
            <a:ext cx="9087744" cy="959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1" dirty="0"/>
              <a:t>定義：</a:t>
            </a:r>
            <a:r>
              <a:rPr lang="en-US" altLang="zh-TW" sz="2000" b="1" dirty="0"/>
              <a:t>parent() </a:t>
            </a:r>
            <a:r>
              <a:rPr lang="zh-TW" altLang="en-US" sz="2000" b="1" dirty="0"/>
              <a:t>方法為回到父層物件。如同 </a:t>
            </a:r>
            <a:r>
              <a:rPr lang="en-US" altLang="zh-TW" sz="2000" b="1" dirty="0"/>
              <a:t>JavaScript </a:t>
            </a:r>
            <a:r>
              <a:rPr lang="zh-TW" altLang="en-US" sz="2000" b="1" dirty="0"/>
              <a:t>的 </a:t>
            </a:r>
            <a:r>
              <a:rPr lang="en-US" altLang="zh-TW" sz="2000" b="1" dirty="0" err="1"/>
              <a:t>parentNode</a:t>
            </a:r>
            <a:r>
              <a:rPr lang="en-US" altLang="zh-TW" sz="2000" b="1" dirty="0"/>
              <a:t> </a:t>
            </a:r>
            <a:r>
              <a:rPr lang="zh-TW" altLang="en-US" sz="2000" b="1" dirty="0"/>
              <a:t>屬性。</a:t>
            </a:r>
            <a:endParaRPr lang="en-US" altLang="zh-TW" sz="2000" b="1" dirty="0"/>
          </a:p>
          <a:p>
            <a:pPr>
              <a:lnSpc>
                <a:spcPct val="150000"/>
              </a:lnSpc>
            </a:pPr>
            <a:r>
              <a:rPr lang="zh-TW" altLang="en-US" sz="2000" b="1" dirty="0"/>
              <a:t>           可以用 </a:t>
            </a:r>
            <a:r>
              <a:rPr lang="en-US" altLang="zh-TW" sz="2000" b="1" dirty="0"/>
              <a:t>parent().parent()… </a:t>
            </a:r>
            <a:r>
              <a:rPr lang="zh-TW" altLang="en-US" sz="2000" b="1" dirty="0"/>
              <a:t>回到祖先層物件。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E3CCE9-743E-4111-90AC-C6C9C4D23C24}"/>
              </a:ext>
            </a:extLst>
          </p:cNvPr>
          <p:cNvSpPr/>
          <p:nvPr/>
        </p:nvSpPr>
        <p:spPr>
          <a:xfrm>
            <a:off x="1628274" y="3622425"/>
            <a:ext cx="78614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/>
              <a:t>定義：</a:t>
            </a:r>
            <a:r>
              <a:rPr lang="en-US" altLang="zh-TW" sz="2000" b="1" dirty="0"/>
              <a:t>parents() </a:t>
            </a:r>
            <a:r>
              <a:rPr lang="zh-TW" altLang="en-US" sz="2000" b="1" dirty="0"/>
              <a:t>方法為回到祖先層物件，可配合 </a:t>
            </a:r>
            <a:r>
              <a:rPr lang="en-US" altLang="zh-TW" sz="2000" b="1" dirty="0"/>
              <a:t>eq(</a:t>
            </a:r>
            <a:r>
              <a:rPr lang="zh-TW" altLang="en-US" sz="2000" b="1" dirty="0"/>
              <a:t>索引值</a:t>
            </a:r>
            <a:r>
              <a:rPr lang="en-US" altLang="zh-TW" sz="2000" b="1" dirty="0"/>
              <a:t>) </a:t>
            </a:r>
            <a:r>
              <a:rPr lang="zh-TW" altLang="en-US" sz="2000" b="1" dirty="0"/>
              <a:t>使用。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014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07B845F-D8A8-4D6E-BE6C-1CC4906BBB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46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AD24D03-7E34-4E8A-B7D4-AEACB7FF0969}"/>
              </a:ext>
            </a:extLst>
          </p:cNvPr>
          <p:cNvSpPr txBox="1"/>
          <p:nvPr/>
        </p:nvSpPr>
        <p:spPr>
          <a:xfrm>
            <a:off x="1057441" y="1683327"/>
            <a:ext cx="5038559" cy="1420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1" dirty="0"/>
              <a:t>物件</a:t>
            </a:r>
            <a:r>
              <a:rPr lang="en-US" altLang="zh-TW" sz="2000" b="1" dirty="0"/>
              <a:t>.children().eq(0)    </a:t>
            </a:r>
            <a:r>
              <a:rPr lang="zh-TW" altLang="en-US" sz="2000" b="1" dirty="0"/>
              <a:t>表示第一個子元素</a:t>
            </a:r>
            <a:endParaRPr lang="en-US" altLang="zh-TW" sz="2000" b="1" dirty="0"/>
          </a:p>
          <a:p>
            <a:pPr>
              <a:lnSpc>
                <a:spcPct val="150000"/>
              </a:lnSpc>
            </a:pPr>
            <a:r>
              <a:rPr lang="zh-TW" altLang="en-US" sz="2000" b="1" dirty="0"/>
              <a:t>物件</a:t>
            </a:r>
            <a:r>
              <a:rPr lang="en-US" altLang="zh-TW" sz="2000" b="1" dirty="0"/>
              <a:t>.children().eq(1)    </a:t>
            </a:r>
            <a:r>
              <a:rPr lang="zh-TW" altLang="en-US" sz="2000" b="1" dirty="0"/>
              <a:t>表示第二個子元素</a:t>
            </a:r>
            <a:endParaRPr lang="en-US" altLang="zh-TW" sz="2000" b="1" dirty="0"/>
          </a:p>
          <a:p>
            <a:pPr>
              <a:lnSpc>
                <a:spcPct val="150000"/>
              </a:lnSpc>
            </a:pPr>
            <a:r>
              <a:rPr lang="zh-TW" altLang="en-US" sz="2000" b="1" dirty="0"/>
              <a:t>物件</a:t>
            </a:r>
            <a:r>
              <a:rPr lang="en-US" altLang="zh-TW" sz="2000" b="1" dirty="0"/>
              <a:t>.</a:t>
            </a:r>
            <a:r>
              <a:rPr lang="en-US" altLang="zh-TW" sz="2000" b="1" dirty="0" err="1"/>
              <a:t>children.eq</a:t>
            </a:r>
            <a:r>
              <a:rPr lang="en-US" altLang="zh-TW" sz="2000" b="1" dirty="0"/>
              <a:t>(2)    </a:t>
            </a:r>
            <a:r>
              <a:rPr lang="zh-TW" altLang="en-US" sz="2000" b="1" dirty="0"/>
              <a:t>表示第三個子元素孩</a:t>
            </a:r>
            <a:endParaRPr lang="en-US" altLang="zh-TW" sz="20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274ED59-E2C8-447B-80DA-19CEB2732479}"/>
              </a:ext>
            </a:extLst>
          </p:cNvPr>
          <p:cNvSpPr txBox="1"/>
          <p:nvPr/>
        </p:nvSpPr>
        <p:spPr>
          <a:xfrm>
            <a:off x="-54883" y="420118"/>
            <a:ext cx="123017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children(selector)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方法的使用 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-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可以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eq()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的結合運用</a:t>
            </a:r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E046093-BA0E-47BA-BC96-5EEED7E5F2FC}"/>
              </a:ext>
            </a:extLst>
          </p:cNvPr>
          <p:cNvSpPr txBox="1"/>
          <p:nvPr/>
        </p:nvSpPr>
        <p:spPr>
          <a:xfrm>
            <a:off x="1021987" y="1185947"/>
            <a:ext cx="7920758" cy="497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b="1" dirty="0"/>
              <a:t>定義：</a:t>
            </a:r>
            <a:r>
              <a:rPr lang="en-US" altLang="zh-TW" sz="2000" b="1" dirty="0"/>
              <a:t>children</a:t>
            </a:r>
            <a:r>
              <a:rPr lang="zh-TW" altLang="en-US" sz="2000" b="1" dirty="0"/>
              <a:t>（選擇器） 方法返回被選元素的所有直接子元素。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CCFCDA6-2B47-4447-957D-03F545687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959" y="3161980"/>
            <a:ext cx="7171041" cy="369602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998B792-7508-44A0-9894-6296E3FABBD5}"/>
              </a:ext>
            </a:extLst>
          </p:cNvPr>
          <p:cNvSpPr txBox="1"/>
          <p:nvPr/>
        </p:nvSpPr>
        <p:spPr>
          <a:xfrm>
            <a:off x="337930" y="3447919"/>
            <a:ext cx="4303643" cy="263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如果給定表示 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DOM 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元素集合的 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jQuery 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物件，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.children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（） 方法允許我們檢索 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DOM 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樹中的這些元素，並用匹配元素構造新的 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jQuery 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物件。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.find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（） 和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.children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（） 方法類似，不過後者只沿著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DOM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樹向下遍歷單一層級。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請注意，與大多數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jQuery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方法一樣，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.children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（） 不返回文本節點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如果需要獲得包含文本和註釋節點在內的所有子節點，請使用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.contents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（）。</a:t>
            </a:r>
          </a:p>
        </p:txBody>
      </p:sp>
    </p:spTree>
    <p:extLst>
      <p:ext uri="{BB962C8B-B14F-4D97-AF65-F5344CB8AC3E}">
        <p14:creationId xmlns:p14="http://schemas.microsoft.com/office/powerpoint/2010/main" val="255444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4D0C594-D7A5-445A-9FEF-609BCC6BD3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47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4F9C9F9-E527-4BD6-AD55-268318D1F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97" y="354393"/>
            <a:ext cx="9563929" cy="4694327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E7D3D77B-882F-4CEC-82A4-286505DCF3C7}"/>
              </a:ext>
            </a:extLst>
          </p:cNvPr>
          <p:cNvGrpSpPr/>
          <p:nvPr/>
        </p:nvGrpSpPr>
        <p:grpSpPr>
          <a:xfrm>
            <a:off x="7335078" y="2527546"/>
            <a:ext cx="4559025" cy="4193929"/>
            <a:chOff x="7036904" y="2234741"/>
            <a:chExt cx="4559025" cy="419392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7AF94DD-0EE7-47F6-A527-CE8468E8C915}"/>
                </a:ext>
              </a:extLst>
            </p:cNvPr>
            <p:cNvSpPr/>
            <p:nvPr/>
          </p:nvSpPr>
          <p:spPr>
            <a:xfrm>
              <a:off x="7036904" y="2234741"/>
              <a:ext cx="4559025" cy="41939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A62C3338-A6FC-4513-B488-C7466DDF0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9983" y="2927886"/>
              <a:ext cx="4038950" cy="1097375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1B788819-3663-46F4-A587-2346987D0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9983" y="4179722"/>
              <a:ext cx="4000847" cy="1973751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47664C50-EA2E-4060-AE5D-0B2251CE1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56656" y="2408752"/>
              <a:ext cx="3985605" cy="4267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93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794B1EC-BE6B-4836-AEAE-56A73CFAA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48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BF323F7-EAF8-4429-BBE1-027CB87512EA}"/>
              </a:ext>
            </a:extLst>
          </p:cNvPr>
          <p:cNvSpPr txBox="1"/>
          <p:nvPr/>
        </p:nvSpPr>
        <p:spPr>
          <a:xfrm>
            <a:off x="1323474" y="386077"/>
            <a:ext cx="2757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chemeClr val="accent6">
                    <a:lumMod val="50000"/>
                  </a:schemeClr>
                </a:solidFill>
              </a:rPr>
              <a:t>$(this) </a:t>
            </a:r>
            <a:r>
              <a:rPr lang="zh-TW" altLang="en-US" sz="3200" b="1" dirty="0">
                <a:solidFill>
                  <a:schemeClr val="accent6">
                    <a:lumMod val="50000"/>
                  </a:schemeClr>
                </a:solidFill>
              </a:rPr>
              <a:t>的介紹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D1D44C6-15B0-4055-8A2A-03AAC585A17C}"/>
              </a:ext>
            </a:extLst>
          </p:cNvPr>
          <p:cNvSpPr txBox="1"/>
          <p:nvPr/>
        </p:nvSpPr>
        <p:spPr>
          <a:xfrm>
            <a:off x="753979" y="1216629"/>
            <a:ext cx="855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注意： </a:t>
            </a:r>
            <a:r>
              <a:rPr lang="en-US" altLang="zh-TW" dirty="0"/>
              <a:t>this </a:t>
            </a:r>
            <a:r>
              <a:rPr lang="zh-TW" altLang="en-US" dirty="0"/>
              <a:t>是取得目前處理的元素。而 </a:t>
            </a:r>
            <a:r>
              <a:rPr lang="en-US" altLang="zh-TW" dirty="0"/>
              <a:t>$(this) </a:t>
            </a:r>
            <a:r>
              <a:rPr lang="zh-TW" altLang="en-US" dirty="0"/>
              <a:t>是取得目前被</a:t>
            </a:r>
            <a:r>
              <a:rPr lang="en-US" altLang="zh-TW" dirty="0"/>
              <a:t>jQuery </a:t>
            </a:r>
            <a:r>
              <a:rPr lang="zh-TW" altLang="en-US" dirty="0"/>
              <a:t>處理的對象。它們是不同的，請注意。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A3732B-4CE2-4281-9649-6D9172D11C71}"/>
              </a:ext>
            </a:extLst>
          </p:cNvPr>
          <p:cNvSpPr/>
          <p:nvPr/>
        </p:nvSpPr>
        <p:spPr>
          <a:xfrm>
            <a:off x="753979" y="1637995"/>
            <a:ext cx="4146885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>
                <a:latin typeface="Lucida Console" panose="020B0609040504020204" pitchFamily="49" charset="0"/>
              </a:rPr>
              <a:t>$("#textbox").hover( </a:t>
            </a:r>
            <a:br>
              <a:rPr lang="en-US" altLang="zh-TW" dirty="0">
                <a:latin typeface="Lucida Console" panose="020B0609040504020204" pitchFamily="49" charset="0"/>
              </a:rPr>
            </a:br>
            <a:r>
              <a:rPr lang="en-US" altLang="zh-TW" dirty="0">
                <a:latin typeface="Lucida Console" panose="020B0609040504020204" pitchFamily="49" charset="0"/>
              </a:rPr>
              <a:t>      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</a:rPr>
              <a:t>function</a:t>
            </a:r>
            <a:r>
              <a:rPr lang="en-US" altLang="zh-TW" dirty="0">
                <a:latin typeface="Lucida Console" panose="020B0609040504020204" pitchFamily="49" charset="0"/>
              </a:rPr>
              <a:t>() { </a:t>
            </a:r>
            <a:br>
              <a:rPr lang="en-US" altLang="zh-TW" dirty="0">
                <a:latin typeface="Lucida Console" panose="020B0609040504020204" pitchFamily="49" charset="0"/>
              </a:rPr>
            </a:br>
            <a:r>
              <a:rPr lang="en-US" altLang="zh-TW" dirty="0">
                <a:latin typeface="Lucida Console" panose="020B0609040504020204" pitchFamily="49" charset="0"/>
              </a:rPr>
              <a:t>           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this</a:t>
            </a:r>
            <a:r>
              <a:rPr lang="en-US" altLang="zh-TW" dirty="0" err="1">
                <a:latin typeface="Lucida Console" panose="020B0609040504020204" pitchFamily="49" charset="0"/>
              </a:rPr>
              <a:t>.title</a:t>
            </a:r>
            <a:r>
              <a:rPr lang="en-US" altLang="zh-TW" dirty="0">
                <a:latin typeface="Lucida Console" panose="020B0609040504020204" pitchFamily="49" charset="0"/>
              </a:rPr>
              <a:t> =</a:t>
            </a:r>
            <a:r>
              <a:rPr lang="en-US" altLang="zh-TW" dirty="0">
                <a:latin typeface="Arial" panose="020B0604020202020204" pitchFamily="34" charset="0"/>
              </a:rPr>
              <a:t> </a:t>
            </a:r>
            <a:r>
              <a:rPr lang="en-US" altLang="zh-TW" dirty="0">
                <a:latin typeface="Lucida Console" panose="020B0609040504020204" pitchFamily="49" charset="0"/>
              </a:rPr>
              <a:t>"Test"; </a:t>
            </a:r>
            <a:br>
              <a:rPr lang="en-US" altLang="zh-TW" dirty="0">
                <a:latin typeface="Lucida Console" panose="020B0609040504020204" pitchFamily="49" charset="0"/>
              </a:rPr>
            </a:br>
            <a:r>
              <a:rPr lang="en-US" altLang="zh-TW" dirty="0">
                <a:latin typeface="Lucida Console" panose="020B0609040504020204" pitchFamily="49" charset="0"/>
              </a:rPr>
              <a:t>      }, </a:t>
            </a:r>
            <a:br>
              <a:rPr lang="en-US" altLang="zh-TW" dirty="0">
                <a:latin typeface="Lucida Console" panose="020B0609040504020204" pitchFamily="49" charset="0"/>
              </a:rPr>
            </a:br>
            <a:r>
              <a:rPr lang="en-US" altLang="zh-TW" dirty="0">
                <a:latin typeface="Lucida Console" panose="020B0609040504020204" pitchFamily="49" charset="0"/>
              </a:rPr>
              <a:t>      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fucntion</a:t>
            </a:r>
            <a:r>
              <a:rPr lang="en-US" altLang="zh-TW" dirty="0">
                <a:latin typeface="Lucida Console" panose="020B0609040504020204" pitchFamily="49" charset="0"/>
              </a:rPr>
              <a:t>() { </a:t>
            </a:r>
            <a:br>
              <a:rPr lang="en-US" altLang="zh-TW" dirty="0">
                <a:latin typeface="Lucida Console" panose="020B0609040504020204" pitchFamily="49" charset="0"/>
              </a:rPr>
            </a:br>
            <a:r>
              <a:rPr lang="en-US" altLang="zh-TW" dirty="0">
                <a:latin typeface="Lucida Console" panose="020B0609040504020204" pitchFamily="49" charset="0"/>
              </a:rPr>
              <a:t>          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this</a:t>
            </a:r>
            <a:r>
              <a:rPr lang="en-US" altLang="zh-TW" dirty="0" err="1">
                <a:latin typeface="Lucida Console" panose="020B0609040504020204" pitchFamily="49" charset="0"/>
              </a:rPr>
              <a:t>.title</a:t>
            </a:r>
            <a:r>
              <a:rPr lang="en-US" altLang="zh-TW" dirty="0">
                <a:latin typeface="Lucida Console" panose="020B0609040504020204" pitchFamily="49" charset="0"/>
              </a:rPr>
              <a:t> =</a:t>
            </a:r>
            <a:r>
              <a:rPr lang="en-US" altLang="zh-TW" dirty="0">
                <a:latin typeface="Arial" panose="020B0604020202020204" pitchFamily="34" charset="0"/>
              </a:rPr>
              <a:t> </a:t>
            </a:r>
            <a:r>
              <a:rPr lang="en-US" altLang="zh-TW" dirty="0">
                <a:latin typeface="Lucida Console" panose="020B0609040504020204" pitchFamily="49" charset="0"/>
              </a:rPr>
              <a:t>"OK”; </a:t>
            </a:r>
            <a:br>
              <a:rPr lang="en-US" altLang="zh-TW" dirty="0">
                <a:latin typeface="Arial" panose="020B0604020202020204" pitchFamily="34" charset="0"/>
              </a:rPr>
            </a:br>
            <a:r>
              <a:rPr lang="en-US" altLang="zh-TW" dirty="0">
                <a:latin typeface="Arial" panose="020B0604020202020204" pitchFamily="34" charset="0"/>
              </a:rPr>
              <a:t>  </a:t>
            </a:r>
            <a:r>
              <a:rPr lang="en-US" altLang="zh-TW" dirty="0">
                <a:latin typeface="Lucida Console" panose="020B0609040504020204" pitchFamily="49" charset="0"/>
              </a:rPr>
              <a:t>    } </a:t>
            </a:r>
            <a:br>
              <a:rPr lang="en-US" altLang="zh-TW" dirty="0">
                <a:latin typeface="Lucida Console" panose="020B0609040504020204" pitchFamily="49" charset="0"/>
              </a:rPr>
            </a:br>
            <a:r>
              <a:rPr lang="en-US" altLang="zh-TW" dirty="0">
                <a:latin typeface="Lucida Console" panose="020B0609040504020204" pitchFamily="49" charset="0"/>
              </a:rPr>
              <a:t>);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18FE10-F7B9-4788-BC75-7DE54B2E01C1}"/>
              </a:ext>
            </a:extLst>
          </p:cNvPr>
          <p:cNvSpPr/>
          <p:nvPr/>
        </p:nvSpPr>
        <p:spPr>
          <a:xfrm>
            <a:off x="681789" y="3581426"/>
            <a:ext cx="44856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Lucida Console" panose="020B0609040504020204" pitchFamily="49" charset="0"/>
              </a:rPr>
              <a:t>這裡</a:t>
            </a:r>
            <a:r>
              <a:rPr lang="zh-CN" altLang="en-US" dirty="0">
                <a:latin typeface="Lucida Console" panose="020B0609040504020204" pitchFamily="49" charset="0"/>
              </a:rPr>
              <a:t>的</a:t>
            </a:r>
            <a:r>
              <a:rPr lang="zh-TW" altLang="en-US" dirty="0">
                <a:latin typeface="Lucida Console" panose="020B0609040504020204" pitchFamily="49" charset="0"/>
              </a:rPr>
              <a:t> </a:t>
            </a:r>
            <a:r>
              <a:rPr lang="en-US" altLang="zh-CN" dirty="0">
                <a:latin typeface="Lucida Console" panose="020B0609040504020204" pitchFamily="49" charset="0"/>
              </a:rPr>
              <a:t>this</a:t>
            </a:r>
            <a:r>
              <a:rPr lang="zh-TW" altLang="en-US" dirty="0">
                <a:latin typeface="Lucida Console" panose="020B0609040504020204" pitchFamily="49" charset="0"/>
              </a:rPr>
              <a:t> 其實</a:t>
            </a:r>
            <a:r>
              <a:rPr lang="zh-CN" altLang="en-US" dirty="0">
                <a:latin typeface="Lucida Console" panose="020B0609040504020204" pitchFamily="49" charset="0"/>
              </a:rPr>
              <a:t>是一</a:t>
            </a:r>
            <a:r>
              <a:rPr lang="zh-TW" altLang="en-US" dirty="0">
                <a:latin typeface="Lucida Console" panose="020B0609040504020204" pitchFamily="49" charset="0"/>
              </a:rPr>
              <a:t>個 </a:t>
            </a:r>
            <a:r>
              <a:rPr lang="en-US" altLang="zh-CN" dirty="0">
                <a:latin typeface="Lucida Console" panose="020B0609040504020204" pitchFamily="49" charset="0"/>
              </a:rPr>
              <a:t>Html </a:t>
            </a:r>
            <a:r>
              <a:rPr lang="zh-CN" altLang="en-US" dirty="0">
                <a:latin typeface="Lucida Console" panose="020B0609040504020204" pitchFamily="49" charset="0"/>
              </a:rPr>
              <a:t>元素</a:t>
            </a:r>
            <a:r>
              <a:rPr lang="en-US" altLang="zh-CN" dirty="0">
                <a:latin typeface="Lucida Console" panose="020B0609040504020204" pitchFamily="49" charset="0"/>
              </a:rPr>
              <a:t>(textbox)</a:t>
            </a:r>
            <a:r>
              <a:rPr lang="zh-CN" altLang="en-US" dirty="0">
                <a:latin typeface="Lucida Console" panose="020B0609040504020204" pitchFamily="49" charset="0"/>
              </a:rPr>
              <a:t>，</a:t>
            </a:r>
            <a:r>
              <a:rPr lang="en-US" altLang="zh-CN" dirty="0">
                <a:latin typeface="Lucida Console" panose="020B0609040504020204" pitchFamily="49" charset="0"/>
              </a:rPr>
              <a:t>textbox</a:t>
            </a:r>
            <a:r>
              <a:rPr lang="zh-TW" altLang="en-US" dirty="0">
                <a:latin typeface="Lucida Console" panose="020B0609040504020204" pitchFamily="49" charset="0"/>
              </a:rPr>
              <a:t> </a:t>
            </a:r>
            <a:r>
              <a:rPr lang="zh-CN" altLang="en-US" dirty="0">
                <a:latin typeface="Lucida Console" panose="020B0609040504020204" pitchFamily="49" charset="0"/>
              </a:rPr>
              <a:t>有</a:t>
            </a:r>
            <a:r>
              <a:rPr lang="zh-TW" altLang="en-US" dirty="0">
                <a:latin typeface="Lucida Console" panose="020B0609040504020204" pitchFamily="49" charset="0"/>
              </a:rPr>
              <a:t> </a:t>
            </a:r>
            <a:r>
              <a:rPr lang="en-US" altLang="zh-CN" dirty="0">
                <a:latin typeface="Lucida Console" panose="020B0609040504020204" pitchFamily="49" charset="0"/>
              </a:rPr>
              <a:t>text</a:t>
            </a:r>
            <a:r>
              <a:rPr lang="zh-TW" altLang="en-US" dirty="0">
                <a:latin typeface="Lucida Console" panose="020B0609040504020204" pitchFamily="49" charset="0"/>
              </a:rPr>
              <a:t> 屬</a:t>
            </a:r>
            <a:r>
              <a:rPr lang="zh-CN" altLang="en-US" dirty="0">
                <a:latin typeface="Lucida Console" panose="020B0609040504020204" pitchFamily="49" charset="0"/>
              </a:rPr>
              <a:t>性，所以</a:t>
            </a:r>
            <a:r>
              <a:rPr lang="zh-TW" altLang="en-US" dirty="0">
                <a:latin typeface="Lucida Console" panose="020B0609040504020204" pitchFamily="49" charset="0"/>
              </a:rPr>
              <a:t>這樣寫</a:t>
            </a:r>
            <a:r>
              <a:rPr lang="zh-CN" altLang="en-US" dirty="0">
                <a:latin typeface="Lucida Console" panose="020B0609040504020204" pitchFamily="49" charset="0"/>
              </a:rPr>
              <a:t>是完全没有什</a:t>
            </a:r>
            <a:r>
              <a:rPr lang="zh-TW" altLang="en-US" dirty="0">
                <a:latin typeface="Lucida Console" panose="020B0609040504020204" pitchFamily="49" charset="0"/>
              </a:rPr>
              <a:t>麼問題</a:t>
            </a:r>
            <a:r>
              <a:rPr lang="zh-CN" altLang="en-US" dirty="0">
                <a:latin typeface="Lucida Console" panose="020B0609040504020204" pitchFamily="49" charset="0"/>
              </a:rPr>
              <a:t>的。但是如果</a:t>
            </a:r>
            <a:r>
              <a:rPr lang="zh-TW" altLang="en-US" dirty="0">
                <a:latin typeface="Lucida Console" panose="020B0609040504020204" pitchFamily="49" charset="0"/>
              </a:rPr>
              <a:t>將 </a:t>
            </a:r>
            <a:r>
              <a:rPr lang="en-US" altLang="zh-CN" dirty="0">
                <a:latin typeface="Lucida Console" panose="020B0609040504020204" pitchFamily="49" charset="0"/>
              </a:rPr>
              <a:t>this</a:t>
            </a:r>
            <a:r>
              <a:rPr lang="zh-TW" altLang="en-US" dirty="0">
                <a:latin typeface="Lucida Console" panose="020B0609040504020204" pitchFamily="49" charset="0"/>
              </a:rPr>
              <a:t> 換</a:t>
            </a:r>
            <a:r>
              <a:rPr lang="zh-CN" altLang="en-US" dirty="0">
                <a:latin typeface="Lucida Console" panose="020B0609040504020204" pitchFamily="49" charset="0"/>
              </a:rPr>
              <a:t>成</a:t>
            </a:r>
            <a:r>
              <a:rPr lang="zh-TW" altLang="en-US" dirty="0">
                <a:latin typeface="Lucida Console" panose="020B0609040504020204" pitchFamily="49" charset="0"/>
              </a:rPr>
              <a:t> </a:t>
            </a:r>
            <a:r>
              <a:rPr lang="en-US" altLang="zh-CN" dirty="0">
                <a:latin typeface="Lucida Console" panose="020B0609040504020204" pitchFamily="49" charset="0"/>
              </a:rPr>
              <a:t>$(this)</a:t>
            </a:r>
            <a:r>
              <a:rPr lang="zh-TW" altLang="en-US" dirty="0">
                <a:latin typeface="Lucida Console" panose="020B0609040504020204" pitchFamily="49" charset="0"/>
              </a:rPr>
              <a:t> </a:t>
            </a:r>
            <a:r>
              <a:rPr lang="zh-CN" altLang="en-US" dirty="0">
                <a:latin typeface="Lucida Console" panose="020B0609040504020204" pitchFamily="49" charset="0"/>
              </a:rPr>
              <a:t>就不是那回事</a:t>
            </a:r>
            <a:r>
              <a:rPr lang="zh-CN" altLang="en-US" dirty="0">
                <a:latin typeface="Arial" panose="020B0604020202020204" pitchFamily="34" charset="0"/>
              </a:rPr>
              <a:t>了，</a:t>
            </a:r>
            <a:r>
              <a:rPr lang="zh-TW" altLang="en-US" dirty="0">
                <a:latin typeface="Arial" panose="020B0604020202020204" pitchFamily="34" charset="0"/>
              </a:rPr>
              <a:t>錯誤產生了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9F905D-6FE4-4EE5-970C-78AB755227F1}"/>
              </a:ext>
            </a:extLst>
          </p:cNvPr>
          <p:cNvSpPr/>
          <p:nvPr/>
        </p:nvSpPr>
        <p:spPr>
          <a:xfrm>
            <a:off x="753979" y="4614590"/>
            <a:ext cx="4219074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錯誤程式碼： </a:t>
            </a:r>
            <a:br>
              <a:rPr lang="en-US" altLang="zh-TW" dirty="0"/>
            </a:br>
            <a:r>
              <a:rPr lang="en-US" altLang="zh-TW" dirty="0">
                <a:latin typeface="Lucida Console" panose="020B0609040504020204" pitchFamily="49" charset="0"/>
              </a:rPr>
              <a:t>$("#textbox").hover( </a:t>
            </a:r>
            <a:br>
              <a:rPr lang="en-US" altLang="zh-TW" dirty="0"/>
            </a:br>
            <a:r>
              <a:rPr lang="en-US" altLang="zh-TW" dirty="0">
                <a:latin typeface="Arial" panose="020B0604020202020204" pitchFamily="34" charset="0"/>
              </a:rPr>
              <a:t>       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</a:rPr>
              <a:t>function</a:t>
            </a:r>
            <a:r>
              <a:rPr lang="en-US" altLang="zh-TW" dirty="0">
                <a:latin typeface="Lucida Console" panose="020B0609040504020204" pitchFamily="49" charset="0"/>
              </a:rPr>
              <a:t>() { </a:t>
            </a:r>
            <a:br>
              <a:rPr lang="en-US" altLang="zh-TW" dirty="0"/>
            </a:br>
            <a:r>
              <a:rPr lang="en-US" altLang="zh-TW" dirty="0">
                <a:latin typeface="Lucida Console" panose="020B0609040504020204" pitchFamily="49" charset="0"/>
              </a:rPr>
              <a:t>          $(this).title </a:t>
            </a:r>
            <a:r>
              <a:rPr lang="zh-TW" altLang="en-US" dirty="0">
                <a:latin typeface="Lucida Console" panose="020B0609040504020204" pitchFamily="49" charset="0"/>
              </a:rPr>
              <a:t>＝ </a:t>
            </a:r>
            <a:r>
              <a:rPr lang="en-US" altLang="zh-TW" dirty="0">
                <a:latin typeface="Lucida Console" panose="020B0609040504020204" pitchFamily="49" charset="0"/>
              </a:rPr>
              <a:t>"Test"; </a:t>
            </a:r>
            <a:br>
              <a:rPr lang="en-US" altLang="zh-TW" dirty="0"/>
            </a:br>
            <a:r>
              <a:rPr lang="en-US" altLang="zh-TW" dirty="0">
                <a:latin typeface="Lucida Console" panose="020B0609040504020204" pitchFamily="49" charset="0"/>
              </a:rPr>
              <a:t>       }, </a:t>
            </a:r>
            <a:br>
              <a:rPr lang="en-US" altLang="zh-TW" dirty="0"/>
            </a:br>
            <a:r>
              <a:rPr lang="en-US" altLang="zh-TW" dirty="0">
                <a:latin typeface="Arial" panose="020B0604020202020204" pitchFamily="34" charset="0"/>
              </a:rPr>
              <a:t>       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</a:rPr>
              <a:t>function</a:t>
            </a:r>
            <a:r>
              <a:rPr lang="en-US" altLang="zh-TW" dirty="0">
                <a:latin typeface="Lucida Console" panose="020B0609040504020204" pitchFamily="49" charset="0"/>
              </a:rPr>
              <a:t>() { </a:t>
            </a:r>
            <a:br>
              <a:rPr lang="en-US" altLang="zh-TW" dirty="0"/>
            </a:br>
            <a:r>
              <a:rPr lang="en-US" altLang="zh-TW" dirty="0">
                <a:latin typeface="Lucida Console" panose="020B0609040504020204" pitchFamily="49" charset="0"/>
              </a:rPr>
              <a:t>          $(this).title = "OK"; </a:t>
            </a:r>
            <a:br>
              <a:rPr lang="en-US" altLang="zh-TW" dirty="0"/>
            </a:br>
            <a:r>
              <a:rPr lang="en-US" altLang="zh-TW" dirty="0">
                <a:latin typeface="Lucida Console" panose="020B0609040504020204" pitchFamily="49" charset="0"/>
              </a:rPr>
              <a:t>       } </a:t>
            </a:r>
            <a:br>
              <a:rPr lang="en-US" altLang="zh-TW" dirty="0"/>
            </a:br>
            <a:r>
              <a:rPr lang="en-US" altLang="zh-TW" dirty="0">
                <a:latin typeface="Lucida Console" panose="020B0609040504020204" pitchFamily="49" charset="0"/>
              </a:rPr>
              <a:t>);</a:t>
            </a:r>
            <a:endParaRPr lang="zh-TW" alt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37B9251-ABA6-4772-A93B-F06060F75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879859"/>
            <a:ext cx="5157537" cy="7970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150000"/>
              </a:lnSpc>
              <a:buClrTx/>
            </a:pP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這裡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的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$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(this)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是一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個 </a:t>
            </a:r>
            <a:r>
              <a:rPr lang="zh-TW" altLang="zh-TW" sz="1200" dirty="0">
                <a:solidFill>
                  <a:srgbClr val="000000"/>
                </a:solidFill>
                <a:cs typeface="Arial" panose="020B0604020202020204" pitchFamily="34" charset="0"/>
              </a:rPr>
              <a:t>jQuery</a:t>
            </a:r>
            <a:r>
              <a:rPr lang="zh-TW" altLang="en-US" sz="12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對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象，而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TW" altLang="en-US" sz="1200" dirty="0">
                <a:solidFill>
                  <a:srgbClr val="000000"/>
                </a:solidFill>
                <a:cs typeface="Arial" panose="020B0604020202020204" pitchFamily="34" charset="0"/>
              </a:rPr>
              <a:t>對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象沒有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 </a:t>
            </a:r>
            <a:r>
              <a:rPr lang="zh-TW" altLang="en-US" sz="1200" dirty="0">
                <a:solidFill>
                  <a:srgbClr val="000000"/>
                </a:solidFill>
                <a:cs typeface="Arial" panose="020B0604020202020204" pitchFamily="34" charset="0"/>
              </a:rPr>
              <a:t>屬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性，因此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這樣寫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是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錯誤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的。</a:t>
            </a:r>
            <a:r>
              <a:rPr lang="zh-TW" altLang="zh-TW" sz="1200" dirty="0">
                <a:solidFill>
                  <a:srgbClr val="000000"/>
                </a:solidFill>
                <a:cs typeface="Arial" panose="020B0604020202020204" pitchFamily="34" charset="0"/>
              </a:rPr>
              <a:t>jQuery</a:t>
            </a:r>
            <a:r>
              <a:rPr lang="zh-TW" altLang="en-US" sz="1200" dirty="0">
                <a:solidFill>
                  <a:srgbClr val="000000"/>
                </a:solidFill>
                <a:cs typeface="Arial" panose="020B0604020202020204" pitchFamily="34" charset="0"/>
              </a:rPr>
              <a:t> 擁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有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attr()方法可以get/set 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DOM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 對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象的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屬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性，所以正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確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的</a:t>
            </a:r>
            <a:r>
              <a:rPr lang="zh-TW" altLang="en-US" sz="1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寫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法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應該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  <a:cs typeface="Arial" panose="020B0604020202020204" pitchFamily="34" charset="0"/>
              </a:rPr>
              <a:t>是：</a:t>
            </a:r>
            <a:endParaRPr kumimoji="0" lang="zh-TW" altLang="zh-TW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7B40F2C-C74E-4978-AB46-C2D867C7A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2035" y="2984261"/>
            <a:ext cx="4219073" cy="21848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150000"/>
              </a:lnSpc>
              <a:buClrTx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$("#textbox").hover( </a:t>
            </a: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     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function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() { </a:t>
            </a: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         $(this).attr(’title’, ‘Test’); </a:t>
            </a: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      }, </a:t>
            </a: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     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function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() { </a:t>
            </a: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         $(this).attr(’title’, ‘OK’); </a:t>
            </a: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      } </a:t>
            </a: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);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2DDA0E48-2BC7-4F3A-9C4F-B6C827EF149D}"/>
              </a:ext>
            </a:extLst>
          </p:cNvPr>
          <p:cNvSpPr/>
          <p:nvPr/>
        </p:nvSpPr>
        <p:spPr>
          <a:xfrm>
            <a:off x="5534526" y="3577859"/>
            <a:ext cx="561474" cy="7855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786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59C5165-FB01-4CE3-B5D4-CBE9184860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49</a:t>
            </a:fld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1BE598-C0E8-49B1-8A1B-86879F2E6E62}"/>
              </a:ext>
            </a:extLst>
          </p:cNvPr>
          <p:cNvSpPr/>
          <p:nvPr/>
        </p:nvSpPr>
        <p:spPr>
          <a:xfrm>
            <a:off x="1022663" y="411596"/>
            <a:ext cx="90604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err="1">
                <a:solidFill>
                  <a:schemeClr val="accent6">
                    <a:lumMod val="50000"/>
                  </a:schemeClr>
                </a:solidFill>
                <a:latin typeface="-apple-system"/>
              </a:rPr>
              <a:t>JQuery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  <a:latin typeface="-apple-system"/>
              </a:rPr>
              <a:t> this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latin typeface="-apple-system"/>
              </a:rPr>
              <a:t>和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  <a:latin typeface="-apple-system"/>
              </a:rPr>
              <a:t>$(this)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latin typeface="-apple-system"/>
              </a:rPr>
              <a:t>的區別及獲取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  <a:latin typeface="-apple-system"/>
              </a:rPr>
              <a:t>$(this)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latin typeface="-apple-system"/>
              </a:rPr>
              <a:t>子元素物件的方法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1E3BEA-9AA9-4E29-91D9-7704F1D0A388}"/>
              </a:ext>
            </a:extLst>
          </p:cNvPr>
          <p:cNvSpPr/>
          <p:nvPr/>
        </p:nvSpPr>
        <p:spPr>
          <a:xfrm>
            <a:off x="489284" y="1298075"/>
            <a:ext cx="10948735" cy="6103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首先來看看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JQuery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中的 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$() 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這個符號，實際上這個符號在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JQuery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中相當於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JQuery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（）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$(this)=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jquery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();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也就是說，這樣可以返回一個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jquery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物件。那麼，當你在網頁中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alert($('#id'));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時，會彈出一個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[object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Object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]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，這個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object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物件，也就是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jquery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物件了。</a:t>
            </a:r>
            <a:endParaRPr lang="zh-TW" altLang="en-US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 那麼，我們再回過頭來說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$(this)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，這個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this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是什麼呢？假設我們有如下的程式碼：</a:t>
            </a:r>
            <a:endParaRPr lang="zh-TW" altLang="en-US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$("#desktop a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").each(function(index){</a:t>
            </a:r>
            <a:endParaRPr lang="en-US" altLang="zh-TW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 alert($(this));</a:t>
            </a:r>
            <a:endParaRPr lang="en-US" altLang="zh-TW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   alert(this);</a:t>
            </a:r>
            <a:endParaRPr lang="en-US" altLang="zh-TW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endParaRPr lang="en-US" altLang="zh-TW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那麼，這時候可以看出來：</a:t>
            </a:r>
            <a:endParaRPr lang="zh-TW" altLang="en-US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alert($(this));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彈出的結果是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[object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Object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]</a:t>
            </a:r>
            <a:endParaRPr lang="en-US" altLang="zh-TW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alert(this); 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彈出來的是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[object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HTMLImageElement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endParaRPr lang="en-US" altLang="zh-TW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也就是說，後者返回的是一個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本例中是遍歷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物件，所以為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HTMLImageElement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</a:pPr>
            <a:endParaRPr lang="en-US" altLang="zh-TW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30000"/>
              </a:lnSpc>
            </a:pPr>
            <a:endParaRPr lang="en-US" altLang="zh-TW" sz="18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3854E2-F984-4DFA-BADD-E01347365B33}"/>
              </a:ext>
            </a:extLst>
          </p:cNvPr>
          <p:cNvSpPr/>
          <p:nvPr/>
        </p:nvSpPr>
        <p:spPr>
          <a:xfrm>
            <a:off x="8036021" y="860776"/>
            <a:ext cx="39645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https://www.796t.com/content/1548209720.html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E1CBC7-5AA9-4B99-B504-5543470469F1}"/>
              </a:ext>
            </a:extLst>
          </p:cNvPr>
          <p:cNvSpPr/>
          <p:nvPr/>
        </p:nvSpPr>
        <p:spPr>
          <a:xfrm>
            <a:off x="553453" y="3011538"/>
            <a:ext cx="6096000" cy="19860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$("#desktop a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").each(function(index){</a:t>
            </a:r>
            <a:endParaRPr lang="en-US" altLang="zh-TW" sz="16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   alert($(this));</a:t>
            </a:r>
            <a:endParaRPr lang="en-US" altLang="zh-TW" sz="16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    alert(this);</a:t>
            </a:r>
            <a:endParaRPr lang="en-US" altLang="zh-TW" sz="16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endParaRPr lang="en-US" altLang="zh-TW" sz="1600" dirty="0">
              <a:solidFill>
                <a:srgbClr val="362E2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89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2C3C06F-955D-4CD0-B1BF-F8CD336972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50</a:t>
            </a:fld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A76CB0-CDF5-40E0-9C4D-839C0015AD85}"/>
              </a:ext>
            </a:extLst>
          </p:cNvPr>
          <p:cNvSpPr/>
          <p:nvPr/>
        </p:nvSpPr>
        <p:spPr>
          <a:xfrm>
            <a:off x="637673" y="844586"/>
            <a:ext cx="10916653" cy="50073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很多人在使用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jquery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的時候，經常</a:t>
            </a:r>
            <a:r>
              <a:rPr lang="en-US" altLang="zh-TW" sz="1800" b="1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this.attr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('</a:t>
            </a:r>
            <a:r>
              <a:rPr lang="en-US" altLang="zh-TW" sz="1800" b="1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src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'); 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這時會報錯“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物件不支援此屬性或方法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”，這又是為什麼呢？其實看明白上面的例子，就知道錯在哪裡了：很簡單，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this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操作的是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HTML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物件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，那麼，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HTML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物件中怎麼會有</a:t>
            </a:r>
            <a:r>
              <a:rPr lang="en-US" altLang="zh-TW" sz="1800" b="1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方法了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，所以，在使用中，我們不能直接用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this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來直接呼叫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jquery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的方法或者屬性。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獲取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$(this)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子節點物件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的方法：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find(element)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明白了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$(this)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this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的區別，再來看看這個例子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:(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假設，我的頁面中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標籤包含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，並含有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src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，當我在遍歷的時候，想取到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$(this)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src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的地址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    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$("#desktop a ").each(function(index){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 var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imgurl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=$(this).find('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').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attr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('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src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');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 alert(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imgurl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);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 }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其中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.find(element)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是返回一個用於匹配元素的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DOM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元素，這樣就可以取到想要的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src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地址了。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095F77-8EBB-458D-B29D-EE715BF7D917}"/>
              </a:ext>
            </a:extLst>
          </p:cNvPr>
          <p:cNvSpPr/>
          <p:nvPr/>
        </p:nvSpPr>
        <p:spPr>
          <a:xfrm>
            <a:off x="794084" y="3429000"/>
            <a:ext cx="6096000" cy="1755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    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$("#desktop a ").each(function(index){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 var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imgurl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=$(this).find('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').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attr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('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src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');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  alert(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imgurl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);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        }</a:t>
            </a:r>
          </a:p>
        </p:txBody>
      </p:sp>
    </p:spTree>
    <p:extLst>
      <p:ext uri="{BB962C8B-B14F-4D97-AF65-F5344CB8AC3E}">
        <p14:creationId xmlns:p14="http://schemas.microsoft.com/office/powerpoint/2010/main" val="409185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70D13E-3B69-4D78-B5C8-918DCCEEE8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51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74DC1F1-AADE-4CCA-9765-77FD57BB0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529" y="2244576"/>
            <a:ext cx="6248942" cy="3947502"/>
          </a:xfrm>
          <a:prstGeom prst="rect">
            <a:avLst/>
          </a:prstGeom>
          <a:ln w="38100">
            <a:solidFill>
              <a:srgbClr val="FF0000"/>
            </a:solidFill>
            <a:prstDash val="sysDash"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E493223-AACA-4579-B586-F68653AFCA3C}"/>
              </a:ext>
            </a:extLst>
          </p:cNvPr>
          <p:cNvSpPr txBox="1"/>
          <p:nvPr/>
        </p:nvSpPr>
        <p:spPr>
          <a:xfrm>
            <a:off x="2892286" y="894522"/>
            <a:ext cx="5570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練習：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</a:rPr>
              <a:t>07_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父子關係的追蹤</a:t>
            </a:r>
          </a:p>
        </p:txBody>
      </p:sp>
    </p:spTree>
    <p:extLst>
      <p:ext uri="{BB962C8B-B14F-4D97-AF65-F5344CB8AC3E}">
        <p14:creationId xmlns:p14="http://schemas.microsoft.com/office/powerpoint/2010/main" val="393279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978453-FF37-4707-BBED-3E8F101680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52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E01AB20-94FC-400C-B0A4-1CE44DD57647}"/>
              </a:ext>
            </a:extLst>
          </p:cNvPr>
          <p:cNvSpPr txBox="1"/>
          <p:nvPr/>
        </p:nvSpPr>
        <p:spPr>
          <a:xfrm>
            <a:off x="2524540" y="502094"/>
            <a:ext cx="57845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10.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移除現有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所有元素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0A28385-66B0-4AE4-AD05-1EE4B667B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100221"/>
              </p:ext>
            </p:extLst>
          </p:nvPr>
        </p:nvGraphicFramePr>
        <p:xfrm>
          <a:off x="1020418" y="1614183"/>
          <a:ext cx="10151164" cy="1798320"/>
        </p:xfrm>
        <a:graphic>
          <a:graphicData uri="http://schemas.openxmlformats.org/drawingml/2006/table">
            <a:tbl>
              <a:tblPr firstRow="1" bandRow="1">
                <a:tableStyleId>{7D4EC54D-0DAB-4541-8A27-4D770AF52201}</a:tableStyleId>
              </a:tblPr>
              <a:tblGrid>
                <a:gridCol w="3601278">
                  <a:extLst>
                    <a:ext uri="{9D8B030D-6E8A-4147-A177-3AD203B41FA5}">
                      <a16:colId xmlns:a16="http://schemas.microsoft.com/office/drawing/2014/main" val="1244200773"/>
                    </a:ext>
                  </a:extLst>
                </a:gridCol>
                <a:gridCol w="4717774">
                  <a:extLst>
                    <a:ext uri="{9D8B030D-6E8A-4147-A177-3AD203B41FA5}">
                      <a16:colId xmlns:a16="http://schemas.microsoft.com/office/drawing/2014/main" val="1984125040"/>
                    </a:ext>
                  </a:extLst>
                </a:gridCol>
                <a:gridCol w="1832112">
                  <a:extLst>
                    <a:ext uri="{9D8B030D-6E8A-4147-A177-3AD203B41FA5}">
                      <a16:colId xmlns:a16="http://schemas.microsoft.com/office/drawing/2014/main" val="1019356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方法</a:t>
                      </a:r>
                      <a:r>
                        <a:rPr lang="en-US" altLang="zh-TW" sz="3600" dirty="0"/>
                        <a:t>(</a:t>
                      </a:r>
                      <a:r>
                        <a:rPr lang="zh-TW" altLang="en-US" sz="3600" dirty="0"/>
                        <a:t>函數</a:t>
                      </a:r>
                      <a:r>
                        <a:rPr lang="en-US" altLang="zh-TW" sz="3600" dirty="0"/>
                        <a:t>)</a:t>
                      </a:r>
                      <a:endParaRPr lang="zh-TW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備註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48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800" dirty="0"/>
                        <a:t>移除現有元素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800" dirty="0"/>
                        <a:t>元素</a:t>
                      </a:r>
                      <a:r>
                        <a:rPr lang="en-US" altLang="zh-TW" sz="2800" dirty="0"/>
                        <a:t>.remove()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63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移除所有內部子元素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元素</a:t>
                      </a:r>
                      <a:r>
                        <a:rPr lang="en-US" altLang="zh-TW" sz="2800" dirty="0"/>
                        <a:t>.empty()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04707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A7BD92A2-55C1-491C-BB64-D27CB6288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113" y="3640948"/>
            <a:ext cx="3464818" cy="308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6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217D3DC-10ED-4DBA-8668-7998C43EA4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53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F24A0D6-1B6A-4306-8FF6-1759A088A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26" y="3429000"/>
            <a:ext cx="5476190" cy="2219048"/>
          </a:xfrm>
          <a:prstGeom prst="rec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2196E4F-D574-43F8-BD72-E56AF6469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61" y="3429000"/>
            <a:ext cx="5457143" cy="2180952"/>
          </a:xfrm>
          <a:prstGeom prst="rec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6C713C9-C3AD-4262-A1C0-249E64881515}"/>
              </a:ext>
            </a:extLst>
          </p:cNvPr>
          <p:cNvSpPr txBox="1"/>
          <p:nvPr/>
        </p:nvSpPr>
        <p:spPr>
          <a:xfrm>
            <a:off x="1274324" y="1258432"/>
            <a:ext cx="83852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6600" b="1" dirty="0">
                <a:solidFill>
                  <a:schemeClr val="accent6">
                    <a:lumMod val="75000"/>
                  </a:schemeClr>
                </a:solidFill>
              </a:rPr>
              <a:t>實機演練</a:t>
            </a:r>
            <a:r>
              <a:rPr lang="en-US" altLang="zh-TW" sz="6600" b="1" dirty="0">
                <a:solidFill>
                  <a:schemeClr val="accent6">
                    <a:lumMod val="75000"/>
                  </a:schemeClr>
                </a:solidFill>
              </a:rPr>
              <a:t>_08</a:t>
            </a:r>
            <a:r>
              <a:rPr lang="zh-TW" altLang="en-US" sz="6600" b="1" dirty="0">
                <a:solidFill>
                  <a:schemeClr val="accent6">
                    <a:lumMod val="75000"/>
                  </a:schemeClr>
                </a:solidFill>
              </a:rPr>
              <a:t>刪除元素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5B5731-AE8E-41AB-8ED9-FBE038D0FC67}"/>
              </a:ext>
            </a:extLst>
          </p:cNvPr>
          <p:cNvSpPr/>
          <p:nvPr/>
        </p:nvSpPr>
        <p:spPr>
          <a:xfrm>
            <a:off x="8994396" y="0"/>
            <a:ext cx="3329758" cy="7403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TW" sz="3200" dirty="0">
                <a:solidFill>
                  <a:srgbClr val="FF0000"/>
                </a:solidFill>
              </a:rPr>
              <a:t>10. </a:t>
            </a:r>
            <a:r>
              <a:rPr lang="zh-TW" altLang="en-US" sz="3200" dirty="0">
                <a:solidFill>
                  <a:srgbClr val="FF0000"/>
                </a:solidFill>
              </a:rPr>
              <a:t>移除現有元素</a:t>
            </a:r>
          </a:p>
        </p:txBody>
      </p:sp>
    </p:spTree>
    <p:extLst>
      <p:ext uri="{BB962C8B-B14F-4D97-AF65-F5344CB8AC3E}">
        <p14:creationId xmlns:p14="http://schemas.microsoft.com/office/powerpoint/2010/main" val="208056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8A8CD9F-73E0-4452-9AD2-5B66DACCFC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sp>
        <p:nvSpPr>
          <p:cNvPr id="3" name="Google Shape;109;p9">
            <a:extLst>
              <a:ext uri="{FF2B5EF4-FFF2-40B4-BE49-F238E27FC236}">
                <a16:creationId xmlns:a16="http://schemas.microsoft.com/office/drawing/2014/main" id="{35A0FE52-AA44-4F4F-8A14-DED846D8E864}"/>
              </a:ext>
            </a:extLst>
          </p:cNvPr>
          <p:cNvSpPr txBox="1"/>
          <p:nvPr/>
        </p:nvSpPr>
        <p:spPr>
          <a:xfrm>
            <a:off x="501966" y="1500684"/>
            <a:ext cx="11008244" cy="4047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rgbClr val="0000FF"/>
              </a:buClr>
              <a:buSzPts val="2800"/>
              <a:buFont typeface="Noto Sans Symbols"/>
              <a:buChar char="■"/>
            </a:pPr>
            <a:r>
              <a:rPr lang="zh-TW" altLang="en-US" sz="2800" dirty="0">
                <a:solidFill>
                  <a:schemeClr val="tx1"/>
                </a:solidFill>
              </a:rPr>
              <a:t>若 </a:t>
            </a:r>
            <a:r>
              <a:rPr lang="en-US" altLang="zh-TW" sz="2800" dirty="0">
                <a:solidFill>
                  <a:schemeClr val="tx1"/>
                </a:solidFill>
              </a:rPr>
              <a:t>A</a:t>
            </a:r>
            <a:r>
              <a:rPr lang="zh-TW" altLang="en-US" sz="2800" dirty="0">
                <a:solidFill>
                  <a:schemeClr val="tx1"/>
                </a:solidFill>
              </a:rPr>
              <a:t> 為元素陣列物件：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3">
              <a:lnSpc>
                <a:spcPct val="150000"/>
              </a:lnSpc>
            </a:pPr>
            <a:r>
              <a:rPr lang="zh-TW" altLang="en-US" sz="2400" dirty="0"/>
              <a:t>    </a:t>
            </a:r>
            <a:r>
              <a:rPr lang="en-US" altLang="zh-TW" sz="2800" dirty="0">
                <a:solidFill>
                  <a:srgbClr val="0000FF"/>
                </a:solidFill>
              </a:rPr>
              <a:t>each()</a:t>
            </a:r>
            <a:r>
              <a:rPr lang="zh-TW" altLang="en-US" sz="2800" dirty="0">
                <a:solidFill>
                  <a:srgbClr val="0000FF"/>
                </a:solidFill>
              </a:rPr>
              <a:t>方法</a:t>
            </a:r>
            <a:r>
              <a:rPr lang="zh-TW" altLang="en-US" sz="2400" dirty="0"/>
              <a:t>：</a:t>
            </a:r>
            <a:r>
              <a:rPr lang="en-US" altLang="zh-TW" sz="2400" dirty="0" err="1"/>
              <a:t>A.each</a:t>
            </a:r>
            <a:r>
              <a:rPr lang="en-US" altLang="zh-TW" sz="2400" dirty="0"/>
              <a:t>() </a:t>
            </a:r>
            <a:r>
              <a:rPr lang="zh-TW" altLang="en-US" sz="2400" dirty="0"/>
              <a:t>表示若取得的選擇器有多個時，跑過每一個元素。</a:t>
            </a:r>
            <a:endParaRPr lang="en-US" altLang="zh-TW" sz="2400" dirty="0"/>
          </a:p>
          <a:p>
            <a:pPr lvl="5">
              <a:lnSpc>
                <a:spcPct val="150000"/>
              </a:lnSpc>
            </a:pPr>
            <a:r>
              <a:rPr lang="zh-TW" altLang="en-US" sz="2400" dirty="0"/>
              <a:t>    </a:t>
            </a:r>
            <a:r>
              <a:rPr lang="zh-TW" altLang="en-US" sz="2800" dirty="0">
                <a:solidFill>
                  <a:srgbClr val="0000FF"/>
                </a:solidFill>
              </a:rPr>
              <a:t>目前作用物件</a:t>
            </a:r>
            <a:r>
              <a:rPr lang="zh-TW" altLang="en-US" sz="2400" dirty="0"/>
              <a:t>：</a:t>
            </a:r>
            <a:r>
              <a:rPr lang="en-US" altLang="zh-TW" sz="2400" dirty="0"/>
              <a:t>$(this)  </a:t>
            </a:r>
            <a:r>
              <a:rPr lang="zh-TW" altLang="en-US" sz="2400" dirty="0"/>
              <a:t>物件表示作用中物件</a:t>
            </a:r>
            <a:br>
              <a:rPr lang="en-US" altLang="zh-TW" sz="2400" dirty="0"/>
            </a:br>
            <a:r>
              <a:rPr lang="zh-TW" altLang="en-US" sz="2400" dirty="0"/>
              <a:t>    </a:t>
            </a:r>
            <a:r>
              <a:rPr lang="zh-TW" altLang="en-US" sz="2800" dirty="0">
                <a:solidFill>
                  <a:srgbClr val="0000FF"/>
                </a:solidFill>
              </a:rPr>
              <a:t>目前作用物件的索引值</a:t>
            </a:r>
            <a:r>
              <a:rPr lang="zh-TW" altLang="en-US" sz="2400" dirty="0"/>
              <a:t>：</a:t>
            </a:r>
            <a:r>
              <a:rPr lang="en-US" altLang="zh-TW" sz="2400" dirty="0" err="1"/>
              <a:t>A.index</a:t>
            </a:r>
            <a:r>
              <a:rPr lang="en-US" altLang="zh-TW" sz="2400" dirty="0"/>
              <a:t>(this)</a:t>
            </a:r>
            <a:br>
              <a:rPr lang="en-US" altLang="zh-TW" sz="2400" dirty="0"/>
            </a:br>
            <a:r>
              <a:rPr lang="zh-TW" altLang="en-US" sz="2400" dirty="0"/>
              <a:t>    </a:t>
            </a:r>
            <a:r>
              <a:rPr lang="zh-TW" altLang="en-US" sz="2800" dirty="0">
                <a:solidFill>
                  <a:srgbClr val="0000FF"/>
                </a:solidFill>
              </a:rPr>
              <a:t>元素陣列的長度</a:t>
            </a:r>
            <a:r>
              <a:rPr lang="en-US" altLang="zh-TW" sz="2800" dirty="0">
                <a:solidFill>
                  <a:srgbClr val="0000FF"/>
                </a:solidFill>
              </a:rPr>
              <a:t>(</a:t>
            </a:r>
            <a:r>
              <a:rPr lang="zh-TW" altLang="en-US" sz="2800" dirty="0">
                <a:solidFill>
                  <a:srgbClr val="0000FF"/>
                </a:solidFill>
              </a:rPr>
              <a:t>個數</a:t>
            </a:r>
            <a:r>
              <a:rPr lang="en-US" altLang="zh-TW" sz="2800" dirty="0">
                <a:solidFill>
                  <a:srgbClr val="0000FF"/>
                </a:solidFill>
              </a:rPr>
              <a:t>)</a:t>
            </a:r>
            <a:r>
              <a:rPr lang="zh-TW" altLang="en-US" sz="2400" dirty="0"/>
              <a:t>：</a:t>
            </a:r>
            <a:r>
              <a:rPr lang="en-US" altLang="zh-TW" sz="2400" dirty="0" err="1"/>
              <a:t>A.length</a:t>
            </a:r>
            <a:endParaRPr lang="en-US" altLang="zh-TW" sz="2400" dirty="0"/>
          </a:p>
          <a:p>
            <a:pPr lvl="3">
              <a:lnSpc>
                <a:spcPct val="150000"/>
              </a:lnSpc>
            </a:pPr>
            <a:r>
              <a:rPr lang="zh-TW" altLang="en-US" sz="2400" dirty="0"/>
              <a:t>    </a:t>
            </a:r>
            <a:r>
              <a:rPr lang="zh-TW" altLang="en-US" sz="2800" dirty="0">
                <a:solidFill>
                  <a:srgbClr val="0000FF"/>
                </a:solidFill>
              </a:rPr>
              <a:t>元素陣列的第</a:t>
            </a:r>
            <a:r>
              <a:rPr lang="en-US" altLang="zh-TW" sz="2800" dirty="0" err="1">
                <a:solidFill>
                  <a:srgbClr val="0000FF"/>
                </a:solidFill>
              </a:rPr>
              <a:t>i</a:t>
            </a:r>
            <a:r>
              <a:rPr lang="zh-TW" altLang="en-US" sz="2800" dirty="0">
                <a:solidFill>
                  <a:srgbClr val="0000FF"/>
                </a:solidFill>
              </a:rPr>
              <a:t>個元素</a:t>
            </a:r>
            <a:r>
              <a:rPr lang="zh-TW" altLang="en-US" sz="2400" dirty="0"/>
              <a:t>：</a:t>
            </a:r>
            <a:r>
              <a:rPr lang="en-US" altLang="zh-TW" sz="2400" dirty="0"/>
              <a:t>A[</a:t>
            </a:r>
            <a:r>
              <a:rPr lang="zh-TW" altLang="en-US" sz="2400" dirty="0"/>
              <a:t>索引值</a:t>
            </a:r>
            <a:r>
              <a:rPr lang="en-US" altLang="zh-TW" sz="2400" dirty="0"/>
              <a:t>] </a:t>
            </a:r>
            <a:r>
              <a:rPr lang="en-US" altLang="zh-TW" sz="2400" dirty="0">
                <a:sym typeface="Wingdings" panose="05000000000000000000" pitchFamily="2" charset="2"/>
              </a:rPr>
              <a:t> </a:t>
            </a:r>
            <a:r>
              <a:rPr lang="zh-TW" altLang="en-US" sz="2400" dirty="0">
                <a:sym typeface="Wingdings" panose="05000000000000000000" pitchFamily="2" charset="2"/>
              </a:rPr>
              <a:t>注意：這個取得的是 </a:t>
            </a:r>
            <a:r>
              <a:rPr lang="en-US" altLang="zh-TW" sz="2400" dirty="0">
                <a:sym typeface="Wingdings" panose="05000000000000000000" pitchFamily="2" charset="2"/>
              </a:rPr>
              <a:t>DOM </a:t>
            </a:r>
            <a:r>
              <a:rPr lang="zh-TW" altLang="en-US" sz="2400" dirty="0">
                <a:sym typeface="Wingdings" panose="05000000000000000000" pitchFamily="2" charset="2"/>
              </a:rPr>
              <a:t>元素</a:t>
            </a:r>
            <a:endParaRPr lang="en-US" altLang="zh-TW" sz="24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9A8D3D8-529D-44C0-BBAC-84C9947C6CF0}"/>
              </a:ext>
            </a:extLst>
          </p:cNvPr>
          <p:cNvSpPr txBox="1"/>
          <p:nvPr/>
        </p:nvSpPr>
        <p:spPr>
          <a:xfrm>
            <a:off x="1120856" y="486052"/>
            <a:ext cx="57845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11.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取得元素陣列物件</a:t>
            </a:r>
          </a:p>
        </p:txBody>
      </p:sp>
    </p:spTree>
    <p:extLst>
      <p:ext uri="{BB962C8B-B14F-4D97-AF65-F5344CB8AC3E}">
        <p14:creationId xmlns:p14="http://schemas.microsoft.com/office/powerpoint/2010/main" val="124305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840D510-ED0A-470F-8968-2E6FFC29D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55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25504DF-919C-4060-8763-1963D0250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75" y="1343192"/>
            <a:ext cx="6118051" cy="50131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35F76E4-CDCF-46FB-93C8-C3F45BA9C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943" y="2566215"/>
            <a:ext cx="3657478" cy="269240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56EAAD6-006C-4D6A-AA02-B2063E0D81CD}"/>
              </a:ext>
            </a:extLst>
          </p:cNvPr>
          <p:cNvSpPr txBox="1"/>
          <p:nvPr/>
        </p:nvSpPr>
        <p:spPr>
          <a:xfrm>
            <a:off x="1874197" y="343109"/>
            <a:ext cx="97082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練習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09_each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逐漸放大各系字樣</a:t>
            </a:r>
          </a:p>
        </p:txBody>
      </p:sp>
    </p:spTree>
    <p:extLst>
      <p:ext uri="{BB962C8B-B14F-4D97-AF65-F5344CB8AC3E}">
        <p14:creationId xmlns:p14="http://schemas.microsoft.com/office/powerpoint/2010/main" val="306485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B243A72D-E01E-4AC6-858B-BD3CADE88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037" y="3745512"/>
            <a:ext cx="2724002" cy="254591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9285910-F64E-44D8-ACE2-B9E1656684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56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2963C18-D024-45A1-9FDA-78CF54C60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88" y="2943907"/>
            <a:ext cx="4780952" cy="289523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6DDACB9-EA2F-49CC-B93C-2C9CAA783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227" y="3165288"/>
            <a:ext cx="4800000" cy="290476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F728EF7-73AE-4C0E-965A-BF59C9C04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2883" y="3470636"/>
            <a:ext cx="4771429" cy="2885714"/>
          </a:xfrm>
          <a:prstGeom prst="rect">
            <a:avLst/>
          </a:prstGeom>
        </p:spPr>
      </p:pic>
      <p:sp>
        <p:nvSpPr>
          <p:cNvPr id="9" name="等腰三角形 8">
            <a:extLst>
              <a:ext uri="{FF2B5EF4-FFF2-40B4-BE49-F238E27FC236}">
                <a16:creationId xmlns:a16="http://schemas.microsoft.com/office/drawing/2014/main" id="{1BC49CFD-AE0C-48FE-860E-31A5ED962B6A}"/>
              </a:ext>
            </a:extLst>
          </p:cNvPr>
          <p:cNvSpPr/>
          <p:nvPr/>
        </p:nvSpPr>
        <p:spPr>
          <a:xfrm>
            <a:off x="10799545" y="3657600"/>
            <a:ext cx="192506" cy="36512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4AF470C-3D1C-414C-9FE2-2F363C3AFB49}"/>
              </a:ext>
            </a:extLst>
          </p:cNvPr>
          <p:cNvSpPr txBox="1"/>
          <p:nvPr/>
        </p:nvSpPr>
        <p:spPr>
          <a:xfrm>
            <a:off x="787940" y="950424"/>
            <a:ext cx="1001160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accent6">
                    <a:lumMod val="75000"/>
                  </a:schemeClr>
                </a:solidFill>
              </a:rPr>
              <a:t>實機演練</a:t>
            </a:r>
            <a:r>
              <a:rPr lang="en-US" altLang="zh-TW" sz="66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zh-TW" altLang="en-US" sz="6600" b="1" dirty="0">
                <a:solidFill>
                  <a:schemeClr val="accent6">
                    <a:lumMod val="75000"/>
                  </a:schemeClr>
                </a:solidFill>
              </a:rPr>
              <a:t>一</a:t>
            </a:r>
            <a:r>
              <a:rPr lang="en-US" altLang="zh-TW" sz="66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br>
              <a:rPr lang="en-US" altLang="zh-TW" sz="66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zh-TW" sz="4000" b="1" dirty="0">
                <a:solidFill>
                  <a:schemeClr val="accent6">
                    <a:lumMod val="75000"/>
                  </a:schemeClr>
                </a:solidFill>
              </a:rPr>
              <a:t>10_each</a:t>
            </a:r>
            <a:r>
              <a:rPr lang="zh-TW" altLang="en-US" sz="4000" b="1" dirty="0">
                <a:solidFill>
                  <a:schemeClr val="accent6">
                    <a:lumMod val="75000"/>
                  </a:schemeClr>
                </a:solidFill>
              </a:rPr>
              <a:t>運用全部顯示段落物件內容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3A87CC0-E9F3-4450-9887-BC7C894703C1}"/>
              </a:ext>
            </a:extLst>
          </p:cNvPr>
          <p:cNvSpPr txBox="1"/>
          <p:nvPr/>
        </p:nvSpPr>
        <p:spPr>
          <a:xfrm>
            <a:off x="1351722" y="439152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點完即隱藏</a:t>
            </a:r>
          </a:p>
        </p:txBody>
      </p:sp>
    </p:spTree>
    <p:extLst>
      <p:ext uri="{BB962C8B-B14F-4D97-AF65-F5344CB8AC3E}">
        <p14:creationId xmlns:p14="http://schemas.microsoft.com/office/powerpoint/2010/main" val="53272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E6A76C-A69B-4D6E-8D5D-DB1637915D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57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5E36BB1-9EB5-497F-9DF7-CBFE0EB22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01" y="2166319"/>
            <a:ext cx="3132714" cy="4513870"/>
          </a:xfrm>
          <a:prstGeom prst="rect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F155189-1E21-4F2D-B02B-4CE723299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587" y="2166319"/>
            <a:ext cx="3194399" cy="4606323"/>
          </a:xfrm>
          <a:prstGeom prst="rect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ECDC5AE-FB69-4FB1-B34E-C6E6CFAD0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0" y="2123433"/>
            <a:ext cx="3258399" cy="4692094"/>
          </a:xfrm>
          <a:prstGeom prst="rect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70AA40C-1B4E-4857-BFCC-E4056B6409AD}"/>
              </a:ext>
            </a:extLst>
          </p:cNvPr>
          <p:cNvSpPr txBox="1"/>
          <p:nvPr/>
        </p:nvSpPr>
        <p:spPr>
          <a:xfrm>
            <a:off x="590808" y="702244"/>
            <a:ext cx="66380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6600" b="1" dirty="0">
                <a:solidFill>
                  <a:schemeClr val="accent6">
                    <a:lumMod val="75000"/>
                  </a:schemeClr>
                </a:solidFill>
              </a:rPr>
              <a:t>實機演練</a:t>
            </a:r>
            <a:r>
              <a:rPr lang="en-US" altLang="zh-TW" sz="66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zh-TW" altLang="en-US" sz="6600" b="1" dirty="0">
                <a:solidFill>
                  <a:schemeClr val="accent6">
                    <a:lumMod val="75000"/>
                  </a:schemeClr>
                </a:solidFill>
              </a:rPr>
              <a:t>二</a:t>
            </a:r>
            <a:r>
              <a:rPr lang="en-US" altLang="zh-TW" sz="6600" b="1" dirty="0">
                <a:solidFill>
                  <a:schemeClr val="accent6">
                    <a:lumMod val="75000"/>
                  </a:schemeClr>
                </a:solidFill>
              </a:rPr>
              <a:t>)_11</a:t>
            </a:r>
            <a:endParaRPr lang="zh-TW" altLang="en-US" sz="6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E9C956-E8E1-425C-94E5-A9961C93341E}"/>
              </a:ext>
            </a:extLst>
          </p:cNvPr>
          <p:cNvSpPr txBox="1"/>
          <p:nvPr/>
        </p:nvSpPr>
        <p:spPr>
          <a:xfrm>
            <a:off x="6936576" y="840744"/>
            <a:ext cx="4714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rgbClr val="FF0000"/>
                </a:solidFill>
              </a:rPr>
              <a:t>兩種方法：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r>
              <a:rPr lang="en-US" altLang="zh-TW" sz="1600" b="1" dirty="0">
                <a:solidFill>
                  <a:srgbClr val="FF0000"/>
                </a:solidFill>
              </a:rPr>
              <a:t>(1)</a:t>
            </a:r>
            <a:r>
              <a:rPr lang="zh-TW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zh-TW" sz="1600" b="1" dirty="0">
                <a:solidFill>
                  <a:srgbClr val="FF0000"/>
                </a:solidFill>
              </a:rPr>
              <a:t>for … </a:t>
            </a:r>
            <a:r>
              <a:rPr lang="zh-TW" altLang="en-US" sz="1600" b="1" dirty="0">
                <a:solidFill>
                  <a:srgbClr val="FF0000"/>
                </a:solidFill>
              </a:rPr>
              <a:t>用 </a:t>
            </a:r>
            <a:r>
              <a:rPr lang="en-US" altLang="zh-TW" sz="1600" b="1" dirty="0">
                <a:solidFill>
                  <a:srgbClr val="FF0000"/>
                </a:solidFill>
              </a:rPr>
              <a:t>Dom </a:t>
            </a:r>
            <a:r>
              <a:rPr lang="zh-TW" altLang="en-US" sz="1600" b="1" dirty="0">
                <a:solidFill>
                  <a:srgbClr val="FF0000"/>
                </a:solidFill>
              </a:rPr>
              <a:t>元素去建立元素物件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r>
              <a:rPr lang="en-US" altLang="zh-TW" sz="1600" b="1" dirty="0">
                <a:solidFill>
                  <a:srgbClr val="FF0000"/>
                </a:solidFill>
              </a:rPr>
              <a:t>(2)</a:t>
            </a:r>
            <a:r>
              <a:rPr lang="zh-TW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zh-TW" sz="1600" b="1" dirty="0">
                <a:solidFill>
                  <a:srgbClr val="FF0000"/>
                </a:solidFill>
              </a:rPr>
              <a:t>each … </a:t>
            </a:r>
            <a:r>
              <a:rPr lang="zh-TW" altLang="en-US" sz="1600" b="1" dirty="0">
                <a:solidFill>
                  <a:srgbClr val="FF0000"/>
                </a:solidFill>
              </a:rPr>
              <a:t>用 </a:t>
            </a:r>
            <a:r>
              <a:rPr lang="en-US" altLang="zh-TW" sz="1600" b="1" dirty="0">
                <a:solidFill>
                  <a:srgbClr val="FF0000"/>
                </a:solidFill>
              </a:rPr>
              <a:t>jQuery </a:t>
            </a:r>
            <a:r>
              <a:rPr lang="zh-TW" altLang="en-US" sz="1600" b="1" dirty="0">
                <a:solidFill>
                  <a:srgbClr val="FF0000"/>
                </a:solidFill>
              </a:rPr>
              <a:t>處理的對象去建立元素物件</a:t>
            </a:r>
          </a:p>
        </p:txBody>
      </p:sp>
    </p:spTree>
    <p:extLst>
      <p:ext uri="{BB962C8B-B14F-4D97-AF65-F5344CB8AC3E}">
        <p14:creationId xmlns:p14="http://schemas.microsoft.com/office/powerpoint/2010/main" val="418338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46BCBF92-A158-4DF6-B0D8-8A335FCEA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46" y="1953929"/>
            <a:ext cx="4603509" cy="413302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927B2A1-E65F-44F8-8F7B-5267F18D9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30F782E-3C9F-4253-8F57-5D363553A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35" y="453842"/>
            <a:ext cx="3648509" cy="622188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076B255-A57C-4BD1-8C82-7875FC8B8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55" y="1760351"/>
            <a:ext cx="4800000" cy="490476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6F7DD23-032B-48E7-B612-071D6F30F6FD}"/>
              </a:ext>
            </a:extLst>
          </p:cNvPr>
          <p:cNvSpPr txBox="1"/>
          <p:nvPr/>
        </p:nvSpPr>
        <p:spPr>
          <a:xfrm>
            <a:off x="710420" y="319088"/>
            <a:ext cx="66535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6600" b="1" dirty="0">
                <a:solidFill>
                  <a:schemeClr val="accent6">
                    <a:lumMod val="75000"/>
                  </a:schemeClr>
                </a:solidFill>
              </a:rPr>
              <a:t>實機演練</a:t>
            </a:r>
            <a:r>
              <a:rPr lang="en-US" altLang="zh-TW" sz="66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zh-TW" altLang="en-US" sz="6600" b="1" dirty="0">
                <a:solidFill>
                  <a:schemeClr val="accent6">
                    <a:lumMod val="75000"/>
                  </a:schemeClr>
                </a:solidFill>
              </a:rPr>
              <a:t>三</a:t>
            </a:r>
            <a:r>
              <a:rPr lang="en-US" altLang="zh-TW" sz="6600" b="1" dirty="0">
                <a:solidFill>
                  <a:schemeClr val="accent6">
                    <a:lumMod val="75000"/>
                  </a:schemeClr>
                </a:solidFill>
              </a:rPr>
              <a:t>)_12</a:t>
            </a:r>
            <a:endParaRPr lang="zh-TW" altLang="en-US" sz="6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0F9214C2-CF27-46F3-B680-CF7552DE3150}"/>
              </a:ext>
            </a:extLst>
          </p:cNvPr>
          <p:cNvSpPr/>
          <p:nvPr/>
        </p:nvSpPr>
        <p:spPr>
          <a:xfrm>
            <a:off x="5544152" y="1634150"/>
            <a:ext cx="154003" cy="25240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C378FC7-C809-4320-B09B-2B0908D7E739}"/>
              </a:ext>
            </a:extLst>
          </p:cNvPr>
          <p:cNvSpPr txBox="1"/>
          <p:nvPr/>
        </p:nvSpPr>
        <p:spPr>
          <a:xfrm>
            <a:off x="7363988" y="107362"/>
            <a:ext cx="3435556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javaScript</a:t>
            </a:r>
            <a:r>
              <a:rPr lang="zh-TW" altLang="en-US" b="1" dirty="0">
                <a:solidFill>
                  <a:srgbClr val="FF0000"/>
                </a:solidFill>
              </a:rPr>
              <a:t> 程式碼 </a:t>
            </a:r>
            <a:r>
              <a:rPr lang="en-US" altLang="zh-TW" b="1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zh-TW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sym typeface="Wingdings" panose="05000000000000000000" pitchFamily="2" charset="2"/>
              </a:rPr>
              <a:t>jQuery </a:t>
            </a:r>
            <a:r>
              <a:rPr lang="zh-TW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程式碼？？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83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8CE220A-5EA6-4EDF-ABAB-B269FE95A9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59</a:t>
            </a:fld>
            <a:endParaRPr lang="en-US"/>
          </a:p>
        </p:txBody>
      </p:sp>
      <p:sp>
        <p:nvSpPr>
          <p:cNvPr id="3" name="Google Shape;109;p9">
            <a:extLst>
              <a:ext uri="{FF2B5EF4-FFF2-40B4-BE49-F238E27FC236}">
                <a16:creationId xmlns:a16="http://schemas.microsoft.com/office/drawing/2014/main" id="{1F54A9E0-C6B4-48AC-B784-D57F81091F71}"/>
              </a:ext>
            </a:extLst>
          </p:cNvPr>
          <p:cNvSpPr txBox="1"/>
          <p:nvPr/>
        </p:nvSpPr>
        <p:spPr>
          <a:xfrm>
            <a:off x="591878" y="1524747"/>
            <a:ext cx="11008244" cy="298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■"/>
            </a:pPr>
            <a:r>
              <a:rPr lang="en-US" sz="280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28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() </a:t>
            </a:r>
            <a:r>
              <a:rPr lang="en-US" sz="2800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可以查詢或設定樣式屬性</a:t>
            </a:r>
            <a:endParaRPr sz="2800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$(‘.box’).</a:t>
            </a:r>
            <a:r>
              <a:rPr lang="en-US" altLang="zh-TW" sz="2800" dirty="0" err="1"/>
              <a:t>addClass</a:t>
            </a:r>
            <a:r>
              <a:rPr lang="en-US" altLang="zh-TW" sz="2800" dirty="0"/>
              <a:t>(‘</a:t>
            </a:r>
            <a:r>
              <a:rPr lang="zh-TW" altLang="en-US" sz="2800" dirty="0"/>
              <a:t>類別選擇器</a:t>
            </a:r>
            <a:r>
              <a:rPr lang="en-US" altLang="zh-TW" sz="2800" dirty="0"/>
              <a:t>’)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  //</a:t>
            </a:r>
            <a:r>
              <a:rPr lang="zh-TW" alt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新增類別選擇器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$(‘.box’).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removeClass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altLang="zh-TW" sz="2800" dirty="0"/>
              <a:t>(‘</a:t>
            </a:r>
            <a:r>
              <a:rPr lang="zh-TW" altLang="en-US" sz="2800" dirty="0"/>
              <a:t>類別選擇器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’);  //</a:t>
            </a:r>
            <a:r>
              <a:rPr lang="zh-TW" altLang="en-US" sz="2800" dirty="0">
                <a:solidFill>
                  <a:schemeClr val="dk1"/>
                </a:solidFill>
              </a:rPr>
              <a:t>移出類別選擇器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TW" sz="2800" dirty="0">
                <a:solidFill>
                  <a:schemeClr val="dk1"/>
                </a:solidFill>
              </a:rPr>
              <a:t> </a:t>
            </a:r>
            <a:r>
              <a:rPr lang="zh-TW" altLang="en-US" sz="2800" dirty="0">
                <a:solidFill>
                  <a:schemeClr val="dk1"/>
                </a:solidFill>
              </a:rPr>
              <a:t>   </a:t>
            </a:r>
            <a:r>
              <a:rPr lang="en-US" altLang="zh-TW" sz="2800" dirty="0">
                <a:solidFill>
                  <a:schemeClr val="dk1"/>
                </a:solidFill>
              </a:rPr>
              <a:t>$(‘.box’).</a:t>
            </a:r>
            <a:r>
              <a:rPr lang="en-US" altLang="zh-TW" sz="2800" dirty="0" err="1">
                <a:solidFill>
                  <a:schemeClr val="dk1"/>
                </a:solidFill>
              </a:rPr>
              <a:t>toggleClass</a:t>
            </a:r>
            <a:r>
              <a:rPr lang="en-US" altLang="zh-TW" sz="2800" dirty="0">
                <a:solidFill>
                  <a:schemeClr val="dk1"/>
                </a:solidFill>
              </a:rPr>
              <a:t>(</a:t>
            </a:r>
            <a:r>
              <a:rPr lang="en-US" altLang="zh-TW" sz="2800" dirty="0"/>
              <a:t>(‘</a:t>
            </a:r>
            <a:r>
              <a:rPr lang="zh-TW" altLang="en-US" sz="2800" dirty="0"/>
              <a:t>類別選擇器</a:t>
            </a:r>
            <a:r>
              <a:rPr lang="en-US" altLang="zh-TW" sz="2800" dirty="0">
                <a:solidFill>
                  <a:schemeClr val="dk1"/>
                </a:solidFill>
              </a:rPr>
              <a:t>’);  //</a:t>
            </a:r>
            <a:r>
              <a:rPr lang="zh-TW" altLang="en-US" sz="2800" dirty="0">
                <a:solidFill>
                  <a:schemeClr val="dk1"/>
                </a:solidFill>
              </a:rPr>
              <a:t>切換類別選擇器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5A4C305-BF57-47ED-A3DD-AAB2CE451742}"/>
              </a:ext>
            </a:extLst>
          </p:cNvPr>
          <p:cNvSpPr txBox="1"/>
          <p:nvPr/>
        </p:nvSpPr>
        <p:spPr>
          <a:xfrm>
            <a:off x="1056687" y="494073"/>
            <a:ext cx="86086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12.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新增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刪除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切換 樣式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類別選擇器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zh-TW" alt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20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4B4AFE7-A58D-4350-BC98-56852FF964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60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F45B821-3E7A-4CD2-83D1-4E4A950D4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03" y="1769061"/>
            <a:ext cx="7800051" cy="495241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2C3BBFE-FAE4-427B-8B1A-3284689CA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572" y="3631877"/>
            <a:ext cx="3978442" cy="290703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B7A5198-1F25-4FD9-883E-D3849D8B26BC}"/>
              </a:ext>
            </a:extLst>
          </p:cNvPr>
          <p:cNvSpPr/>
          <p:nvPr/>
        </p:nvSpPr>
        <p:spPr>
          <a:xfrm>
            <a:off x="1556083" y="1030397"/>
            <a:ext cx="98017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W3School </a:t>
            </a:r>
            <a:r>
              <a:rPr lang="zh-TW" altLang="en-US" dirty="0"/>
              <a:t>範例連結</a:t>
            </a:r>
            <a:br>
              <a:rPr lang="en-US" altLang="zh-TW" dirty="0"/>
            </a:br>
            <a:r>
              <a:rPr lang="zh-TW" altLang="en-US" dirty="0">
                <a:hlinkClick r:id="rId4"/>
              </a:rPr>
              <a:t>https://www.w3schools.com/jquery/tryit.asp?filename=tryjquery_html_addclass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24C99E1-BB20-4CE8-8D43-9DEBB0D33CE1}"/>
              </a:ext>
            </a:extLst>
          </p:cNvPr>
          <p:cNvSpPr txBox="1"/>
          <p:nvPr/>
        </p:nvSpPr>
        <p:spPr>
          <a:xfrm>
            <a:off x="144691" y="319088"/>
            <a:ext cx="1190261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800" b="1" dirty="0" err="1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addClass</a:t>
            </a:r>
            <a:r>
              <a:rPr lang="en-US" altLang="zh-TW" sz="38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() / </a:t>
            </a:r>
            <a:r>
              <a:rPr lang="en-US" altLang="zh-TW" sz="3800" b="1" dirty="0" err="1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removeClass</a:t>
            </a:r>
            <a:r>
              <a:rPr lang="en-US" altLang="zh-TW" sz="38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 / </a:t>
            </a:r>
            <a:r>
              <a:rPr lang="en-US" altLang="zh-TW" sz="3800" b="1" dirty="0" err="1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toggleClass</a:t>
            </a:r>
            <a:r>
              <a:rPr lang="en-US" altLang="zh-TW" sz="38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 </a:t>
            </a:r>
            <a:r>
              <a:rPr lang="zh-TW" altLang="en-US" sz="3800" b="1" dirty="0">
                <a:solidFill>
                  <a:schemeClr val="accent6">
                    <a:lumMod val="50000"/>
                  </a:schemeClr>
                </a:solidFill>
                <a:latin typeface="Helvetica Neue" panose="02020500000000000000" charset="0"/>
              </a:rPr>
              <a:t>方法的使用</a:t>
            </a:r>
            <a:endParaRPr lang="zh-TW" altLang="en-US" sz="3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38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AC3AC21-98FE-47A5-BFCA-3B3F35FDAE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61</a:t>
            </a:fld>
            <a:endParaRPr lang="en-US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id="{BD661B7E-CC24-4146-AC83-D8E473B55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834" y="1228397"/>
            <a:ext cx="4505492" cy="44012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»"/>
              <a:defRPr sz="2800">
                <a:solidFill>
                  <a:schemeClr val="tx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˃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+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&lt;script&gt;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$(document).ready(function()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   $('span').</a:t>
            </a:r>
            <a:r>
              <a:rPr lang="en-US" altLang="zh-TW" sz="2000" dirty="0" err="1">
                <a:solidFill>
                  <a:schemeClr val="tx1"/>
                </a:solidFill>
                <a:ea typeface="標楷體" panose="03000509000000000000" pitchFamily="65" charset="-120"/>
              </a:rPr>
              <a:t>addClass</a:t>
            </a: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('line’);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TW" sz="2000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   $('#large').bind('click', </a:t>
            </a:r>
            <a:r>
              <a:rPr lang="en-US" altLang="zh-TW" sz="2000" b="1" dirty="0" err="1">
                <a:solidFill>
                  <a:srgbClr val="FF0000"/>
                </a:solidFill>
                <a:ea typeface="標楷體" panose="03000509000000000000" pitchFamily="65" charset="-120"/>
              </a:rPr>
              <a:t>setLarge</a:t>
            </a: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   function </a:t>
            </a:r>
            <a:r>
              <a:rPr lang="en-US" altLang="zh-TW" sz="2000" b="1" dirty="0" err="1">
                <a:solidFill>
                  <a:srgbClr val="FF0000"/>
                </a:solidFill>
                <a:ea typeface="標楷體" panose="03000509000000000000" pitchFamily="65" charset="-120"/>
              </a:rPr>
              <a:t>setLarge</a:t>
            </a:r>
            <a:r>
              <a:rPr lang="en-US" altLang="zh-TW" sz="2000" b="1" dirty="0">
                <a:solidFill>
                  <a:srgbClr val="FF0000"/>
                </a:solidFill>
                <a:ea typeface="標楷體" panose="03000509000000000000" pitchFamily="65" charset="-120"/>
              </a:rPr>
              <a:t>() </a:t>
            </a: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      $('p').</a:t>
            </a:r>
            <a:r>
              <a:rPr lang="en-US" altLang="zh-TW" sz="2000" b="1" dirty="0" err="1">
                <a:solidFill>
                  <a:srgbClr val="0000FF"/>
                </a:solidFill>
                <a:ea typeface="標楷體" panose="03000509000000000000" pitchFamily="65" charset="-120"/>
              </a:rPr>
              <a:t>addClass</a:t>
            </a: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('large');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TW" sz="2000" dirty="0">
              <a:solidFill>
                <a:schemeClr val="tx1"/>
              </a:solidFill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   $('#default').bind('click', function()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      $('p').</a:t>
            </a:r>
            <a:r>
              <a:rPr lang="en-US" altLang="zh-TW" sz="2000" b="1" dirty="0" err="1">
                <a:solidFill>
                  <a:srgbClr val="0000FF"/>
                </a:solidFill>
                <a:ea typeface="標楷體" panose="03000509000000000000" pitchFamily="65" charset="-120"/>
              </a:rPr>
              <a:t>removeClass</a:t>
            </a: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('large');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   });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});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chemeClr val="tx1"/>
                </a:solidFill>
                <a:ea typeface="標楷體" panose="03000509000000000000" pitchFamily="65" charset="-120"/>
              </a:rPr>
              <a:t>&lt;/script&gt;</a:t>
            </a:r>
            <a:endParaRPr lang="zh-TW" altLang="en-US" sz="2000" dirty="0">
              <a:solidFill>
                <a:schemeClr val="tx1"/>
              </a:solidFill>
              <a:ea typeface="標楷體" panose="03000509000000000000" pitchFamily="65" charset="-120"/>
            </a:endParaRPr>
          </a:p>
        </p:txBody>
      </p:sp>
      <p:pic>
        <p:nvPicPr>
          <p:cNvPr id="4" name="圖片 5">
            <a:extLst>
              <a:ext uri="{FF2B5EF4-FFF2-40B4-BE49-F238E27FC236}">
                <a16:creationId xmlns:a16="http://schemas.microsoft.com/office/drawing/2014/main" id="{AD0B98AF-29BB-441D-B28D-B65082F3D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238" y="964282"/>
            <a:ext cx="2417762" cy="22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6">
            <a:extLst>
              <a:ext uri="{FF2B5EF4-FFF2-40B4-BE49-F238E27FC236}">
                <a16:creationId xmlns:a16="http://schemas.microsoft.com/office/drawing/2014/main" id="{B659199C-3C95-4AFC-A5B6-7A983B2D9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638" y="3540544"/>
            <a:ext cx="2392362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0456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/>
        </p:nvSpPr>
        <p:spPr>
          <a:xfrm>
            <a:off x="442699" y="1293703"/>
            <a:ext cx="5493812" cy="331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增加類別：addClass()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移除類別：removeClass()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切換類別：toggleClass()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524162" y="308345"/>
            <a:ext cx="726352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設定元素的class的方式來變化CSS</a:t>
            </a:r>
            <a:endParaRPr sz="360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0597" y="1088243"/>
            <a:ext cx="5493812" cy="580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7418" y="4733266"/>
            <a:ext cx="1595167" cy="1662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4815" y="4703623"/>
            <a:ext cx="1636091" cy="166206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/>
          <p:nvPr/>
        </p:nvSpPr>
        <p:spPr>
          <a:xfrm>
            <a:off x="524162" y="4173736"/>
            <a:ext cx="49888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   可加CSS漸變屬性  transition: all 3s;</a:t>
            </a:r>
            <a:endParaRPr sz="1800" b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827913" y="3834709"/>
            <a:ext cx="34419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3-03-_transition的參考範例.html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7621273" y="-30682"/>
            <a:ext cx="4647426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3-03-(補)設定元素的class的方式來變化CSS</a:t>
            </a:r>
            <a:endParaRPr sz="180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624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6B37DF2-6308-4E71-A84C-73DEF39A60AF}"/>
              </a:ext>
            </a:extLst>
          </p:cNvPr>
          <p:cNvSpPr/>
          <p:nvPr/>
        </p:nvSpPr>
        <p:spPr>
          <a:xfrm>
            <a:off x="7453366" y="1089164"/>
            <a:ext cx="458356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&lt;!DOCTYPE html&gt;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&lt;html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lang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="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en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"&gt;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&lt;meta charset="UTF-8"&gt;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&lt;meta http-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equiv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="X-UA-Compatible" content="IE=edge"&gt;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&lt;meta name="viewport" content="width=device-width, initial-scale=1.0"&gt;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&lt;title&gt;Document&lt;/title&gt;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&lt;style&gt;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div    {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clear:left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;}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.selected  {background: orange; }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.small {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width:100px; 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float:left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margin:2px; 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padding:3px; 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border: 1px black solid;}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#big   {width:640px; }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&lt;/style&gt;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&lt;body&gt;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&lt;h3&gt;</a:t>
            </a:r>
            <a:r>
              <a:rPr lang="zh-TW" altLang="en-US" sz="800" dirty="0">
                <a:solidFill>
                  <a:schemeClr val="tx1"/>
                </a:solidFill>
                <a:latin typeface="Consolas" panose="020B0609020204030204" pitchFamily="49" charset="0"/>
              </a:rPr>
              <a:t>切換圖片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&lt;h3&gt;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&lt;div id="thumbs"&gt;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&lt;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img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 class="small selected"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src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="https://picsum.photos/id/584/150/100"&gt;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&lt;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img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 class="small"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src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="https://picsum.photos/id/585/150/100"&gt;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&lt;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img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 class="small"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src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="https://picsum.photos/id/586/150/100"&gt;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&lt;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img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 class="small"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src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="https://picsum.photos/id/588/150/100"&gt;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&lt;/div&gt;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&lt;div&gt;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&lt;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img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 id="big"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src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="https://picsum.photos/id/584/620/420"&gt;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&lt;/div&gt;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&lt;script&gt;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var small =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document.querySelectorAll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(".small");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var big =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document.querySelector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("#big");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for (var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=0 ;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 &lt;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small.length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 ;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++){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small[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].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addEventListener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click',function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for (var j=0 ; j &lt;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small.length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 ;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j++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    small[j].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classList.remove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("selected");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this.classList.toggle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("selected");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big.setAttribute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src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",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this.getAttribute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zh-TW" sz="800" dirty="0" err="1">
                <a:solidFill>
                  <a:schemeClr val="tx1"/>
                </a:solidFill>
                <a:latin typeface="Consolas" panose="020B0609020204030204" pitchFamily="49" charset="0"/>
              </a:rPr>
              <a:t>src</a:t>
            </a:r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"));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    });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    &lt;/script&gt;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altLang="zh-TW" sz="800" dirty="0">
                <a:solidFill>
                  <a:schemeClr val="tx1"/>
                </a:solidFill>
                <a:latin typeface="Consolas" panose="020B0609020204030204" pitchFamily="49" charset="0"/>
              </a:rPr>
              <a:t>&lt;/html&gt;</a:t>
            </a:r>
            <a:endParaRPr lang="en-US" altLang="zh-TW" sz="8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0A1A00-9F16-4FFD-8879-24C2795EA9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03A1E0-467A-497C-94C9-085DD3CFBA7A}" type="slidenum">
              <a:rPr lang="zh-TW" altLang="en-US" smtClean="0"/>
              <a:pPr/>
              <a:t>63</a:t>
            </a:fld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43E1308-8485-40F5-AE03-89B606336056}"/>
              </a:ext>
            </a:extLst>
          </p:cNvPr>
          <p:cNvSpPr txBox="1"/>
          <p:nvPr/>
        </p:nvSpPr>
        <p:spPr>
          <a:xfrm>
            <a:off x="155073" y="401587"/>
            <a:ext cx="71304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實機練習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：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_13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新增移除樣式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_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圖片點選切換</a:t>
            </a:r>
            <a:endParaRPr lang="en-US" altLang="zh-TW" sz="2800" b="1" dirty="0">
              <a:solidFill>
                <a:schemeClr val="accent6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同 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JavaScript 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題目，使用 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jQuery 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語法完成</a:t>
            </a:r>
            <a:endParaRPr lang="zh-TW" altLang="en-US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3609031-7A7C-40B0-AFF6-4A7647F61B9C}"/>
              </a:ext>
            </a:extLst>
          </p:cNvPr>
          <p:cNvSpPr txBox="1"/>
          <p:nvPr/>
        </p:nvSpPr>
        <p:spPr>
          <a:xfrm>
            <a:off x="7556493" y="809159"/>
            <a:ext cx="3435556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javaScript</a:t>
            </a:r>
            <a:r>
              <a:rPr lang="zh-TW" altLang="en-US" b="1" dirty="0">
                <a:solidFill>
                  <a:srgbClr val="FF0000"/>
                </a:solidFill>
              </a:rPr>
              <a:t> 程式碼 </a:t>
            </a:r>
            <a:r>
              <a:rPr lang="en-US" altLang="zh-TW" b="1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zh-TW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sym typeface="Wingdings" panose="05000000000000000000" pitchFamily="2" charset="2"/>
              </a:rPr>
              <a:t>jQuery </a:t>
            </a:r>
            <a:r>
              <a:rPr lang="zh-TW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程式碼？？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F9FD95-5DB2-4015-ABA1-8FF1F9D726F3}"/>
              </a:ext>
            </a:extLst>
          </p:cNvPr>
          <p:cNvSpPr/>
          <p:nvPr/>
        </p:nvSpPr>
        <p:spPr>
          <a:xfrm>
            <a:off x="1460795" y="3079979"/>
            <a:ext cx="396228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   $(document).ready(function(){</a:t>
            </a:r>
          </a:p>
          <a:p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 </a:t>
            </a:r>
            <a:r>
              <a:rPr lang="zh-TW" altLang="en-US" sz="10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  $(".small").on('</a:t>
            </a:r>
            <a:r>
              <a:rPr lang="en-US" altLang="zh-TW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click',function</a:t>
            </a:r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     </a:t>
            </a:r>
            <a:r>
              <a:rPr lang="zh-TW" altLang="en-US" sz="10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 $(".small").</a:t>
            </a:r>
            <a:r>
              <a:rPr lang="en-US" altLang="zh-TW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removeClass</a:t>
            </a:r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('selected');</a:t>
            </a:r>
          </a:p>
          <a:p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        $(this).</a:t>
            </a:r>
            <a:r>
              <a:rPr lang="en-US" altLang="zh-TW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addClass</a:t>
            </a:r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('selected');</a:t>
            </a:r>
          </a:p>
          <a:p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        $("#big").</a:t>
            </a:r>
            <a:r>
              <a:rPr lang="en-US" altLang="zh-TW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attr</a:t>
            </a:r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zh-TW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src</a:t>
            </a:r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",$(this).</a:t>
            </a:r>
            <a:r>
              <a:rPr lang="en-US" altLang="zh-TW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attr</a:t>
            </a:r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altLang="zh-TW" sz="1000" dirty="0" err="1">
                <a:solidFill>
                  <a:schemeClr val="tx1"/>
                </a:solidFill>
                <a:latin typeface="Consolas" panose="020B0609020204030204" pitchFamily="49" charset="0"/>
              </a:rPr>
              <a:t>src</a:t>
            </a:r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"));</a:t>
            </a:r>
          </a:p>
          <a:p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      });</a:t>
            </a:r>
          </a:p>
          <a:p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  });</a:t>
            </a:r>
          </a:p>
          <a:p>
            <a:r>
              <a:rPr lang="en-US" altLang="zh-TW" sz="1000" dirty="0">
                <a:solidFill>
                  <a:schemeClr val="tx1"/>
                </a:solidFill>
                <a:latin typeface="Consolas" panose="020B0609020204030204" pitchFamily="49" charset="0"/>
              </a:rPr>
              <a:t>&lt;/script&gt;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F430D17-3BCA-4595-9F7B-3AB54286D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56" y="1621498"/>
            <a:ext cx="5205544" cy="4394291"/>
          </a:xfrm>
          <a:prstGeom prst="rect">
            <a:avLst/>
          </a:prstGeom>
        </p:spPr>
      </p:pic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9C351E01-E0CD-4730-A61C-048C1ADA4A31}"/>
              </a:ext>
            </a:extLst>
          </p:cNvPr>
          <p:cNvSpPr/>
          <p:nvPr/>
        </p:nvSpPr>
        <p:spPr>
          <a:xfrm>
            <a:off x="5815263" y="1933074"/>
            <a:ext cx="136358" cy="20052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9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F108481-3ACB-4251-94EE-8A3F6715D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72" y="1783207"/>
            <a:ext cx="4428571" cy="444761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304318C-3A9F-43BE-9032-3AAA4D119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785" y="985949"/>
            <a:ext cx="6609524" cy="178095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59BF935-4527-414F-B0BC-ED30738E9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67025"/>
            <a:ext cx="5198684" cy="6858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DBE8C27-3366-47D9-81FE-16ADB29C4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191" y="1567151"/>
            <a:ext cx="6523809" cy="45238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A2BCEC0-90D0-4282-9EF6-39293C4238C0}"/>
              </a:ext>
            </a:extLst>
          </p:cNvPr>
          <p:cNvSpPr/>
          <p:nvPr/>
        </p:nvSpPr>
        <p:spPr>
          <a:xfrm>
            <a:off x="3248526" y="4836695"/>
            <a:ext cx="1227221" cy="393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52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5FA5BCD-E7B6-495D-B36F-75A22D3F72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03A1E0-467A-497C-94C9-085DD3CFBA7A}" type="slidenum">
              <a:rPr lang="zh-TW" altLang="en-US" smtClean="0"/>
              <a:pPr/>
              <a:t>65</a:t>
            </a:fld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0B1D84C-54F4-4497-8842-BC493E19EE39}"/>
              </a:ext>
            </a:extLst>
          </p:cNvPr>
          <p:cNvSpPr txBox="1"/>
          <p:nvPr/>
        </p:nvSpPr>
        <p:spPr>
          <a:xfrm>
            <a:off x="1860361" y="107541"/>
            <a:ext cx="8767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</a:rPr>
              <a:t>思考題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：同 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JavaScript 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題目，使用 </a:t>
            </a:r>
            <a:r>
              <a:rPr lang="en-US" altLang="zh-TW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jQuery </a:t>
            </a:r>
            <a:r>
              <a:rPr lang="zh-TW" altLang="en-US" sz="2800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語法完成</a:t>
            </a:r>
            <a:endParaRPr lang="zh-TW" altLang="en-US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CD1C905-D134-49DD-BB3F-06C479F0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958" y="1809932"/>
            <a:ext cx="10891939" cy="300467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2CD4925-3F3A-49BB-9C95-EE75C195E308}"/>
              </a:ext>
            </a:extLst>
          </p:cNvPr>
          <p:cNvSpPr txBox="1"/>
          <p:nvPr/>
        </p:nvSpPr>
        <p:spPr>
          <a:xfrm>
            <a:off x="925353" y="5313680"/>
            <a:ext cx="10341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</a:rPr>
              <a:t>再探索：將產品資料放到陣列中，載入到表格中。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50A2829-3113-4001-A881-C941A13E5756}"/>
              </a:ext>
            </a:extLst>
          </p:cNvPr>
          <p:cNvSpPr txBox="1"/>
          <p:nvPr/>
        </p:nvSpPr>
        <p:spPr>
          <a:xfrm>
            <a:off x="205103" y="4168274"/>
            <a:ext cx="3730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先想想父子間的關係</a:t>
            </a:r>
            <a:endParaRPr lang="en-US" altLang="zh-TW" dirty="0"/>
          </a:p>
          <a:p>
            <a:r>
              <a:rPr lang="en-US" altLang="zh-TW" dirty="0"/>
              <a:t>table &gt; tr &gt; td &gt; checkbox(</a:t>
            </a:r>
            <a:r>
              <a:rPr lang="zh-TW" altLang="en-US" dirty="0"/>
              <a:t>或 </a:t>
            </a:r>
            <a:r>
              <a:rPr lang="en-US" altLang="zh-TW" dirty="0"/>
              <a:t>input)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B8C995C-BBDD-4508-9CD5-B19CB0DA66D8}"/>
              </a:ext>
            </a:extLst>
          </p:cNvPr>
          <p:cNvSpPr txBox="1"/>
          <p:nvPr/>
        </p:nvSpPr>
        <p:spPr>
          <a:xfrm>
            <a:off x="2624035" y="1026987"/>
            <a:ext cx="8173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chemeClr val="accent6">
                    <a:lumMod val="50000"/>
                  </a:schemeClr>
                </a:solidFill>
              </a:rPr>
              <a:t>練習：</a:t>
            </a:r>
            <a:r>
              <a:rPr lang="en-US" altLang="zh-TW" sz="3200" b="1" dirty="0">
                <a:solidFill>
                  <a:schemeClr val="accent6">
                    <a:lumMod val="50000"/>
                  </a:schemeClr>
                </a:solidFill>
              </a:rPr>
              <a:t>14_</a:t>
            </a:r>
            <a:r>
              <a:rPr lang="zh-TW" altLang="en-US" sz="3200" b="1" dirty="0">
                <a:solidFill>
                  <a:schemeClr val="accent6">
                    <a:lumMod val="50000"/>
                  </a:schemeClr>
                </a:solidFill>
              </a:rPr>
              <a:t>購物車新增多產品</a:t>
            </a:r>
          </a:p>
        </p:txBody>
      </p:sp>
    </p:spTree>
    <p:extLst>
      <p:ext uri="{BB962C8B-B14F-4D97-AF65-F5344CB8AC3E}">
        <p14:creationId xmlns:p14="http://schemas.microsoft.com/office/powerpoint/2010/main" val="353171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9B51931-03C5-46A3-A78C-1F04DA95C1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66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02D42A5-81A7-4EB0-A3F8-95B0DA1CD9CD}"/>
              </a:ext>
            </a:extLst>
          </p:cNvPr>
          <p:cNvSpPr txBox="1"/>
          <p:nvPr/>
        </p:nvSpPr>
        <p:spPr>
          <a:xfrm>
            <a:off x="1180370" y="301904"/>
            <a:ext cx="5508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</a:rPr>
              <a:t>*動態生成綁定事件的方法範例)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8352067-D9CB-4DDA-BC6B-684655C3C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15" y="825124"/>
            <a:ext cx="7223599" cy="559828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8F486C6-DD47-43FB-8BAE-7A7406C3F635}"/>
              </a:ext>
            </a:extLst>
          </p:cNvPr>
          <p:cNvSpPr txBox="1"/>
          <p:nvPr/>
        </p:nvSpPr>
        <p:spPr>
          <a:xfrm>
            <a:off x="6556444" y="2877473"/>
            <a:ext cx="5243207" cy="17033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800" dirty="0">
                <a:solidFill>
                  <a:srgbClr val="FF0000"/>
                </a:solidFill>
              </a:rPr>
              <a:t>上面範例中是在</a:t>
            </a:r>
            <a:r>
              <a:rPr lang="en-US" altLang="zh-TW" sz="1800" dirty="0">
                <a:solidFill>
                  <a:srgbClr val="FF0000"/>
                </a:solidFill>
              </a:rPr>
              <a:t>&lt;</a:t>
            </a:r>
            <a:r>
              <a:rPr lang="en-US" altLang="zh-TW" sz="1800" dirty="0" err="1">
                <a:solidFill>
                  <a:srgbClr val="FF0000"/>
                </a:solidFill>
              </a:rPr>
              <a:t>tbody</a:t>
            </a:r>
            <a:r>
              <a:rPr lang="en-US" altLang="zh-TW" sz="1800" dirty="0">
                <a:solidFill>
                  <a:srgbClr val="FF0000"/>
                </a:solidFill>
              </a:rPr>
              <a:t>&gt;</a:t>
            </a:r>
            <a:r>
              <a:rPr lang="zh-TW" altLang="en-US" sz="1800" dirty="0">
                <a:solidFill>
                  <a:srgbClr val="FF0000"/>
                </a:solidFill>
              </a:rPr>
              <a:t>中要增加一個</a:t>
            </a:r>
            <a:r>
              <a:rPr lang="en-US" altLang="zh-TW" sz="1800" dirty="0">
                <a:solidFill>
                  <a:srgbClr val="FF0000"/>
                </a:solidFill>
              </a:rPr>
              <a:t>&lt;tr&gt;</a:t>
            </a:r>
            <a:r>
              <a:rPr lang="zh-TW" altLang="en-US" sz="1800" dirty="0">
                <a:solidFill>
                  <a:srgbClr val="FF0000"/>
                </a:solidFill>
              </a:rPr>
              <a:t>，因此，父元素就是 </a:t>
            </a:r>
            <a:r>
              <a:rPr lang="en-US" altLang="zh-TW" sz="1800" dirty="0" err="1">
                <a:solidFill>
                  <a:srgbClr val="FF0000"/>
                </a:solidFill>
              </a:rPr>
              <a:t>tbody</a:t>
            </a:r>
            <a:r>
              <a:rPr lang="zh-TW" altLang="en-US" sz="1800" dirty="0">
                <a:solidFill>
                  <a:srgbClr val="FF0000"/>
                </a:solidFill>
              </a:rPr>
              <a:t>。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z="1800" dirty="0">
                <a:solidFill>
                  <a:srgbClr val="FF0000"/>
                </a:solidFill>
              </a:rPr>
              <a:t>語法：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1800" dirty="0">
                <a:solidFill>
                  <a:srgbClr val="FF0000"/>
                </a:solidFill>
              </a:rPr>
              <a:t>$(‘</a:t>
            </a:r>
            <a:r>
              <a:rPr lang="en-US" altLang="zh-TW" sz="1800" dirty="0" err="1">
                <a:solidFill>
                  <a:srgbClr val="FF0000"/>
                </a:solidFill>
              </a:rPr>
              <a:t>tbody</a:t>
            </a:r>
            <a:r>
              <a:rPr lang="en-US" altLang="zh-TW" sz="1800" dirty="0">
                <a:solidFill>
                  <a:srgbClr val="FF0000"/>
                </a:solidFill>
              </a:rPr>
              <a:t>’).on(‘click’,</a:t>
            </a:r>
            <a:r>
              <a:rPr lang="zh-TW" altLang="en-US" sz="1800" dirty="0">
                <a:solidFill>
                  <a:srgbClr val="FF0000"/>
                </a:solidFill>
              </a:rPr>
              <a:t>目標元素</a:t>
            </a:r>
            <a:r>
              <a:rPr lang="en-US" altLang="zh-TW" sz="1800" dirty="0">
                <a:solidFill>
                  <a:srgbClr val="FF0000"/>
                </a:solidFill>
              </a:rPr>
              <a:t>,function(){…})</a:t>
            </a:r>
          </a:p>
        </p:txBody>
      </p:sp>
    </p:spTree>
    <p:extLst>
      <p:ext uri="{BB962C8B-B14F-4D97-AF65-F5344CB8AC3E}">
        <p14:creationId xmlns:p14="http://schemas.microsoft.com/office/powerpoint/2010/main" val="41911828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B657F4E-02B1-4850-B9D5-B3991A2EB8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67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771F41A-9137-4F69-9BBA-343A5615B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99" y="319088"/>
            <a:ext cx="5553851" cy="292934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52AD75A-B7FE-4170-A919-FABAD938F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576" y="304602"/>
            <a:ext cx="5548911" cy="294383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82C7922-7069-4A0E-9473-0DA994181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576" y="3412517"/>
            <a:ext cx="5499572" cy="294383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17A50BE-F1DA-4597-B147-B93394A35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464" y="3401970"/>
            <a:ext cx="5553851" cy="295438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D241D3D-F2D8-4F6D-9DD3-E2E7B00C0B4A}"/>
              </a:ext>
            </a:extLst>
          </p:cNvPr>
          <p:cNvSpPr/>
          <p:nvPr/>
        </p:nvSpPr>
        <p:spPr>
          <a:xfrm>
            <a:off x="4008120" y="2446020"/>
            <a:ext cx="266700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6BBA264-6690-4592-9D0A-2F9FD22070F8}"/>
              </a:ext>
            </a:extLst>
          </p:cNvPr>
          <p:cNvCxnSpPr/>
          <p:nvPr/>
        </p:nvCxnSpPr>
        <p:spPr>
          <a:xfrm>
            <a:off x="4274820" y="2537460"/>
            <a:ext cx="313182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A0CE236-8C27-4EE1-8EEF-88B8ADD563AD}"/>
              </a:ext>
            </a:extLst>
          </p:cNvPr>
          <p:cNvSpPr/>
          <p:nvPr/>
        </p:nvSpPr>
        <p:spPr>
          <a:xfrm>
            <a:off x="10160000" y="2446020"/>
            <a:ext cx="266700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50A9F8-D707-40F5-B033-C287866FB06A}"/>
              </a:ext>
            </a:extLst>
          </p:cNvPr>
          <p:cNvSpPr/>
          <p:nvPr/>
        </p:nvSpPr>
        <p:spPr>
          <a:xfrm>
            <a:off x="7733982" y="2407920"/>
            <a:ext cx="2370137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8B5DCC0-3AA9-4C3E-B9F1-EEA0521A52BD}"/>
              </a:ext>
            </a:extLst>
          </p:cNvPr>
          <p:cNvCxnSpPr>
            <a:cxnSpLocks/>
          </p:cNvCxnSpPr>
          <p:nvPr/>
        </p:nvCxnSpPr>
        <p:spPr>
          <a:xfrm flipH="1">
            <a:off x="10264140" y="2659380"/>
            <a:ext cx="38100" cy="28587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D64EA1D-2627-4E0F-ACE4-5CFE4797AD75}"/>
              </a:ext>
            </a:extLst>
          </p:cNvPr>
          <p:cNvSpPr/>
          <p:nvPr/>
        </p:nvSpPr>
        <p:spPr>
          <a:xfrm>
            <a:off x="10426700" y="5720080"/>
            <a:ext cx="266700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FF21C1-65BF-4D65-8D99-7030263C243B}"/>
              </a:ext>
            </a:extLst>
          </p:cNvPr>
          <p:cNvSpPr/>
          <p:nvPr/>
        </p:nvSpPr>
        <p:spPr>
          <a:xfrm>
            <a:off x="1231900" y="5760720"/>
            <a:ext cx="3522980" cy="1752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01414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64EE1C7-6906-4F1E-B0A4-6ABDF33CA6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68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EC25649-F592-4658-8367-19CFB24E0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1" y="378466"/>
            <a:ext cx="5648653" cy="330519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44AE23F-82EB-4DF8-BCC1-1208C9029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059" y="499849"/>
            <a:ext cx="5944218" cy="328597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BC83FBB-3955-4BDB-99DC-1F66E2A0DE3A}"/>
              </a:ext>
            </a:extLst>
          </p:cNvPr>
          <p:cNvSpPr/>
          <p:nvPr/>
        </p:nvSpPr>
        <p:spPr>
          <a:xfrm>
            <a:off x="424873" y="1802133"/>
            <a:ext cx="286327" cy="22167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手繪多邊形: 圖案 8">
            <a:extLst>
              <a:ext uri="{FF2B5EF4-FFF2-40B4-BE49-F238E27FC236}">
                <a16:creationId xmlns:a16="http://schemas.microsoft.com/office/drawing/2014/main" id="{5268D17F-E57C-40F8-9462-0DAD75D39D13}"/>
              </a:ext>
            </a:extLst>
          </p:cNvPr>
          <p:cNvSpPr/>
          <p:nvPr/>
        </p:nvSpPr>
        <p:spPr>
          <a:xfrm>
            <a:off x="219723" y="2068945"/>
            <a:ext cx="279041" cy="1366982"/>
          </a:xfrm>
          <a:custGeom>
            <a:avLst/>
            <a:gdLst>
              <a:gd name="connsiteX0" fmla="*/ 177441 w 279041"/>
              <a:gd name="connsiteY0" fmla="*/ 0 h 1366982"/>
              <a:gd name="connsiteX1" fmla="*/ 1950 w 279041"/>
              <a:gd name="connsiteY1" fmla="*/ 508000 h 1366982"/>
              <a:gd name="connsiteX2" fmla="*/ 279041 w 279041"/>
              <a:gd name="connsiteY2" fmla="*/ 1366982 h 1366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041" h="1366982">
                <a:moveTo>
                  <a:pt x="177441" y="0"/>
                </a:moveTo>
                <a:cubicBezTo>
                  <a:pt x="81229" y="140085"/>
                  <a:pt x="-14983" y="280170"/>
                  <a:pt x="1950" y="508000"/>
                </a:cubicBezTo>
                <a:cubicBezTo>
                  <a:pt x="18883" y="735830"/>
                  <a:pt x="148962" y="1051406"/>
                  <a:pt x="279041" y="1366982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598E03-B2D7-4784-B978-CF4EA79FB428}"/>
              </a:ext>
            </a:extLst>
          </p:cNvPr>
          <p:cNvSpPr/>
          <p:nvPr/>
        </p:nvSpPr>
        <p:spPr>
          <a:xfrm>
            <a:off x="4775382" y="2068944"/>
            <a:ext cx="286327" cy="24938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FC955FC7-9224-4A57-A36E-9636D7E9CFCA}"/>
              </a:ext>
            </a:extLst>
          </p:cNvPr>
          <p:cNvSpPr/>
          <p:nvPr/>
        </p:nvSpPr>
        <p:spPr>
          <a:xfrm>
            <a:off x="4895273" y="1682068"/>
            <a:ext cx="1682863" cy="697988"/>
          </a:xfrm>
          <a:custGeom>
            <a:avLst/>
            <a:gdLst>
              <a:gd name="connsiteX0" fmla="*/ 0 w 1682863"/>
              <a:gd name="connsiteY0" fmla="*/ 322223 h 697988"/>
              <a:gd name="connsiteX1" fmla="*/ 517236 w 1682863"/>
              <a:gd name="connsiteY1" fmla="*/ 8187 h 697988"/>
              <a:gd name="connsiteX2" fmla="*/ 1551709 w 1682863"/>
              <a:gd name="connsiteY2" fmla="*/ 617787 h 697988"/>
              <a:gd name="connsiteX3" fmla="*/ 1634836 w 1682863"/>
              <a:gd name="connsiteY3" fmla="*/ 673205 h 697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2863" h="697988">
                <a:moveTo>
                  <a:pt x="0" y="322223"/>
                </a:moveTo>
                <a:cubicBezTo>
                  <a:pt x="129309" y="140574"/>
                  <a:pt x="258618" y="-41074"/>
                  <a:pt x="517236" y="8187"/>
                </a:cubicBezTo>
                <a:cubicBezTo>
                  <a:pt x="775854" y="57448"/>
                  <a:pt x="1365442" y="506951"/>
                  <a:pt x="1551709" y="617787"/>
                </a:cubicBezTo>
                <a:cubicBezTo>
                  <a:pt x="1737976" y="728623"/>
                  <a:pt x="1686406" y="700914"/>
                  <a:pt x="1634836" y="673205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3972B7-E5AA-404D-979F-E228ECC40931}"/>
              </a:ext>
            </a:extLst>
          </p:cNvPr>
          <p:cNvSpPr/>
          <p:nvPr/>
        </p:nvSpPr>
        <p:spPr>
          <a:xfrm>
            <a:off x="10974645" y="2068945"/>
            <a:ext cx="661017" cy="33250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EA78DB-FA7B-4DFE-9384-C62C31D7337D}"/>
              </a:ext>
            </a:extLst>
          </p:cNvPr>
          <p:cNvSpPr/>
          <p:nvPr/>
        </p:nvSpPr>
        <p:spPr>
          <a:xfrm>
            <a:off x="6447749" y="2142836"/>
            <a:ext cx="2289851" cy="54494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1158EC58-FD64-4C64-BEBE-66B8B6D8C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09" y="3429000"/>
            <a:ext cx="5809491" cy="3454292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568BCEEF-654D-42D7-9055-A2F6860EF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077" y="3525824"/>
            <a:ext cx="5560473" cy="3300216"/>
          </a:xfrm>
          <a:prstGeom prst="rect">
            <a:avLst/>
          </a:prstGeom>
        </p:spPr>
      </p:pic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C6A8C0AE-9B44-4757-BB29-87DA5CC99D38}"/>
              </a:ext>
            </a:extLst>
          </p:cNvPr>
          <p:cNvCxnSpPr>
            <a:cxnSpLocks/>
          </p:cNvCxnSpPr>
          <p:nvPr/>
        </p:nvCxnSpPr>
        <p:spPr>
          <a:xfrm flipH="1">
            <a:off x="1967729" y="6031345"/>
            <a:ext cx="4487569" cy="1847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9A39AA6-B144-437C-94CE-2DCA0E745EF2}"/>
              </a:ext>
            </a:extLst>
          </p:cNvPr>
          <p:cNvSpPr/>
          <p:nvPr/>
        </p:nvSpPr>
        <p:spPr>
          <a:xfrm>
            <a:off x="10924884" y="2082799"/>
            <a:ext cx="286327" cy="22167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63FF0F-4356-447E-A3DE-AED1D8452AD4}"/>
              </a:ext>
            </a:extLst>
          </p:cNvPr>
          <p:cNvSpPr/>
          <p:nvPr/>
        </p:nvSpPr>
        <p:spPr>
          <a:xfrm>
            <a:off x="6578136" y="5795817"/>
            <a:ext cx="256773" cy="23552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7873C3-B6C1-4ABD-A258-260FF46031AA}"/>
              </a:ext>
            </a:extLst>
          </p:cNvPr>
          <p:cNvSpPr/>
          <p:nvPr/>
        </p:nvSpPr>
        <p:spPr>
          <a:xfrm>
            <a:off x="10808390" y="5142291"/>
            <a:ext cx="661017" cy="33250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694145-A03C-4322-ACCF-C279E9073AF8}"/>
              </a:ext>
            </a:extLst>
          </p:cNvPr>
          <p:cNvSpPr/>
          <p:nvPr/>
        </p:nvSpPr>
        <p:spPr>
          <a:xfrm>
            <a:off x="5246255" y="5747326"/>
            <a:ext cx="600363" cy="33250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672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978453-FF37-4707-BBED-3E8F101680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69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E01AB20-94FC-400C-B0A4-1CE44DD57647}"/>
              </a:ext>
            </a:extLst>
          </p:cNvPr>
          <p:cNvSpPr txBox="1"/>
          <p:nvPr/>
        </p:nvSpPr>
        <p:spPr>
          <a:xfrm>
            <a:off x="2524540" y="502094"/>
            <a:ext cx="57845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13.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使用 </a:t>
            </a:r>
            <a:r>
              <a:rPr lang="en-US" altLang="zh-TW" sz="4000" b="1" dirty="0">
                <a:solidFill>
                  <a:schemeClr val="accent6">
                    <a:lumMod val="50000"/>
                  </a:schemeClr>
                </a:solidFill>
              </a:rPr>
              <a:t>jQuery </a:t>
            </a:r>
            <a:r>
              <a:rPr lang="zh-TW" altLang="en-US" sz="4000" b="1" dirty="0">
                <a:solidFill>
                  <a:schemeClr val="accent6">
                    <a:lumMod val="50000"/>
                  </a:schemeClr>
                </a:solidFill>
              </a:rPr>
              <a:t>特效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0A28385-66B0-4AE4-AD05-1EE4B667B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222947"/>
              </p:ext>
            </p:extLst>
          </p:nvPr>
        </p:nvGraphicFramePr>
        <p:xfrm>
          <a:off x="834189" y="1614183"/>
          <a:ext cx="10337392" cy="3139440"/>
        </p:xfrm>
        <a:graphic>
          <a:graphicData uri="http://schemas.openxmlformats.org/drawingml/2006/table">
            <a:tbl>
              <a:tblPr firstRow="1" bandRow="1">
                <a:tableStyleId>{7D4EC54D-0DAB-4541-8A27-4D770AF52201}</a:tableStyleId>
              </a:tblPr>
              <a:tblGrid>
                <a:gridCol w="2470485">
                  <a:extLst>
                    <a:ext uri="{9D8B030D-6E8A-4147-A177-3AD203B41FA5}">
                      <a16:colId xmlns:a16="http://schemas.microsoft.com/office/drawing/2014/main" val="124420077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84125040"/>
                    </a:ext>
                  </a:extLst>
                </a:gridCol>
                <a:gridCol w="4818907">
                  <a:extLst>
                    <a:ext uri="{9D8B030D-6E8A-4147-A177-3AD203B41FA5}">
                      <a16:colId xmlns:a16="http://schemas.microsoft.com/office/drawing/2014/main" val="1019356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方法</a:t>
                      </a:r>
                      <a:r>
                        <a:rPr lang="en-US" altLang="zh-TW" sz="3600" dirty="0"/>
                        <a:t>(</a:t>
                      </a:r>
                      <a:r>
                        <a:rPr lang="zh-TW" altLang="en-US" sz="3600" dirty="0"/>
                        <a:t>函數</a:t>
                      </a:r>
                      <a:r>
                        <a:rPr lang="en-US" altLang="zh-TW" sz="3600" dirty="0"/>
                        <a:t>)</a:t>
                      </a:r>
                      <a:endParaRPr lang="zh-TW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備註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48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800" dirty="0"/>
                        <a:t>淡入效果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元素</a:t>
                      </a:r>
                      <a:r>
                        <a:rPr lang="en-US" altLang="zh-TW" sz="2800" dirty="0"/>
                        <a:t>. </a:t>
                      </a:r>
                      <a:r>
                        <a:rPr lang="en-US" altLang="zh-TW" sz="2800" dirty="0" err="1"/>
                        <a:t>fadeIn</a:t>
                      </a:r>
                      <a:r>
                        <a:rPr lang="en-US" altLang="zh-TW" sz="2800" dirty="0"/>
                        <a:t>()</a:t>
                      </a:r>
                      <a:endParaRPr lang="zh-TW" altLang="en-US" sz="2800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zh-TW" altLang="en-US" sz="2400" dirty="0"/>
                        <a:t>可利用選用參數控制漸入效果時間長短：</a:t>
                      </a:r>
                      <a:endParaRPr lang="en-US" altLang="zh-TW" sz="2400" dirty="0"/>
                    </a:p>
                    <a:p>
                      <a:pPr marL="457200" indent="-457200">
                        <a:buFont typeface="Wingdings" panose="05000000000000000000" pitchFamily="2" charset="2"/>
                        <a:buAutoNum type="circleNumWdWhitePlain"/>
                      </a:pPr>
                      <a:r>
                        <a:rPr lang="en-US" altLang="zh-TW" sz="2400" dirty="0"/>
                        <a:t>‘fast’ </a:t>
                      </a:r>
                      <a:r>
                        <a:rPr lang="zh-TW" altLang="en-US" sz="2400" dirty="0"/>
                        <a:t>或 </a:t>
                      </a:r>
                      <a:r>
                        <a:rPr lang="en-US" altLang="zh-TW" sz="2400" dirty="0"/>
                        <a:t>‘slow’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AutoNum type="circleNumWdWhitePlain"/>
                      </a:pPr>
                      <a:r>
                        <a:rPr lang="zh-TW" altLang="en-US" sz="2400" dirty="0"/>
                        <a:t>時間值</a:t>
                      </a:r>
                      <a:r>
                        <a:rPr lang="en-US" altLang="zh-TW" sz="2400" dirty="0"/>
                        <a:t>(</a:t>
                      </a:r>
                      <a:r>
                        <a:rPr lang="zh-TW" altLang="en-US" sz="2400" dirty="0"/>
                        <a:t>單位</a:t>
                      </a:r>
                      <a:r>
                        <a:rPr lang="en-US" altLang="zh-TW" sz="2400" dirty="0"/>
                        <a:t>:</a:t>
                      </a:r>
                      <a:r>
                        <a:rPr lang="zh-TW" altLang="en-US" sz="2400" dirty="0"/>
                        <a:t>毫秒</a:t>
                      </a:r>
                      <a:r>
                        <a:rPr lang="en-US" altLang="zh-TW" sz="2400" dirty="0"/>
                        <a:t>)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63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800" dirty="0"/>
                        <a:t>淡出效果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元素</a:t>
                      </a:r>
                      <a:r>
                        <a:rPr lang="en-US" altLang="zh-TW" sz="2800" dirty="0"/>
                        <a:t>. </a:t>
                      </a:r>
                      <a:r>
                        <a:rPr lang="en-US" altLang="zh-TW" sz="2800" dirty="0" err="1"/>
                        <a:t>fadeOut</a:t>
                      </a:r>
                      <a:r>
                        <a:rPr lang="en-US" altLang="zh-TW" sz="2800" dirty="0"/>
                        <a:t>()</a:t>
                      </a:r>
                      <a:endParaRPr lang="zh-TW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047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由上往下滑動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元素</a:t>
                      </a:r>
                      <a:r>
                        <a:rPr lang="en-US" altLang="zh-TW" sz="2800" dirty="0"/>
                        <a:t>. </a:t>
                      </a:r>
                      <a:r>
                        <a:rPr lang="en-US" altLang="zh-TW" sz="2800" dirty="0" err="1"/>
                        <a:t>slideDown</a:t>
                      </a:r>
                      <a:r>
                        <a:rPr lang="en-US" altLang="zh-TW" sz="2800" dirty="0"/>
                        <a:t>()</a:t>
                      </a:r>
                      <a:endParaRPr lang="zh-TW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28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由下往上滑動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2800" dirty="0"/>
                        <a:t>元素</a:t>
                      </a:r>
                      <a:r>
                        <a:rPr lang="en-US" altLang="zh-TW" sz="2800" dirty="0"/>
                        <a:t>. </a:t>
                      </a:r>
                      <a:r>
                        <a:rPr lang="en-US" altLang="zh-TW" sz="2800" dirty="0" err="1"/>
                        <a:t>slideUp</a:t>
                      </a:r>
                      <a:r>
                        <a:rPr lang="en-US" altLang="zh-TW" sz="2800" dirty="0"/>
                        <a:t>()</a:t>
                      </a:r>
                      <a:endParaRPr lang="zh-TW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605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28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8D0801-890B-424A-85FC-A82A429D5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70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1B6CC66-E8C0-45E8-A0FA-1CF155EC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226" y="364095"/>
            <a:ext cx="3895174" cy="497157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A1FD9E7-9A16-4C5E-80BE-472FF1A11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588" y="2955799"/>
            <a:ext cx="3861585" cy="365975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1115015-177B-470B-A646-62CACCC67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26" y="1351213"/>
            <a:ext cx="5609821" cy="526983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8DDC42D-C295-4654-9EF0-9989BAA3BDEE}"/>
              </a:ext>
            </a:extLst>
          </p:cNvPr>
          <p:cNvSpPr txBox="1"/>
          <p:nvPr/>
        </p:nvSpPr>
        <p:spPr>
          <a:xfrm>
            <a:off x="417094" y="457201"/>
            <a:ext cx="65381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accent6">
                    <a:lumMod val="50000"/>
                  </a:schemeClr>
                </a:solidFill>
              </a:rPr>
              <a:t>範例解說：</a:t>
            </a:r>
            <a:r>
              <a:rPr lang="en-US" altLang="zh-TW" sz="3200" b="1" dirty="0">
                <a:solidFill>
                  <a:schemeClr val="accent6">
                    <a:lumMod val="50000"/>
                  </a:schemeClr>
                </a:solidFill>
              </a:rPr>
              <a:t>_15</a:t>
            </a:r>
            <a:r>
              <a:rPr lang="zh-TW" altLang="en-US" sz="3200" b="1" dirty="0">
                <a:solidFill>
                  <a:schemeClr val="accent6">
                    <a:lumMod val="50000"/>
                  </a:schemeClr>
                </a:solidFill>
              </a:rPr>
              <a:t>書籍介紹動畫</a:t>
            </a:r>
          </a:p>
        </p:txBody>
      </p:sp>
    </p:spTree>
    <p:extLst>
      <p:ext uri="{BB962C8B-B14F-4D97-AF65-F5344CB8AC3E}">
        <p14:creationId xmlns:p14="http://schemas.microsoft.com/office/powerpoint/2010/main" val="1586476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9420" y="3788193"/>
            <a:ext cx="6373111" cy="299911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/>
          <p:nvPr/>
        </p:nvSpPr>
        <p:spPr>
          <a:xfrm>
            <a:off x="122665" y="182635"/>
            <a:ext cx="501291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使用 Slide 設計滑動效果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828966"/>
            <a:ext cx="3708971" cy="258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69920" y="912899"/>
            <a:ext cx="1977588" cy="152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66933" y="828966"/>
            <a:ext cx="4046543" cy="2170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20674" y="1004362"/>
            <a:ext cx="1710268" cy="1623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44337" y="4230560"/>
            <a:ext cx="4335234" cy="105718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/>
          <p:nvPr/>
        </p:nvSpPr>
        <p:spPr>
          <a:xfrm>
            <a:off x="5219272" y="2627440"/>
            <a:ext cx="528236" cy="55430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9804373" y="2627440"/>
            <a:ext cx="528236" cy="55430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9164548" y="3304582"/>
            <a:ext cx="748928" cy="55430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6"/>
          <p:cNvSpPr/>
          <p:nvPr/>
        </p:nvSpPr>
        <p:spPr>
          <a:xfrm rot="10800000">
            <a:off x="4691036" y="5010595"/>
            <a:ext cx="528236" cy="55430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5757" y="5287749"/>
            <a:ext cx="3996647" cy="99746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791110" y="4839128"/>
            <a:ext cx="1569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slideUp()關閉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10014958" y="3683865"/>
            <a:ext cx="18646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slideDown()關閉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5329420" y="3176475"/>
            <a:ext cx="410644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jQuery()會偵測當關閉時，按此紐會打開。當偵測到開啟時，會自動關閉。</a:t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8378135" y="8157"/>
            <a:ext cx="3813865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3-01-slide_使用 Slide 設計滑動效果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357250" y="3493456"/>
            <a:ext cx="3864712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slideDown()往下展開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slideUp()往上收合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slideToggle()自動展開/收合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299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234824" y="213457"/>
            <a:ext cx="591719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使用 Fade 設計淡入淡出效果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70" y="1090158"/>
            <a:ext cx="5333333" cy="139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101" y="3169884"/>
            <a:ext cx="5333333" cy="3186466"/>
          </a:xfrm>
          <a:prstGeom prst="rect">
            <a:avLst/>
          </a:prstGeom>
          <a:noFill/>
          <a:ln w="28575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8" name="Google Shape;198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9894" y="3169884"/>
            <a:ext cx="5274150" cy="3186466"/>
          </a:xfrm>
          <a:prstGeom prst="rect">
            <a:avLst/>
          </a:prstGeom>
          <a:noFill/>
          <a:ln w="28575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9" name="Google Shape;199;p17"/>
          <p:cNvSpPr/>
          <p:nvPr/>
        </p:nvSpPr>
        <p:spPr>
          <a:xfrm>
            <a:off x="5825447" y="4572000"/>
            <a:ext cx="503434" cy="6463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6529894" y="2732926"/>
            <a:ext cx="34291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動畫都是使用CSS來達成效果。</a:t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 rot="10800000">
            <a:off x="8244465" y="2266215"/>
            <a:ext cx="570761" cy="46671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9127817" y="2295968"/>
            <a:ext cx="24545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也可以用 fadeToggle()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96512" y="415576"/>
            <a:ext cx="4354912" cy="185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/>
          <p:nvPr/>
        </p:nvSpPr>
        <p:spPr>
          <a:xfrm>
            <a:off x="7929295" y="-48141"/>
            <a:ext cx="4262705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3-02-fade_使用 Fade 設計淡入淡出效果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590112" y="2665300"/>
            <a:ext cx="3829446" cy="1200329"/>
          </a:xfrm>
          <a:prstGeom prst="rect">
            <a:avLst/>
          </a:prstGeom>
          <a:solidFill>
            <a:srgbClr val="CAEBF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fadeIn() 淡出(無到有)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fadeout() 淡入(有到無)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fadeToggle()自動淡出/淡入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803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/>
          <p:nvPr/>
        </p:nvSpPr>
        <p:spPr>
          <a:xfrm>
            <a:off x="197178" y="402726"/>
            <a:ext cx="1199482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那使用 toggleClass、搭配 CSS3 Transition 自訂 CSS 效果吧！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7247" y="1242088"/>
            <a:ext cx="2619523" cy="1686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1804" y="2584531"/>
            <a:ext cx="4913366" cy="1001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178" y="1242088"/>
            <a:ext cx="4143606" cy="2503231"/>
          </a:xfrm>
          <a:prstGeom prst="rect">
            <a:avLst/>
          </a:prstGeom>
          <a:noFill/>
          <a:ln w="19050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6" name="Google Shape;226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4029" y="3932966"/>
            <a:ext cx="4386516" cy="2608609"/>
          </a:xfrm>
          <a:prstGeom prst="rect">
            <a:avLst/>
          </a:prstGeom>
          <a:noFill/>
          <a:ln w="28575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7" name="Google Shape;227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46128" y="4242951"/>
            <a:ext cx="4059329" cy="2381042"/>
          </a:xfrm>
          <a:prstGeom prst="rect">
            <a:avLst/>
          </a:prstGeom>
          <a:noFill/>
          <a:ln w="28575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8" name="Google Shape;228;p19"/>
          <p:cNvSpPr/>
          <p:nvPr/>
        </p:nvSpPr>
        <p:spPr>
          <a:xfrm>
            <a:off x="4436984" y="2332234"/>
            <a:ext cx="474063" cy="55480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9242610" y="3680231"/>
            <a:ext cx="523982" cy="50547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/>
          <p:nvPr/>
        </p:nvSpPr>
        <p:spPr>
          <a:xfrm rot="10800000">
            <a:off x="6843515" y="5553636"/>
            <a:ext cx="670000" cy="55480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7992941" y="1606332"/>
            <a:ext cx="30517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另外，可利用動態加上新的 class 的效果，做出動畫來。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937790" y="1236954"/>
            <a:ext cx="11079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初始狀態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0146214" y="3960419"/>
            <a:ext cx="177484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按下留言打開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會.text多加一個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active 的選擇器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3981457" y="4283235"/>
            <a:ext cx="1569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按下留言關閉</a:t>
            </a:r>
            <a:endParaRPr/>
          </a:p>
        </p:txBody>
      </p:sp>
      <p:pic>
        <p:nvPicPr>
          <p:cNvPr id="235" name="Google Shape;235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7178" y="4107069"/>
            <a:ext cx="2323294" cy="151139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/>
          <p:nvPr/>
        </p:nvSpPr>
        <p:spPr>
          <a:xfrm>
            <a:off x="88717" y="5615912"/>
            <a:ext cx="275131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但沒淡入淡出效果，要調整半透明度opacity的值，另外，要用 tansition命令做出漸進效果。</a:t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3088378" y="10134"/>
            <a:ext cx="9103622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3-03-toggleclass-transition_那使用 toggleClass、搭配 CSS3 Transition 自訂 CSS 效果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756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328" y="1976082"/>
            <a:ext cx="9000000" cy="346666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/>
          <p:nvPr/>
        </p:nvSpPr>
        <p:spPr>
          <a:xfrm>
            <a:off x="507439" y="488504"/>
            <a:ext cx="53078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 jQuery 鏈式寫法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892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/>
          <p:nvPr/>
        </p:nvSpPr>
        <p:spPr>
          <a:xfrm>
            <a:off x="16199" y="272194"/>
            <a:ext cx="832073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使用</a:t>
            </a: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preventDefault</a:t>
            </a: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() 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取消默認行為</a:t>
            </a:r>
            <a:endParaRPr sz="3600" b="1" i="0" dirty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964" y="1277896"/>
            <a:ext cx="8001965" cy="267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6471" y="5204488"/>
            <a:ext cx="6199769" cy="151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78621" y="4347715"/>
            <a:ext cx="3647619" cy="771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3223" y="4122626"/>
            <a:ext cx="3161905" cy="2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/>
          <p:nvPr/>
        </p:nvSpPr>
        <p:spPr>
          <a:xfrm rot="10800000">
            <a:off x="5577842" y="4535424"/>
            <a:ext cx="743712" cy="5837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9765792" y="3256994"/>
            <a:ext cx="499872" cy="86563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6185163" y="0"/>
            <a:ext cx="6006837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4-01-preVentDefault_使用 preventDefault() 取消默認行為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7350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/>
          <p:nvPr/>
        </p:nvSpPr>
        <p:spPr>
          <a:xfrm>
            <a:off x="243839" y="333863"/>
            <a:ext cx="1146689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jQuery 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() 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方法</a:t>
            </a: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教你如何動態載入</a:t>
            </a: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 CSS style 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設定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3"/>
          <p:cNvPicPr preferRelativeResize="0"/>
          <p:nvPr/>
        </p:nvPicPr>
        <p:blipFill rotWithShape="1">
          <a:blip r:embed="rId3">
            <a:alphaModFix/>
          </a:blip>
          <a:srcRect l="46360"/>
          <a:stretch/>
        </p:blipFill>
        <p:spPr>
          <a:xfrm>
            <a:off x="121920" y="4049690"/>
            <a:ext cx="5108448" cy="1243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46271" y="1672483"/>
            <a:ext cx="6523809" cy="489523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9" name="Google Shape;279;p23"/>
          <p:cNvPicPr preferRelativeResize="0"/>
          <p:nvPr/>
        </p:nvPicPr>
        <p:blipFill rotWithShape="1">
          <a:blip r:embed="rId3">
            <a:alphaModFix/>
          </a:blip>
          <a:srcRect r="54002"/>
          <a:stretch/>
        </p:blipFill>
        <p:spPr>
          <a:xfrm>
            <a:off x="121920" y="2288865"/>
            <a:ext cx="4631610" cy="131470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238105" y="5888736"/>
            <a:ext cx="48760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CSS 的 HTML style 屬性 優先權 &gt; 類別選擇器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6876461" y="-35469"/>
            <a:ext cx="5339923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4-02-css() 方法- 教你如何動態載入 CSS style 設定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724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670" y="876334"/>
            <a:ext cx="4771429" cy="3828571"/>
          </a:xfrm>
          <a:prstGeom prst="rect">
            <a:avLst/>
          </a:prstGeom>
          <a:solidFill>
            <a:srgbClr val="00888F"/>
          </a:solidFill>
          <a:ln w="9525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7" name="Google Shape;28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3741" y="1541156"/>
            <a:ext cx="6970686" cy="531684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/>
          <p:nvPr/>
        </p:nvSpPr>
        <p:spPr>
          <a:xfrm>
            <a:off x="6096000" y="91780"/>
            <a:ext cx="6096000" cy="64633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4-02-css() 方法- 教你如何動態載入 CSS style 設定 (補)增加書籍(Demo與練習題)</a:t>
            </a:r>
            <a:endParaRPr sz="180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837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/>
          <p:nvPr/>
        </p:nvSpPr>
        <p:spPr>
          <a:xfrm>
            <a:off x="170688" y="176581"/>
            <a:ext cx="7327392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delay() - 延遲動畫效果的好用語法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</a:br>
            <a:endParaRPr sz="360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688" y="1053744"/>
            <a:ext cx="4988809" cy="4092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1257" y="720430"/>
            <a:ext cx="4514286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8304277" y="346443"/>
            <a:ext cx="18004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動畫會一起出現</a:t>
            </a:r>
            <a:endParaRPr/>
          </a:p>
        </p:txBody>
      </p:sp>
      <p:pic>
        <p:nvPicPr>
          <p:cNvPr id="297" name="Google Shape;297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03049" y="2899072"/>
            <a:ext cx="4448717" cy="1640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47168" y="5016386"/>
            <a:ext cx="4514286" cy="17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8471251" y="2520430"/>
            <a:ext cx="1569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動畫依序出現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7325244" y="4568965"/>
            <a:ext cx="47628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注意:show()動畫會立即出現，因此要給時間0</a:t>
            </a:r>
            <a:endParaRPr/>
          </a:p>
        </p:txBody>
      </p:sp>
      <p:pic>
        <p:nvPicPr>
          <p:cNvPr id="301" name="Google Shape;301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79767" y="1053744"/>
            <a:ext cx="909724" cy="2615458"/>
          </a:xfrm>
          <a:prstGeom prst="rect">
            <a:avLst/>
          </a:prstGeom>
          <a:noFill/>
          <a:ln w="9525" cap="flat" cmpd="sng">
            <a:solidFill>
              <a:srgbClr val="228EB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2" name="Google Shape;302;p25"/>
          <p:cNvSpPr/>
          <p:nvPr/>
        </p:nvSpPr>
        <p:spPr>
          <a:xfrm>
            <a:off x="7475977" y="-22853"/>
            <a:ext cx="4852610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4-03-delay_delay() - 延遲動畫效果的好用語法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348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/>
          <p:nvPr/>
        </p:nvSpPr>
        <p:spPr>
          <a:xfrm>
            <a:off x="854951" y="323612"/>
            <a:ext cx="58119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rgbClr val="454B5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jQuery 線上辭典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720" y="1302955"/>
            <a:ext cx="9814560" cy="548704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7889359" y="813284"/>
            <a:ext cx="322395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https://oscarotero.com/jquery/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1222578" y="4518836"/>
            <a:ext cx="499730" cy="148856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5029199" y="3604436"/>
            <a:ext cx="659219" cy="276447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5029199" y="4455041"/>
            <a:ext cx="839973" cy="276447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5029199" y="2676190"/>
            <a:ext cx="771526" cy="120174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68;p15">
            <a:extLst>
              <a:ext uri="{FF2B5EF4-FFF2-40B4-BE49-F238E27FC236}">
                <a16:creationId xmlns:a16="http://schemas.microsoft.com/office/drawing/2014/main" id="{5A3E2496-6F72-40EB-8EEA-574556B03C0C}"/>
              </a:ext>
            </a:extLst>
          </p:cNvPr>
          <p:cNvSpPr/>
          <p:nvPr/>
        </p:nvSpPr>
        <p:spPr>
          <a:xfrm>
            <a:off x="5029199" y="2961165"/>
            <a:ext cx="771526" cy="120173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68;p15">
            <a:extLst>
              <a:ext uri="{FF2B5EF4-FFF2-40B4-BE49-F238E27FC236}">
                <a16:creationId xmlns:a16="http://schemas.microsoft.com/office/drawing/2014/main" id="{322E802C-821A-430C-9F89-E1DA186B759D}"/>
              </a:ext>
            </a:extLst>
          </p:cNvPr>
          <p:cNvSpPr/>
          <p:nvPr/>
        </p:nvSpPr>
        <p:spPr>
          <a:xfrm>
            <a:off x="5029199" y="3229081"/>
            <a:ext cx="771526" cy="120173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68;p15">
            <a:extLst>
              <a:ext uri="{FF2B5EF4-FFF2-40B4-BE49-F238E27FC236}">
                <a16:creationId xmlns:a16="http://schemas.microsoft.com/office/drawing/2014/main" id="{347D7C48-798A-4455-B680-FDD1B5BEDC59}"/>
              </a:ext>
            </a:extLst>
          </p:cNvPr>
          <p:cNvSpPr/>
          <p:nvPr/>
        </p:nvSpPr>
        <p:spPr>
          <a:xfrm>
            <a:off x="7634287" y="3682572"/>
            <a:ext cx="771526" cy="120174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68;p15">
            <a:extLst>
              <a:ext uri="{FF2B5EF4-FFF2-40B4-BE49-F238E27FC236}">
                <a16:creationId xmlns:a16="http://schemas.microsoft.com/office/drawing/2014/main" id="{9773D591-1C3A-4E3D-8438-499AC70866E6}"/>
              </a:ext>
            </a:extLst>
          </p:cNvPr>
          <p:cNvSpPr/>
          <p:nvPr/>
        </p:nvSpPr>
        <p:spPr>
          <a:xfrm>
            <a:off x="7634287" y="5681493"/>
            <a:ext cx="771526" cy="258027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68;p15">
            <a:extLst>
              <a:ext uri="{FF2B5EF4-FFF2-40B4-BE49-F238E27FC236}">
                <a16:creationId xmlns:a16="http://schemas.microsoft.com/office/drawing/2014/main" id="{648AD254-61AF-4E57-8281-E88BF7952956}"/>
              </a:ext>
            </a:extLst>
          </p:cNvPr>
          <p:cNvSpPr/>
          <p:nvPr/>
        </p:nvSpPr>
        <p:spPr>
          <a:xfrm>
            <a:off x="9115575" y="4686685"/>
            <a:ext cx="771526" cy="120174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68;p15">
            <a:extLst>
              <a:ext uri="{FF2B5EF4-FFF2-40B4-BE49-F238E27FC236}">
                <a16:creationId xmlns:a16="http://schemas.microsoft.com/office/drawing/2014/main" id="{B4ED155A-0FA0-4561-9D44-66D6FE9710CE}"/>
              </a:ext>
            </a:extLst>
          </p:cNvPr>
          <p:cNvSpPr/>
          <p:nvPr/>
        </p:nvSpPr>
        <p:spPr>
          <a:xfrm>
            <a:off x="9115575" y="5494958"/>
            <a:ext cx="771526" cy="120174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8;p15">
            <a:extLst>
              <a:ext uri="{FF2B5EF4-FFF2-40B4-BE49-F238E27FC236}">
                <a16:creationId xmlns:a16="http://schemas.microsoft.com/office/drawing/2014/main" id="{BB76050F-3DE3-42C9-8445-A55DEE67249B}"/>
              </a:ext>
            </a:extLst>
          </p:cNvPr>
          <p:cNvSpPr/>
          <p:nvPr/>
        </p:nvSpPr>
        <p:spPr>
          <a:xfrm>
            <a:off x="7634287" y="4394954"/>
            <a:ext cx="771526" cy="120174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68;p15">
            <a:extLst>
              <a:ext uri="{FF2B5EF4-FFF2-40B4-BE49-F238E27FC236}">
                <a16:creationId xmlns:a16="http://schemas.microsoft.com/office/drawing/2014/main" id="{80E8255B-6BAC-4727-A8B5-3E9FC036B856}"/>
              </a:ext>
            </a:extLst>
          </p:cNvPr>
          <p:cNvSpPr/>
          <p:nvPr/>
        </p:nvSpPr>
        <p:spPr>
          <a:xfrm>
            <a:off x="7613633" y="4746771"/>
            <a:ext cx="771526" cy="258027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68;p15">
            <a:extLst>
              <a:ext uri="{FF2B5EF4-FFF2-40B4-BE49-F238E27FC236}">
                <a16:creationId xmlns:a16="http://schemas.microsoft.com/office/drawing/2014/main" id="{90CDB9C6-E60E-4947-8C1B-21B7C3B981E2}"/>
              </a:ext>
            </a:extLst>
          </p:cNvPr>
          <p:cNvSpPr/>
          <p:nvPr/>
        </p:nvSpPr>
        <p:spPr>
          <a:xfrm>
            <a:off x="9072530" y="2676575"/>
            <a:ext cx="771526" cy="552506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166;p15">
            <a:extLst>
              <a:ext uri="{FF2B5EF4-FFF2-40B4-BE49-F238E27FC236}">
                <a16:creationId xmlns:a16="http://schemas.microsoft.com/office/drawing/2014/main" id="{88AC6339-77D2-4168-8CD4-BA4857F44E62}"/>
              </a:ext>
            </a:extLst>
          </p:cNvPr>
          <p:cNvSpPr/>
          <p:nvPr/>
        </p:nvSpPr>
        <p:spPr>
          <a:xfrm>
            <a:off x="2604865" y="4635185"/>
            <a:ext cx="659219" cy="170731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66;p15">
            <a:extLst>
              <a:ext uri="{FF2B5EF4-FFF2-40B4-BE49-F238E27FC236}">
                <a16:creationId xmlns:a16="http://schemas.microsoft.com/office/drawing/2014/main" id="{3C74FBE6-4969-41B2-8E86-31B0D357395F}"/>
              </a:ext>
            </a:extLst>
          </p:cNvPr>
          <p:cNvSpPr/>
          <p:nvPr/>
        </p:nvSpPr>
        <p:spPr>
          <a:xfrm>
            <a:off x="2604864" y="4926541"/>
            <a:ext cx="659219" cy="118940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66;p15">
            <a:extLst>
              <a:ext uri="{FF2B5EF4-FFF2-40B4-BE49-F238E27FC236}">
                <a16:creationId xmlns:a16="http://schemas.microsoft.com/office/drawing/2014/main" id="{358D46D9-199B-4D02-A911-0F094CF57B7A}"/>
              </a:ext>
            </a:extLst>
          </p:cNvPr>
          <p:cNvSpPr/>
          <p:nvPr/>
        </p:nvSpPr>
        <p:spPr>
          <a:xfrm>
            <a:off x="2604864" y="5194300"/>
            <a:ext cx="659219" cy="118940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68;p15">
            <a:extLst>
              <a:ext uri="{FF2B5EF4-FFF2-40B4-BE49-F238E27FC236}">
                <a16:creationId xmlns:a16="http://schemas.microsoft.com/office/drawing/2014/main" id="{9DFD3C40-9C7F-4CF5-BF1D-EC2C40498BE1}"/>
              </a:ext>
            </a:extLst>
          </p:cNvPr>
          <p:cNvSpPr/>
          <p:nvPr/>
        </p:nvSpPr>
        <p:spPr>
          <a:xfrm>
            <a:off x="9115575" y="6044716"/>
            <a:ext cx="771526" cy="120174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65;p15">
            <a:extLst>
              <a:ext uri="{FF2B5EF4-FFF2-40B4-BE49-F238E27FC236}">
                <a16:creationId xmlns:a16="http://schemas.microsoft.com/office/drawing/2014/main" id="{3D1AE68A-1D17-48F2-AEB8-D0DED3B75F79}"/>
              </a:ext>
            </a:extLst>
          </p:cNvPr>
          <p:cNvSpPr/>
          <p:nvPr/>
        </p:nvSpPr>
        <p:spPr>
          <a:xfrm>
            <a:off x="1222578" y="5334141"/>
            <a:ext cx="499730" cy="148856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64;p15">
            <a:extLst>
              <a:ext uri="{FF2B5EF4-FFF2-40B4-BE49-F238E27FC236}">
                <a16:creationId xmlns:a16="http://schemas.microsoft.com/office/drawing/2014/main" id="{2DD6B6E7-B334-4732-9C81-45507A342EDE}"/>
              </a:ext>
            </a:extLst>
          </p:cNvPr>
          <p:cNvSpPr/>
          <p:nvPr/>
        </p:nvSpPr>
        <p:spPr>
          <a:xfrm>
            <a:off x="1222578" y="4767592"/>
            <a:ext cx="499730" cy="148856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65;p15">
            <a:extLst>
              <a:ext uri="{FF2B5EF4-FFF2-40B4-BE49-F238E27FC236}">
                <a16:creationId xmlns:a16="http://schemas.microsoft.com/office/drawing/2014/main" id="{5961EE0E-079E-43C6-B6BD-4ABF7D33D750}"/>
              </a:ext>
            </a:extLst>
          </p:cNvPr>
          <p:cNvSpPr/>
          <p:nvPr/>
        </p:nvSpPr>
        <p:spPr>
          <a:xfrm>
            <a:off x="1244423" y="3591004"/>
            <a:ext cx="1097724" cy="148856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618" y="806391"/>
            <a:ext cx="3066667" cy="3123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81" y="3373700"/>
            <a:ext cx="4336300" cy="34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78058" y="1729510"/>
            <a:ext cx="3532087" cy="3715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78370" y="391813"/>
            <a:ext cx="2516222" cy="639333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/>
          <p:nvPr/>
        </p:nvSpPr>
        <p:spPr>
          <a:xfrm>
            <a:off x="105181" y="45034"/>
            <a:ext cx="52629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即時放大縮小字型好簡單</a:t>
            </a: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7683935" y="22481"/>
            <a:ext cx="4493538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4-04-fontsizebig_即時放大縮小字型好簡單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925" y="539496"/>
            <a:ext cx="5424846" cy="577900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 txBox="1"/>
          <p:nvPr/>
        </p:nvSpPr>
        <p:spPr>
          <a:xfrm>
            <a:off x="6438506" y="2580351"/>
            <a:ext cx="615570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練習_</a:t>
            </a:r>
            <a:r>
              <a:rPr lang="en-US" sz="9600" b="1" dirty="0">
                <a:solidFill>
                  <a:srgbClr val="00888F"/>
                </a:solidFill>
              </a:rPr>
              <a:t>16</a:t>
            </a:r>
            <a:endParaRPr b="1" dirty="0"/>
          </a:p>
        </p:txBody>
      </p:sp>
      <p:sp>
        <p:nvSpPr>
          <p:cNvPr id="319" name="Google Shape;319;p27"/>
          <p:cNvSpPr/>
          <p:nvPr/>
        </p:nvSpPr>
        <p:spPr>
          <a:xfrm>
            <a:off x="7095733" y="0"/>
            <a:ext cx="5096267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4-05-fixedclose_fixed 固定網頁內容_練習實作題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858" y="1414313"/>
            <a:ext cx="3433271" cy="3858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4831" y="1707761"/>
            <a:ext cx="3154627" cy="4789789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8"/>
          <p:cNvSpPr/>
          <p:nvPr/>
        </p:nvSpPr>
        <p:spPr>
          <a:xfrm>
            <a:off x="248713" y="195780"/>
            <a:ext cx="552991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17_設計下拉式收闔選單</a:t>
            </a:r>
            <a:endParaRPr sz="3600" b="1" i="0" dirty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28"/>
          <p:cNvPicPr preferRelativeResize="0"/>
          <p:nvPr/>
        </p:nvPicPr>
        <p:blipFill rotWithShape="1">
          <a:blip r:embed="rId5">
            <a:alphaModFix/>
          </a:blip>
          <a:srcRect t="45958"/>
          <a:stretch/>
        </p:blipFill>
        <p:spPr>
          <a:xfrm>
            <a:off x="7676087" y="547301"/>
            <a:ext cx="2625826" cy="997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651" y="1615734"/>
            <a:ext cx="4109559" cy="146947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8"/>
          <p:cNvSpPr/>
          <p:nvPr/>
        </p:nvSpPr>
        <p:spPr>
          <a:xfrm>
            <a:off x="6636700" y="1793559"/>
            <a:ext cx="666308" cy="70408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76087" y="5115321"/>
            <a:ext cx="3726500" cy="1567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76087" y="3772788"/>
            <a:ext cx="2625826" cy="120095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8"/>
          <p:cNvSpPr/>
          <p:nvPr/>
        </p:nvSpPr>
        <p:spPr>
          <a:xfrm>
            <a:off x="8653720" y="3189574"/>
            <a:ext cx="670560" cy="58321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8057535" y="46682"/>
            <a:ext cx="4134465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4-06-toggleMenu_設計下拉式收闔選單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6519326" y="871564"/>
            <a:ext cx="10695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改用</a:t>
            </a:r>
            <a:endParaRPr sz="18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jQuery()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效果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9750696" y="3189574"/>
            <a:ext cx="208006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讓選取的選單與子選單都是藍色底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/>
          <p:nvPr/>
        </p:nvSpPr>
        <p:spPr>
          <a:xfrm>
            <a:off x="263491" y="208526"/>
            <a:ext cx="70534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使用 stop() 讓你的動畫效果更滑順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0148" y="1455617"/>
            <a:ext cx="8768033" cy="394676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9"/>
          <p:cNvSpPr/>
          <p:nvPr/>
        </p:nvSpPr>
        <p:spPr>
          <a:xfrm>
            <a:off x="7416334" y="23860"/>
            <a:ext cx="4775666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4-07-stop_使用 stop() 讓你的動畫效果更滑順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/>
          <p:nvPr/>
        </p:nvSpPr>
        <p:spPr>
          <a:xfrm>
            <a:off x="493984" y="220718"/>
            <a:ext cx="56943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設定offcanvas左右選單切換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005" y="1122824"/>
            <a:ext cx="1537967" cy="27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2781" y="1122824"/>
            <a:ext cx="1422002" cy="257609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/>
          <p:nvPr/>
        </p:nvSpPr>
        <p:spPr>
          <a:xfrm>
            <a:off x="207472" y="1016747"/>
            <a:ext cx="573024" cy="646331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7306" y="913459"/>
            <a:ext cx="2932821" cy="27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37050" y="911452"/>
            <a:ext cx="2932821" cy="2659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42996" y="4496164"/>
            <a:ext cx="2932821" cy="1450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30"/>
          <p:cNvGrpSpPr/>
          <p:nvPr/>
        </p:nvGrpSpPr>
        <p:grpSpPr>
          <a:xfrm>
            <a:off x="9425435" y="2765249"/>
            <a:ext cx="2664556" cy="4090694"/>
            <a:chOff x="5256389" y="2767306"/>
            <a:chExt cx="2664556" cy="4090694"/>
          </a:xfrm>
        </p:grpSpPr>
        <p:grpSp>
          <p:nvGrpSpPr>
            <p:cNvPr id="357" name="Google Shape;357;p30"/>
            <p:cNvGrpSpPr/>
            <p:nvPr/>
          </p:nvGrpSpPr>
          <p:grpSpPr>
            <a:xfrm>
              <a:off x="5256389" y="3105438"/>
              <a:ext cx="2664556" cy="3752562"/>
              <a:chOff x="5378463" y="2363276"/>
              <a:chExt cx="2664556" cy="3752562"/>
            </a:xfrm>
          </p:grpSpPr>
          <p:pic>
            <p:nvPicPr>
              <p:cNvPr id="358" name="Google Shape;358;p30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5390655" y="2363276"/>
                <a:ext cx="2652364" cy="31479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9" name="Google Shape;359;p30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5378463" y="5242580"/>
                <a:ext cx="2664556" cy="8732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60" name="Google Shape;360;p3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281761" y="2767306"/>
              <a:ext cx="2496735" cy="5647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1" name="Google Shape;361;p3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61324" y="4550095"/>
            <a:ext cx="3915850" cy="136051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0"/>
          <p:cNvSpPr/>
          <p:nvPr/>
        </p:nvSpPr>
        <p:spPr>
          <a:xfrm>
            <a:off x="7822214" y="0"/>
            <a:ext cx="4369786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4-08-offcans-設定offcanvas左右選單切換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/>
          <p:nvPr/>
        </p:nvSpPr>
        <p:spPr>
          <a:xfrm>
            <a:off x="355185" y="257294"/>
            <a:ext cx="713675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18_this - 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教你如何操作本身元素</a:t>
            </a:r>
            <a:endParaRPr sz="3600" b="1" i="0" dirty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601" y="1238057"/>
            <a:ext cx="5740813" cy="268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5995" y="824238"/>
            <a:ext cx="3742857" cy="11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1"/>
          <p:cNvSpPr txBox="1"/>
          <p:nvPr/>
        </p:nvSpPr>
        <p:spPr>
          <a:xfrm>
            <a:off x="7491939" y="2090645"/>
            <a:ext cx="352348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對象如果是 ‘ .menu li ‘ 是指所有 &lt;li&gt;元素都加上 active 類別選擇器</a:t>
            </a:r>
            <a:endParaRPr/>
          </a:p>
        </p:txBody>
      </p:sp>
      <p:pic>
        <p:nvPicPr>
          <p:cNvPr id="371" name="Google Shape;371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02272" y="2830306"/>
            <a:ext cx="3102821" cy="17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1"/>
          <p:cNvSpPr/>
          <p:nvPr/>
        </p:nvSpPr>
        <p:spPr>
          <a:xfrm>
            <a:off x="6481538" y="2226538"/>
            <a:ext cx="743712" cy="7096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7601" y="2552310"/>
            <a:ext cx="2914286" cy="213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4989" y="5139430"/>
            <a:ext cx="3647619" cy="10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/>
          <p:nvPr/>
        </p:nvSpPr>
        <p:spPr>
          <a:xfrm>
            <a:off x="9107423" y="4376928"/>
            <a:ext cx="682753" cy="609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3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00104" y="4833543"/>
            <a:ext cx="2935891" cy="1572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1"/>
          <p:cNvSpPr txBox="1"/>
          <p:nvPr/>
        </p:nvSpPr>
        <p:spPr>
          <a:xfrm>
            <a:off x="475785" y="5358034"/>
            <a:ext cx="247245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但仍然有問題，無法取消被點擊過的藍色背景</a:t>
            </a:r>
            <a:endParaRPr/>
          </a:p>
        </p:txBody>
      </p:sp>
      <p:sp>
        <p:nvSpPr>
          <p:cNvPr id="378" name="Google Shape;378;p31"/>
          <p:cNvSpPr/>
          <p:nvPr/>
        </p:nvSpPr>
        <p:spPr>
          <a:xfrm rot="10800000">
            <a:off x="3252315" y="5358034"/>
            <a:ext cx="743712" cy="7096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867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 txBox="1"/>
          <p:nvPr/>
        </p:nvSpPr>
        <p:spPr>
          <a:xfrm rot="10800000">
            <a:off x="-421728" y="7923708"/>
            <a:ext cx="247245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但仍然有問題，無法取消被點擊過的藍色背景</a:t>
            </a:r>
            <a:endParaRPr/>
          </a:p>
        </p:txBody>
      </p:sp>
      <p:sp>
        <p:nvSpPr>
          <p:cNvPr id="380" name="Google Shape;380;p31"/>
          <p:cNvSpPr/>
          <p:nvPr/>
        </p:nvSpPr>
        <p:spPr>
          <a:xfrm>
            <a:off x="8108831" y="72628"/>
            <a:ext cx="408316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5-01-this_this - 教你如何操作本身元素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/>
          <p:nvPr/>
        </p:nvSpPr>
        <p:spPr>
          <a:xfrm>
            <a:off x="8057535" y="103444"/>
            <a:ext cx="4134465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5-02-parent_parent() - 找到父階層元素</a:t>
            </a:r>
            <a:endParaRPr/>
          </a:p>
        </p:txBody>
      </p:sp>
      <p:pic>
        <p:nvPicPr>
          <p:cNvPr id="386" name="Google Shape;38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91" y="1655744"/>
            <a:ext cx="1741499" cy="2001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2201" y="1235045"/>
            <a:ext cx="3124734" cy="2643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5057" y="4286144"/>
            <a:ext cx="3279022" cy="819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55551" y="1236668"/>
            <a:ext cx="2895238" cy="82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23279" y="1207746"/>
            <a:ext cx="3196231" cy="44425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32"/>
          <p:cNvCxnSpPr/>
          <p:nvPr/>
        </p:nvCxnSpPr>
        <p:spPr>
          <a:xfrm rot="10800000" flipH="1">
            <a:off x="5522976" y="1235045"/>
            <a:ext cx="3432575" cy="230700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2" name="Google Shape;392;p32"/>
          <p:cNvCxnSpPr/>
          <p:nvPr/>
        </p:nvCxnSpPr>
        <p:spPr>
          <a:xfrm rot="10800000" flipH="1">
            <a:off x="5522976" y="2138812"/>
            <a:ext cx="3560064" cy="1589905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93" name="Google Shape;393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55551" y="3297413"/>
            <a:ext cx="2773154" cy="3400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6002" y="2479380"/>
            <a:ext cx="3745041" cy="8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2"/>
          <p:cNvSpPr txBox="1"/>
          <p:nvPr/>
        </p:nvSpPr>
        <p:spPr>
          <a:xfrm>
            <a:off x="10152517" y="1979922"/>
            <a:ext cx="42511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751187" y="148653"/>
            <a:ext cx="693165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19_parent() - 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找到父階層元素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/>
          <p:nvPr/>
        </p:nvSpPr>
        <p:spPr>
          <a:xfrm>
            <a:off x="112798" y="169690"/>
            <a:ext cx="626914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 20_siblings() - </a:t>
            </a:r>
            <a:r>
              <a:rPr lang="en-US" sz="36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同層元素</a:t>
            </a:r>
            <a:endParaRPr sz="3600" b="1" i="0" dirty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035" y="1501093"/>
            <a:ext cx="3885714" cy="229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3894" y="2197133"/>
            <a:ext cx="6801321" cy="418809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3"/>
          <p:cNvSpPr/>
          <p:nvPr/>
        </p:nvSpPr>
        <p:spPr>
          <a:xfrm>
            <a:off x="4559808" y="2682240"/>
            <a:ext cx="3681984" cy="475488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8342282" y="0"/>
            <a:ext cx="3736920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5-03-siblings_ siblings() - 同層元素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/>
          <p:nvPr/>
        </p:nvSpPr>
        <p:spPr>
          <a:xfrm>
            <a:off x="566458" y="417863"/>
            <a:ext cx="661676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21_find () - </a:t>
            </a:r>
            <a:r>
              <a:rPr lang="en-US" sz="3200" b="1" dirty="0" err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輕鬆找到子元素內容</a:t>
            </a:r>
            <a:endParaRPr sz="3200" b="1" i="0" dirty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894" y="1540860"/>
            <a:ext cx="9247619" cy="45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4"/>
          <p:cNvSpPr/>
          <p:nvPr/>
        </p:nvSpPr>
        <p:spPr>
          <a:xfrm>
            <a:off x="8096007" y="95005"/>
            <a:ext cx="4095993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5-04-find_find () - 輕鬆找到子元素內容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744" y="1346376"/>
            <a:ext cx="3638095" cy="1800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28" name="Google Shape;428;p36"/>
          <p:cNvSpPr/>
          <p:nvPr/>
        </p:nvSpPr>
        <p:spPr>
          <a:xfrm>
            <a:off x="180440" y="171950"/>
            <a:ext cx="480131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二階層式折疊選單設計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744" y="4040809"/>
            <a:ext cx="4952381" cy="1866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4209032"/>
            <a:ext cx="5704762" cy="20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49" y="1675466"/>
            <a:ext cx="4679087" cy="1947003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6"/>
          <p:cNvSpPr/>
          <p:nvPr/>
        </p:nvSpPr>
        <p:spPr>
          <a:xfrm>
            <a:off x="7647166" y="0"/>
            <a:ext cx="4544834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5-06-find-twomenu_二階層式折疊選單設計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23" y="1249082"/>
            <a:ext cx="8685714" cy="26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7"/>
          <p:cNvSpPr/>
          <p:nvPr/>
        </p:nvSpPr>
        <p:spPr>
          <a:xfrm>
            <a:off x="144884" y="208526"/>
            <a:ext cx="595111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 使用 html()、text() 載入內容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823" y="4238350"/>
            <a:ext cx="4638095" cy="79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79172" y="3910256"/>
            <a:ext cx="5971494" cy="2739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9"/>
          <p:cNvSpPr/>
          <p:nvPr/>
        </p:nvSpPr>
        <p:spPr>
          <a:xfrm>
            <a:off x="332323" y="245102"/>
            <a:ext cx="64367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remove() - 移除網頁標籤小工具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6676" y="2095049"/>
            <a:ext cx="7065324" cy="36766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9"/>
          <p:cNvSpPr txBox="1"/>
          <p:nvPr/>
        </p:nvSpPr>
        <p:spPr>
          <a:xfrm>
            <a:off x="6608064" y="1544533"/>
            <a:ext cx="34804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應用:類似購物車內刪除資料列。</a:t>
            </a:r>
            <a:endParaRPr/>
          </a:p>
        </p:txBody>
      </p:sp>
      <p:sp>
        <p:nvSpPr>
          <p:cNvPr id="459" name="Google Shape;459;p39"/>
          <p:cNvSpPr txBox="1"/>
          <p:nvPr/>
        </p:nvSpPr>
        <p:spPr>
          <a:xfrm>
            <a:off x="332323" y="1729199"/>
            <a:ext cx="4133088" cy="3491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■"/>
            </a:pPr>
            <a:r>
              <a:rPr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.remove() 與 .hide() 的差異：</a:t>
            </a:r>
            <a:endParaRPr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jQuery 中的 .remove()方法功能是刪除html標籤與.hide()隱藏不同，hide()只是隱藏標籤元素，只是將該元素 css 的 display:none ，並未真正從HTML文件中刪除該標籤元素。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例如右邊範例，按刪除紐，可刪除一整列(並非僅隱藏)，類似購物車，最終表格內商品要回寫後端資料庫中。</a:t>
            </a:r>
            <a:endParaRPr/>
          </a:p>
        </p:txBody>
      </p:sp>
      <p:sp>
        <p:nvSpPr>
          <p:cNvPr id="460" name="Google Shape;460;p39"/>
          <p:cNvSpPr/>
          <p:nvPr/>
        </p:nvSpPr>
        <p:spPr>
          <a:xfrm>
            <a:off x="7365038" y="60436"/>
            <a:ext cx="4826962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6-02-remove_remove() - 移除網頁標籤小工具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1"/>
          <p:cNvSpPr/>
          <p:nvPr/>
        </p:nvSpPr>
        <p:spPr>
          <a:xfrm>
            <a:off x="317123" y="281678"/>
            <a:ext cx="76792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888F"/>
                </a:solidFill>
                <a:latin typeface="Arial"/>
                <a:ea typeface="Arial"/>
                <a:cs typeface="Arial"/>
                <a:sym typeface="Arial"/>
              </a:rPr>
              <a:t>使用 fontAwesome 動態加入連結 icon</a:t>
            </a:r>
            <a:endParaRPr sz="3600" b="1" i="0">
              <a:solidFill>
                <a:srgbClr val="0088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857" y="988814"/>
            <a:ext cx="5200830" cy="2639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4535" y="988815"/>
            <a:ext cx="2111806" cy="259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59507" y="928009"/>
            <a:ext cx="1685714" cy="1342857"/>
          </a:xfrm>
          <a:prstGeom prst="rect">
            <a:avLst/>
          </a:prstGeom>
          <a:noFill/>
          <a:ln w="9525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81" name="Google Shape;481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59507" y="2498650"/>
            <a:ext cx="3109881" cy="3858248"/>
          </a:xfrm>
          <a:prstGeom prst="rect">
            <a:avLst/>
          </a:prstGeom>
          <a:noFill/>
          <a:ln w="9525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82" name="Google Shape;482;p4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94786" y="4945384"/>
            <a:ext cx="5465311" cy="141151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1"/>
          <p:cNvSpPr txBox="1"/>
          <p:nvPr/>
        </p:nvSpPr>
        <p:spPr>
          <a:xfrm>
            <a:off x="2168906" y="4104608"/>
            <a:ext cx="5917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jQuery 中的class 是 Font Awesome 文字檔的類別名稱</a:t>
            </a:r>
            <a:endParaRPr sz="18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故要先下載Font Awesome 的壓縮檔或CDN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1"/>
          <p:cNvSpPr/>
          <p:nvPr/>
        </p:nvSpPr>
        <p:spPr>
          <a:xfrm>
            <a:off x="6156177" y="-16880"/>
            <a:ext cx="6092373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6-04-fontawseome- 使用 fontAwesome 動態加入連結 icon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2"/>
          <p:cNvSpPr/>
          <p:nvPr/>
        </p:nvSpPr>
        <p:spPr>
          <a:xfrm>
            <a:off x="329184" y="562600"/>
            <a:ext cx="1153363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FontAwesome 需要註冊會員才能夠取得 CDN 因此，這邊提供 CDN 以及 FontAwesome 搜尋頁面給同學參考唷。</a:t>
            </a:r>
            <a:br>
              <a:rPr lang="en-US" sz="18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CDN：&lt;link rel='stylesheet' href='https://cdnjs.cloudflare.com/ajax/libs/font-awesome/5.14.0/css/all.min.css’/&gt;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搜尋頁面：</a:t>
            </a:r>
            <a:r>
              <a:rPr lang="en-US" sz="1800" u="sng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https://fontawesome.com/icons?d=gallery&amp;q</a:t>
            </a:r>
            <a:r>
              <a:rPr lang="en-US" sz="18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528" y="3231337"/>
            <a:ext cx="5459345" cy="3063683"/>
          </a:xfrm>
          <a:prstGeom prst="rect">
            <a:avLst/>
          </a:prstGeom>
          <a:noFill/>
          <a:ln w="9525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91" name="Google Shape;491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5649" y="3145536"/>
            <a:ext cx="5492775" cy="3149484"/>
          </a:xfrm>
          <a:prstGeom prst="rect">
            <a:avLst/>
          </a:prstGeom>
          <a:noFill/>
          <a:ln w="9525" cap="flat" cmpd="sng">
            <a:solidFill>
              <a:srgbClr val="00888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內容版面配置區 2">
            <a:extLst>
              <a:ext uri="{FF2B5EF4-FFF2-40B4-BE49-F238E27FC236}">
                <a16:creationId xmlns:a16="http://schemas.microsoft.com/office/drawing/2014/main" id="{FC1B479C-A54C-4386-B052-BFE054C0F58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79650" y="1557338"/>
            <a:ext cx="7467600" cy="4419600"/>
          </a:xfrm>
        </p:spPr>
        <p:txBody>
          <a:bodyPr/>
          <a:lstStyle/>
          <a:p>
            <a:pPr eaLnBrk="1" hangingPunct="1">
              <a:buClr>
                <a:srgbClr val="00B0F0"/>
              </a:buClr>
            </a:pPr>
            <a:endParaRPr lang="zh-TW" altLang="en-US"/>
          </a:p>
          <a:p>
            <a:pPr eaLnBrk="1" hangingPunct="1">
              <a:buClr>
                <a:srgbClr val="00B0F0"/>
              </a:buClr>
            </a:pPr>
            <a:endParaRPr lang="zh-TW" altLang="en-US"/>
          </a:p>
          <a:p>
            <a:pPr eaLnBrk="1" hangingPunct="1">
              <a:buClr>
                <a:srgbClr val="00B0F0"/>
              </a:buClr>
            </a:pPr>
            <a:endParaRPr lang="en-US" altLang="zh-TW"/>
          </a:p>
          <a:p>
            <a:pPr eaLnBrk="1" hangingPunct="1">
              <a:buClr>
                <a:srgbClr val="00B0F0"/>
              </a:buClr>
            </a:pPr>
            <a:endParaRPr lang="zh-TW" altLang="en-US"/>
          </a:p>
          <a:p>
            <a:pPr eaLnBrk="1" hangingPunct="1">
              <a:buClr>
                <a:srgbClr val="00B0F0"/>
              </a:buClr>
            </a:pPr>
            <a:endParaRPr lang="zh-TW" altLang="en-US"/>
          </a:p>
          <a:p>
            <a:pPr eaLnBrk="1" hangingPunct="1">
              <a:buClr>
                <a:srgbClr val="00B0F0"/>
              </a:buClr>
            </a:pPr>
            <a:endParaRPr lang="zh-TW" altLang="en-US"/>
          </a:p>
          <a:p>
            <a:pPr eaLnBrk="1" hangingPunct="1">
              <a:buClr>
                <a:srgbClr val="00B0F0"/>
              </a:buClr>
            </a:pPr>
            <a:endParaRPr lang="zh-TW" altLang="en-US"/>
          </a:p>
          <a:p>
            <a:pPr eaLnBrk="1" hangingPunct="1">
              <a:buClr>
                <a:srgbClr val="00B0F0"/>
              </a:buClr>
            </a:pPr>
            <a:endParaRPr lang="zh-TW" altLang="en-US"/>
          </a:p>
          <a:p>
            <a:pPr eaLnBrk="1" hangingPunct="1">
              <a:buClr>
                <a:srgbClr val="00B0F0"/>
              </a:buClr>
            </a:pPr>
            <a:endParaRPr lang="zh-TW" altLang="en-US"/>
          </a:p>
          <a:p>
            <a:pPr eaLnBrk="1" hangingPunct="1">
              <a:buClr>
                <a:srgbClr val="00B0F0"/>
              </a:buClr>
            </a:pPr>
            <a:endParaRPr lang="zh-TW" altLang="en-US"/>
          </a:p>
          <a:p>
            <a:pPr eaLnBrk="1" hangingPunct="1">
              <a:buClr>
                <a:srgbClr val="00B0F0"/>
              </a:buClr>
            </a:pPr>
            <a:endParaRPr lang="zh-TW" altLang="en-US"/>
          </a:p>
          <a:p>
            <a:pPr eaLnBrk="1" hangingPunct="1">
              <a:buClr>
                <a:srgbClr val="00B0F0"/>
              </a:buClr>
            </a:pPr>
            <a:endParaRPr lang="zh-TW" altLang="en-US"/>
          </a:p>
        </p:txBody>
      </p:sp>
      <p:pic>
        <p:nvPicPr>
          <p:cNvPr id="54276" name="Picture 5">
            <a:extLst>
              <a:ext uri="{FF2B5EF4-FFF2-40B4-BE49-F238E27FC236}">
                <a16:creationId xmlns:a16="http://schemas.microsoft.com/office/drawing/2014/main" id="{D82F7447-5AD6-4233-BB6F-8F1C79A6D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02" r="8949"/>
          <a:stretch/>
        </p:blipFill>
        <p:spPr bwMode="auto">
          <a:xfrm>
            <a:off x="1847851" y="2117727"/>
            <a:ext cx="7920037" cy="4491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BF8DAC1-D0C5-4CF0-863D-BBA4AD9EB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957" y="2128245"/>
            <a:ext cx="4143875" cy="3932960"/>
          </a:xfrm>
          <a:prstGeom prst="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F3CB1033-E98D-466B-B9BB-8F2D6F1B3B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52" b="91160"/>
          <a:stretch/>
        </p:blipFill>
        <p:spPr bwMode="auto">
          <a:xfrm>
            <a:off x="1704225" y="1730545"/>
            <a:ext cx="4015538" cy="377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F929A9EB-74F1-4192-B5AC-8D6D1759069E}"/>
              </a:ext>
            </a:extLst>
          </p:cNvPr>
          <p:cNvCxnSpPr/>
          <p:nvPr/>
        </p:nvCxnSpPr>
        <p:spPr>
          <a:xfrm>
            <a:off x="2342147" y="1919373"/>
            <a:ext cx="0" cy="8077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47C9B47-889D-43AC-89B9-E72DFC0095A4}"/>
              </a:ext>
            </a:extLst>
          </p:cNvPr>
          <p:cNvCxnSpPr/>
          <p:nvPr/>
        </p:nvCxnSpPr>
        <p:spPr>
          <a:xfrm>
            <a:off x="3703973" y="1919373"/>
            <a:ext cx="0" cy="8077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>
            <a:extLst>
              <a:ext uri="{FF2B5EF4-FFF2-40B4-BE49-F238E27FC236}">
                <a16:creationId xmlns:a16="http://schemas.microsoft.com/office/drawing/2014/main" id="{73818953-1E68-4A9E-BFBE-7C640E84F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844" y="2666129"/>
            <a:ext cx="3798099" cy="36270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Google Shape;501;p43">
            <a:extLst>
              <a:ext uri="{FF2B5EF4-FFF2-40B4-BE49-F238E27FC236}">
                <a16:creationId xmlns:a16="http://schemas.microsoft.com/office/drawing/2014/main" id="{677DDF53-AB52-4026-B4DB-3E77AA9BFF7C}"/>
              </a:ext>
            </a:extLst>
          </p:cNvPr>
          <p:cNvSpPr txBox="1"/>
          <p:nvPr/>
        </p:nvSpPr>
        <p:spPr>
          <a:xfrm>
            <a:off x="636491" y="501300"/>
            <a:ext cx="810645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實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機</a:t>
            </a:r>
            <a:r>
              <a:rPr lang="en-US" sz="3600" b="1" dirty="0" err="1">
                <a:solidFill>
                  <a:schemeClr val="accent6">
                    <a:lumMod val="50000"/>
                  </a:schemeClr>
                </a:solidFill>
                <a:sym typeface="Arial"/>
              </a:rPr>
              <a:t>練習題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  <a:sym typeface="Arial"/>
              </a:rPr>
              <a:t>(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  <a:sym typeface="Arial"/>
              </a:rPr>
              <a:t>一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  <a:sym typeface="Arial"/>
              </a:rPr>
              <a:t>) 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  <a:sym typeface="Arial"/>
              </a:rPr>
              <a:t>：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  <a:sym typeface="Arial"/>
              </a:rPr>
              <a:t>22_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輪播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</a:rPr>
              <a:t>+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點選 圖片</a:t>
            </a:r>
            <a:endParaRPr sz="3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4BBCE8A9-E375-478C-B67F-01D5E9A404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68"/>
          <a:stretch/>
        </p:blipFill>
        <p:spPr bwMode="auto">
          <a:xfrm>
            <a:off x="6376908" y="1637812"/>
            <a:ext cx="3535442" cy="39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11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圖片 2">
            <a:extLst>
              <a:ext uri="{FF2B5EF4-FFF2-40B4-BE49-F238E27FC236}">
                <a16:creationId xmlns:a16="http://schemas.microsoft.com/office/drawing/2014/main" id="{9231F365-7641-4F43-88EA-96C426D4E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919289"/>
            <a:ext cx="5000625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圖片 3">
            <a:extLst>
              <a:ext uri="{FF2B5EF4-FFF2-40B4-BE49-F238E27FC236}">
                <a16:creationId xmlns:a16="http://schemas.microsoft.com/office/drawing/2014/main" id="{1B040A66-CB1B-4E52-8458-97C8186FF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25" y="5446713"/>
            <a:ext cx="3563938" cy="138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文字方塊 4">
            <a:extLst>
              <a:ext uri="{FF2B5EF4-FFF2-40B4-BE49-F238E27FC236}">
                <a16:creationId xmlns:a16="http://schemas.microsoft.com/office/drawing/2014/main" id="{C5B63CC8-699E-45E3-AC3D-0009D9F1B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4" y="981075"/>
            <a:ext cx="45545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en-US" altLang="zh-TW" sz="2800">
                <a:solidFill>
                  <a:srgbClr val="FF0000"/>
                </a:solidFill>
              </a:rPr>
              <a:t>Javascript </a:t>
            </a:r>
            <a:r>
              <a:rPr lang="zh-TW" altLang="en-US" sz="2800">
                <a:solidFill>
                  <a:srgbClr val="FF0000"/>
                </a:solidFill>
              </a:rPr>
              <a:t>點選切換圖片程式</a:t>
            </a:r>
          </a:p>
        </p:txBody>
      </p:sp>
      <p:sp>
        <p:nvSpPr>
          <p:cNvPr id="56325" name="文字方塊 5">
            <a:extLst>
              <a:ext uri="{FF2B5EF4-FFF2-40B4-BE49-F238E27FC236}">
                <a16:creationId xmlns:a16="http://schemas.microsoft.com/office/drawing/2014/main" id="{C65BCCA5-BA20-4E67-84DE-D8C85D844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2349500"/>
            <a:ext cx="3917950" cy="418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400">
                <a:solidFill>
                  <a:srgbClr val="FF0000"/>
                </a:solidFill>
              </a:rPr>
              <a:t>樣式設定</a:t>
            </a:r>
            <a:endParaRPr lang="en-US" altLang="zh-TW" sz="1400">
              <a:solidFill>
                <a:srgbClr val="FF0000"/>
              </a:solidFill>
            </a:endParaRPr>
          </a:p>
          <a:p>
            <a:r>
              <a:rPr lang="en-US" altLang="zh-TW" sz="1400">
                <a:solidFill>
                  <a:srgbClr val="FF0000"/>
                </a:solidFill>
              </a:rPr>
              <a:t>.selected </a:t>
            </a:r>
            <a:r>
              <a:rPr lang="zh-TW" altLang="en-US" sz="1400">
                <a:solidFill>
                  <a:srgbClr val="FF0000"/>
                </a:solidFill>
              </a:rPr>
              <a:t> </a:t>
            </a:r>
            <a:r>
              <a:rPr lang="en-US" altLang="zh-TW" sz="1400">
                <a:solidFill>
                  <a:srgbClr val="FF0000"/>
                </a:solidFill>
              </a:rPr>
              <a:t>(</a:t>
            </a:r>
            <a:r>
              <a:rPr lang="zh-TW" altLang="en-US" sz="1400">
                <a:solidFill>
                  <a:srgbClr val="FF0000"/>
                </a:solidFill>
              </a:rPr>
              <a:t>被選圖片的樣式</a:t>
            </a:r>
            <a:r>
              <a:rPr lang="en-US" altLang="zh-TW" sz="1400">
                <a:solidFill>
                  <a:srgbClr val="FF0000"/>
                </a:solidFill>
              </a:rPr>
              <a:t>)</a:t>
            </a:r>
          </a:p>
          <a:p>
            <a:r>
              <a:rPr lang="zh-TW" altLang="en-US" sz="1400">
                <a:solidFill>
                  <a:srgbClr val="FF0000"/>
                </a:solidFill>
              </a:rPr>
              <a:t> </a:t>
            </a:r>
            <a:endParaRPr lang="en-US" altLang="zh-TW" sz="1400">
              <a:solidFill>
                <a:srgbClr val="FF0000"/>
              </a:solidFill>
            </a:endParaRPr>
          </a:p>
          <a:p>
            <a:r>
              <a:rPr lang="zh-TW" altLang="en-US" sz="1400">
                <a:solidFill>
                  <a:srgbClr val="FF0000"/>
                </a:solidFill>
              </a:rPr>
              <a:t>物件</a:t>
            </a:r>
            <a:r>
              <a:rPr lang="en-US" altLang="zh-TW" sz="1400">
                <a:solidFill>
                  <a:srgbClr val="FF0000"/>
                </a:solidFill>
              </a:rPr>
              <a:t>.document.getElementById(“id</a:t>
            </a:r>
            <a:r>
              <a:rPr lang="zh-TW" altLang="en-US" sz="1400">
                <a:solidFill>
                  <a:srgbClr val="FF0000"/>
                </a:solidFill>
              </a:rPr>
              <a:t>名稱</a:t>
            </a:r>
            <a:r>
              <a:rPr lang="en-US" altLang="zh-TW" sz="1400">
                <a:solidFill>
                  <a:srgbClr val="FF0000"/>
                </a:solidFill>
              </a:rPr>
              <a:t>”)</a:t>
            </a:r>
          </a:p>
          <a:p>
            <a:r>
              <a:rPr lang="zh-TW" altLang="en-US" sz="1400">
                <a:solidFill>
                  <a:srgbClr val="FF0000"/>
                </a:solidFill>
              </a:rPr>
              <a:t>物件</a:t>
            </a:r>
            <a:r>
              <a:rPr lang="en-US" altLang="zh-TW" sz="1400">
                <a:solidFill>
                  <a:srgbClr val="FF0000"/>
                </a:solidFill>
              </a:rPr>
              <a:t>.createElement(“</a:t>
            </a:r>
            <a:r>
              <a:rPr lang="zh-TW" altLang="en-US" sz="1400">
                <a:solidFill>
                  <a:srgbClr val="FF0000"/>
                </a:solidFill>
              </a:rPr>
              <a:t>元素</a:t>
            </a:r>
            <a:r>
              <a:rPr lang="en-US" altLang="zh-TW" sz="1400">
                <a:solidFill>
                  <a:srgbClr val="FF0000"/>
                </a:solidFill>
              </a:rPr>
              <a:t>”)</a:t>
            </a:r>
          </a:p>
          <a:p>
            <a:r>
              <a:rPr lang="zh-TW" altLang="en-US" sz="1400">
                <a:solidFill>
                  <a:srgbClr val="FF0000"/>
                </a:solidFill>
              </a:rPr>
              <a:t>物件</a:t>
            </a:r>
            <a:r>
              <a:rPr lang="en-US" altLang="zh-TW" sz="1400">
                <a:solidFill>
                  <a:srgbClr val="FF0000"/>
                </a:solidFill>
              </a:rPr>
              <a:t>.appendChild(</a:t>
            </a:r>
            <a:r>
              <a:rPr lang="zh-TW" altLang="en-US" sz="1400">
                <a:solidFill>
                  <a:srgbClr val="FF0000"/>
                </a:solidFill>
              </a:rPr>
              <a:t>物件</a:t>
            </a:r>
            <a:r>
              <a:rPr lang="en-US" altLang="zh-TW" sz="1400">
                <a:solidFill>
                  <a:srgbClr val="FF0000"/>
                </a:solidFill>
              </a:rPr>
              <a:t>)</a:t>
            </a:r>
          </a:p>
          <a:p>
            <a:r>
              <a:rPr lang="zh-TW" altLang="en-US" sz="1400">
                <a:solidFill>
                  <a:srgbClr val="FF0000"/>
                </a:solidFill>
              </a:rPr>
              <a:t>物件</a:t>
            </a:r>
            <a:r>
              <a:rPr lang="en-US" altLang="zh-TW" sz="1400">
                <a:solidFill>
                  <a:srgbClr val="FF0000"/>
                </a:solidFill>
              </a:rPr>
              <a:t>.children.length</a:t>
            </a:r>
          </a:p>
          <a:p>
            <a:endParaRPr lang="en-US" altLang="zh-TW" sz="1400">
              <a:solidFill>
                <a:srgbClr val="FF0000"/>
              </a:solidFill>
            </a:endParaRPr>
          </a:p>
          <a:p>
            <a:r>
              <a:rPr lang="zh-TW" altLang="en-US" sz="1400">
                <a:solidFill>
                  <a:srgbClr val="FF0000"/>
                </a:solidFill>
              </a:rPr>
              <a:t>物件</a:t>
            </a:r>
            <a:r>
              <a:rPr lang="en-US" altLang="zh-TW" sz="1400">
                <a:solidFill>
                  <a:srgbClr val="FF0000"/>
                </a:solidFill>
              </a:rPr>
              <a:t>.getAttribute(“</a:t>
            </a:r>
            <a:r>
              <a:rPr lang="zh-TW" altLang="en-US" sz="1400">
                <a:solidFill>
                  <a:srgbClr val="FF0000"/>
                </a:solidFill>
              </a:rPr>
              <a:t>屬性</a:t>
            </a:r>
            <a:r>
              <a:rPr lang="en-US" altLang="zh-TW" sz="1400">
                <a:solidFill>
                  <a:srgbClr val="FF0000"/>
                </a:solidFill>
              </a:rPr>
              <a:t>”)</a:t>
            </a:r>
          </a:p>
          <a:p>
            <a:r>
              <a:rPr lang="zh-TW" altLang="en-US" sz="1400">
                <a:solidFill>
                  <a:srgbClr val="FF0000"/>
                </a:solidFill>
              </a:rPr>
              <a:t>物件</a:t>
            </a:r>
            <a:r>
              <a:rPr lang="en-US" altLang="zh-TW" sz="1400">
                <a:solidFill>
                  <a:srgbClr val="FF0000"/>
                </a:solidFill>
              </a:rPr>
              <a:t>.setAttribute(“</a:t>
            </a:r>
            <a:r>
              <a:rPr lang="zh-TW" altLang="en-US" sz="1400">
                <a:solidFill>
                  <a:srgbClr val="FF0000"/>
                </a:solidFill>
              </a:rPr>
              <a:t>屬性</a:t>
            </a:r>
            <a:r>
              <a:rPr lang="en-US" altLang="zh-TW" sz="1400">
                <a:solidFill>
                  <a:srgbClr val="FF0000"/>
                </a:solidFill>
              </a:rPr>
              <a:t>”,</a:t>
            </a:r>
            <a:r>
              <a:rPr lang="zh-TW" altLang="en-US" sz="1400">
                <a:solidFill>
                  <a:srgbClr val="FF0000"/>
                </a:solidFill>
              </a:rPr>
              <a:t>値</a:t>
            </a:r>
            <a:r>
              <a:rPr lang="en-US" altLang="zh-TW" sz="1400">
                <a:solidFill>
                  <a:srgbClr val="FF0000"/>
                </a:solidFill>
              </a:rPr>
              <a:t>)</a:t>
            </a:r>
          </a:p>
          <a:p>
            <a:endParaRPr lang="en-US" altLang="zh-TW" sz="1400">
              <a:solidFill>
                <a:srgbClr val="FF0000"/>
              </a:solidFill>
            </a:endParaRPr>
          </a:p>
          <a:p>
            <a:r>
              <a:rPr lang="zh-TW" altLang="en-US" sz="1400">
                <a:solidFill>
                  <a:srgbClr val="FF0000"/>
                </a:solidFill>
              </a:rPr>
              <a:t>物件</a:t>
            </a:r>
            <a:r>
              <a:rPr lang="en-US" altLang="zh-TW" sz="1400">
                <a:solidFill>
                  <a:srgbClr val="FF0000"/>
                </a:solidFill>
              </a:rPr>
              <a:t>.classList.add(</a:t>
            </a:r>
            <a:r>
              <a:rPr lang="zh-TW" altLang="en-US" sz="1400">
                <a:solidFill>
                  <a:srgbClr val="FF0000"/>
                </a:solidFill>
              </a:rPr>
              <a:t>樣式</a:t>
            </a:r>
            <a:r>
              <a:rPr lang="en-US" altLang="zh-TW" sz="1400">
                <a:solidFill>
                  <a:srgbClr val="FF0000"/>
                </a:solidFill>
              </a:rPr>
              <a:t>)</a:t>
            </a:r>
            <a:r>
              <a:rPr lang="zh-TW" altLang="en-US" sz="1400">
                <a:solidFill>
                  <a:srgbClr val="FF0000"/>
                </a:solidFill>
              </a:rPr>
              <a:t>  </a:t>
            </a:r>
            <a:r>
              <a:rPr lang="en-US" altLang="zh-TW" sz="1400">
                <a:solidFill>
                  <a:srgbClr val="FF0000"/>
                </a:solidFill>
              </a:rPr>
              <a:t>--</a:t>
            </a:r>
            <a:r>
              <a:rPr lang="zh-TW" altLang="en-US" sz="1400">
                <a:solidFill>
                  <a:srgbClr val="FF0000"/>
                </a:solidFill>
              </a:rPr>
              <a:t> 物件上增加樣式</a:t>
            </a:r>
            <a:endParaRPr lang="en-US" altLang="zh-TW" sz="1400">
              <a:solidFill>
                <a:srgbClr val="FF0000"/>
              </a:solidFill>
            </a:endParaRPr>
          </a:p>
          <a:p>
            <a:r>
              <a:rPr lang="zh-TW" altLang="en-US" sz="1400">
                <a:solidFill>
                  <a:srgbClr val="FF0000"/>
                </a:solidFill>
              </a:rPr>
              <a:t>物件</a:t>
            </a:r>
            <a:r>
              <a:rPr lang="en-US" altLang="zh-TW" sz="1400">
                <a:solidFill>
                  <a:srgbClr val="FF0000"/>
                </a:solidFill>
              </a:rPr>
              <a:t>.classList.remove(</a:t>
            </a:r>
            <a:r>
              <a:rPr lang="zh-TW" altLang="en-US" sz="1400">
                <a:solidFill>
                  <a:srgbClr val="FF0000"/>
                </a:solidFill>
              </a:rPr>
              <a:t>樣式</a:t>
            </a:r>
            <a:r>
              <a:rPr lang="en-US" altLang="zh-TW" sz="1400">
                <a:solidFill>
                  <a:srgbClr val="FF0000"/>
                </a:solidFill>
              </a:rPr>
              <a:t>) </a:t>
            </a:r>
            <a:r>
              <a:rPr lang="zh-TW" altLang="en-US" sz="1400">
                <a:solidFill>
                  <a:srgbClr val="FF0000"/>
                </a:solidFill>
              </a:rPr>
              <a:t>  </a:t>
            </a:r>
            <a:r>
              <a:rPr lang="en-US" altLang="zh-TW" sz="1400">
                <a:solidFill>
                  <a:srgbClr val="FF0000"/>
                </a:solidFill>
              </a:rPr>
              <a:t>--</a:t>
            </a:r>
            <a:r>
              <a:rPr lang="zh-TW" altLang="en-US" sz="1400">
                <a:solidFill>
                  <a:srgbClr val="FF0000"/>
                </a:solidFill>
              </a:rPr>
              <a:t> 物件上減少樣式</a:t>
            </a:r>
            <a:endParaRPr lang="en-US" altLang="zh-TW" sz="1400">
              <a:solidFill>
                <a:srgbClr val="FF0000"/>
              </a:solidFill>
            </a:endParaRPr>
          </a:p>
          <a:p>
            <a:r>
              <a:rPr lang="zh-TW" altLang="en-US" sz="1400">
                <a:solidFill>
                  <a:srgbClr val="FF0000"/>
                </a:solidFill>
              </a:rPr>
              <a:t>物件</a:t>
            </a:r>
            <a:r>
              <a:rPr lang="en-US" altLang="zh-TW" sz="1400">
                <a:solidFill>
                  <a:srgbClr val="FF0000"/>
                </a:solidFill>
              </a:rPr>
              <a:t>.classList. toggle(</a:t>
            </a:r>
            <a:r>
              <a:rPr lang="zh-TW" altLang="en-US" sz="1400">
                <a:solidFill>
                  <a:srgbClr val="FF0000"/>
                </a:solidFill>
              </a:rPr>
              <a:t>樣式</a:t>
            </a:r>
            <a:r>
              <a:rPr lang="en-US" altLang="zh-TW" sz="1400">
                <a:solidFill>
                  <a:srgbClr val="FF0000"/>
                </a:solidFill>
              </a:rPr>
              <a:t>)</a:t>
            </a:r>
            <a:r>
              <a:rPr lang="zh-TW" altLang="en-US" sz="1400">
                <a:solidFill>
                  <a:srgbClr val="FF0000"/>
                </a:solidFill>
              </a:rPr>
              <a:t> </a:t>
            </a:r>
            <a:r>
              <a:rPr lang="en-US" altLang="zh-TW" sz="1400">
                <a:solidFill>
                  <a:srgbClr val="FF0000"/>
                </a:solidFill>
              </a:rPr>
              <a:t>–</a:t>
            </a:r>
            <a:r>
              <a:rPr lang="zh-TW" altLang="en-US" sz="1400">
                <a:solidFill>
                  <a:srgbClr val="FF0000"/>
                </a:solidFill>
              </a:rPr>
              <a:t> 物件上樣式切換</a:t>
            </a:r>
            <a:endParaRPr lang="en-US" altLang="zh-TW" sz="1400">
              <a:solidFill>
                <a:srgbClr val="FF0000"/>
              </a:solidFill>
            </a:endParaRPr>
          </a:p>
          <a:p>
            <a:endParaRPr lang="en-US" altLang="zh-TW" sz="1400">
              <a:solidFill>
                <a:srgbClr val="FF0000"/>
              </a:solidFill>
            </a:endParaRPr>
          </a:p>
          <a:p>
            <a:endParaRPr lang="en-US" altLang="zh-TW" sz="1400">
              <a:solidFill>
                <a:srgbClr val="FF0000"/>
              </a:solidFill>
            </a:endParaRPr>
          </a:p>
          <a:p>
            <a:endParaRPr lang="en-US" altLang="zh-TW" sz="1400">
              <a:solidFill>
                <a:srgbClr val="FF0000"/>
              </a:solidFill>
            </a:endParaRPr>
          </a:p>
          <a:p>
            <a:endParaRPr lang="en-US" altLang="zh-TW" sz="1400">
              <a:solidFill>
                <a:srgbClr val="FF0000"/>
              </a:solidFill>
            </a:endParaRPr>
          </a:p>
          <a:p>
            <a:endParaRPr lang="zh-TW" altLang="en-US" sz="1400">
              <a:solidFill>
                <a:srgbClr val="FF0000"/>
              </a:solidFill>
            </a:endParaRPr>
          </a:p>
        </p:txBody>
      </p:sp>
      <p:pic>
        <p:nvPicPr>
          <p:cNvPr id="56326" name="圖片 6">
            <a:extLst>
              <a:ext uri="{FF2B5EF4-FFF2-40B4-BE49-F238E27FC236}">
                <a16:creationId xmlns:a16="http://schemas.microsoft.com/office/drawing/2014/main" id="{6C8AA94A-41D6-4CDF-ACB6-FCFEEAC9D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26" y="365126"/>
            <a:ext cx="2678113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91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3589" y="394452"/>
            <a:ext cx="3372434" cy="2980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2564" y="394452"/>
            <a:ext cx="3372434" cy="2995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22564" y="3591355"/>
            <a:ext cx="3372434" cy="299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4723" y="3676416"/>
            <a:ext cx="3384821" cy="299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38146" y="3690436"/>
            <a:ext cx="3355816" cy="2980754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3"/>
          <p:cNvSpPr txBox="1"/>
          <p:nvPr/>
        </p:nvSpPr>
        <p:spPr>
          <a:xfrm>
            <a:off x="724723" y="939209"/>
            <a:ext cx="358258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實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機</a:t>
            </a:r>
            <a:r>
              <a:rPr lang="en-US" sz="3600" b="1" dirty="0" err="1">
                <a:solidFill>
                  <a:schemeClr val="accent6">
                    <a:lumMod val="50000"/>
                  </a:schemeClr>
                </a:solidFill>
                <a:sym typeface="Arial"/>
              </a:rPr>
              <a:t>練習題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  <a:sym typeface="Arial"/>
              </a:rPr>
              <a:t>(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二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  <a:sym typeface="Arial"/>
              </a:rPr>
              <a:t>)</a:t>
            </a:r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Google Shape;501;p43">
            <a:extLst>
              <a:ext uri="{FF2B5EF4-FFF2-40B4-BE49-F238E27FC236}">
                <a16:creationId xmlns:a16="http://schemas.microsoft.com/office/drawing/2014/main" id="{7E45C74A-F5F3-4063-A198-E9EA6C90E660}"/>
              </a:ext>
            </a:extLst>
          </p:cNvPr>
          <p:cNvSpPr txBox="1"/>
          <p:nvPr/>
        </p:nvSpPr>
        <p:spPr>
          <a:xfrm>
            <a:off x="497002" y="2193866"/>
            <a:ext cx="358258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200" b="1" dirty="0">
                <a:solidFill>
                  <a:schemeClr val="accent6">
                    <a:lumMod val="50000"/>
                  </a:schemeClr>
                </a:solidFill>
              </a:rPr>
              <a:t>23</a:t>
            </a:r>
            <a:r>
              <a:rPr lang="en-US" altLang="zh-TW" sz="1600" b="1" dirty="0">
                <a:solidFill>
                  <a:schemeClr val="accent6">
                    <a:lumMod val="50000"/>
                  </a:schemeClr>
                </a:solidFill>
              </a:rPr>
              <a:t>_</a:t>
            </a:r>
            <a:r>
              <a:rPr lang="zh-TW" altLang="en-US" sz="1600" b="1" dirty="0">
                <a:solidFill>
                  <a:schemeClr val="accent6">
                    <a:lumMod val="50000"/>
                  </a:schemeClr>
                </a:solidFill>
              </a:rPr>
              <a:t>需配合</a:t>
            </a:r>
            <a:r>
              <a:rPr lang="en-US" altLang="zh-TW" sz="1600" b="1" dirty="0" err="1">
                <a:solidFill>
                  <a:schemeClr val="accent6">
                    <a:lumMod val="50000"/>
                  </a:schemeClr>
                </a:solidFill>
              </a:rPr>
              <a:t>localStorage</a:t>
            </a:r>
            <a:r>
              <a:rPr lang="zh-TW" altLang="en-US" sz="1600" b="1" dirty="0">
                <a:solidFill>
                  <a:schemeClr val="accent6">
                    <a:lumMod val="50000"/>
                  </a:schemeClr>
                </a:solidFill>
              </a:rPr>
              <a:t>儲存訂位</a:t>
            </a:r>
            <a:endParaRPr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09E8C30-E44B-452F-A703-9648DA35A3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97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2A4BB87-DC42-4329-8C4B-571B7AD99895}"/>
              </a:ext>
            </a:extLst>
          </p:cNvPr>
          <p:cNvSpPr txBox="1"/>
          <p:nvPr/>
        </p:nvSpPr>
        <p:spPr>
          <a:xfrm>
            <a:off x="1651085" y="2526632"/>
            <a:ext cx="94388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b="1" dirty="0" err="1">
                <a:solidFill>
                  <a:schemeClr val="accent6">
                    <a:lumMod val="50000"/>
                  </a:schemeClr>
                </a:solidFill>
              </a:rPr>
              <a:t>javaScript</a:t>
            </a:r>
            <a:r>
              <a:rPr lang="en-US" altLang="zh-TW" sz="4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zh-TW" altLang="en-US" sz="4400" b="1" dirty="0">
                <a:solidFill>
                  <a:schemeClr val="accent6">
                    <a:lumMod val="50000"/>
                  </a:schemeClr>
                </a:solidFill>
              </a:rPr>
              <a:t>與 </a:t>
            </a:r>
            <a:r>
              <a:rPr lang="en-US" altLang="zh-TW" sz="4400" b="1" dirty="0" err="1">
                <a:solidFill>
                  <a:schemeClr val="accent6">
                    <a:lumMod val="50000"/>
                  </a:schemeClr>
                </a:solidFill>
              </a:rPr>
              <a:t>jQuey</a:t>
            </a:r>
            <a:r>
              <a:rPr lang="en-US" altLang="zh-TW" sz="4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zh-TW" altLang="en-US" sz="4400" b="1" dirty="0">
                <a:solidFill>
                  <a:schemeClr val="accent6">
                    <a:lumMod val="50000"/>
                  </a:schemeClr>
                </a:solidFill>
              </a:rPr>
              <a:t>語法的差異比較</a:t>
            </a:r>
          </a:p>
        </p:txBody>
      </p:sp>
    </p:spTree>
    <p:extLst>
      <p:ext uri="{BB962C8B-B14F-4D97-AF65-F5344CB8AC3E}">
        <p14:creationId xmlns:p14="http://schemas.microsoft.com/office/powerpoint/2010/main" val="16273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978EF841-1111-4D58-B41A-CD1C939AD184}"/>
              </a:ext>
            </a:extLst>
          </p:cNvPr>
          <p:cNvGraphicFramePr>
            <a:graphicFrameLocks noGrp="1"/>
          </p:cNvGraphicFramePr>
          <p:nvPr/>
        </p:nvGraphicFramePr>
        <p:xfrm>
          <a:off x="713432" y="106717"/>
          <a:ext cx="11173768" cy="6344920"/>
        </p:xfrm>
        <a:graphic>
          <a:graphicData uri="http://schemas.openxmlformats.org/drawingml/2006/table">
            <a:tbl>
              <a:tblPr firstRow="1" bandRow="1">
                <a:tableStyleId>{7D4EC54D-0DAB-4541-8A27-4D770AF52201}</a:tableStyleId>
              </a:tblPr>
              <a:tblGrid>
                <a:gridCol w="2363402">
                  <a:extLst>
                    <a:ext uri="{9D8B030D-6E8A-4147-A177-3AD203B41FA5}">
                      <a16:colId xmlns:a16="http://schemas.microsoft.com/office/drawing/2014/main" val="1576478154"/>
                    </a:ext>
                  </a:extLst>
                </a:gridCol>
                <a:gridCol w="4312104">
                  <a:extLst>
                    <a:ext uri="{9D8B030D-6E8A-4147-A177-3AD203B41FA5}">
                      <a16:colId xmlns:a16="http://schemas.microsoft.com/office/drawing/2014/main" val="3391402029"/>
                    </a:ext>
                  </a:extLst>
                </a:gridCol>
                <a:gridCol w="4498262">
                  <a:extLst>
                    <a:ext uri="{9D8B030D-6E8A-4147-A177-3AD203B41FA5}">
                      <a16:colId xmlns:a16="http://schemas.microsoft.com/office/drawing/2014/main" val="1430588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意義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javaScript</a:t>
                      </a:r>
                      <a:r>
                        <a:rPr lang="en-US" altLang="zh-TW" dirty="0"/>
                        <a:t> </a:t>
                      </a:r>
                      <a:r>
                        <a:rPr lang="zh-TW" altLang="en-US" dirty="0"/>
                        <a:t>語法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jQuery</a:t>
                      </a:r>
                      <a:r>
                        <a:rPr lang="zh-TW" altLang="en-US" dirty="0"/>
                        <a:t> 語法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330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選取物件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document.getElementById</a:t>
                      </a:r>
                      <a:r>
                        <a:rPr lang="en-US" altLang="zh-TW" dirty="0"/>
                        <a:t>(‘id</a:t>
                      </a:r>
                      <a:r>
                        <a:rPr lang="zh-TW" altLang="en-US" dirty="0"/>
                        <a:t>選擇器</a:t>
                      </a:r>
                      <a:r>
                        <a:rPr lang="en-US" altLang="zh-TW" dirty="0"/>
                        <a:t>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 err="1"/>
                        <a:t>document.getElementsByCalssName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類別選擇器</a:t>
                      </a:r>
                      <a:r>
                        <a:rPr lang="en-US" altLang="zh-TW" dirty="0"/>
                        <a:t>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 err="1"/>
                        <a:t>document.getElementsByTagNameId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元素選擇器</a:t>
                      </a:r>
                      <a:r>
                        <a:rPr lang="en-US" altLang="zh-TW" dirty="0"/>
                        <a:t>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 err="1"/>
                        <a:t>document.QuerySelecter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選擇器</a:t>
                      </a:r>
                      <a:r>
                        <a:rPr lang="en-US" altLang="zh-TW" dirty="0"/>
                        <a:t>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$(‘</a:t>
                      </a:r>
                      <a:r>
                        <a:rPr lang="zh-TW" altLang="en-US" dirty="0"/>
                        <a:t>選擇器</a:t>
                      </a:r>
                      <a:r>
                        <a:rPr lang="en-US" altLang="zh-TW" dirty="0"/>
                        <a:t>’)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5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物件內容取得或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.value</a:t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textContent</a:t>
                      </a:r>
                      <a:r>
                        <a:rPr lang="en-US" altLang="zh-TW" dirty="0"/>
                        <a:t> </a:t>
                      </a:r>
                      <a:r>
                        <a:rPr lang="zh-TW" altLang="en-US" dirty="0"/>
                        <a:t>、 </a:t>
                      </a:r>
                      <a:r>
                        <a:rPr lang="en-US" altLang="zh-TW" dirty="0" err="1"/>
                        <a:t>innerHTML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 err="1"/>
                        <a:t>innerText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val</a:t>
                      </a:r>
                      <a:r>
                        <a:rPr lang="en-US" altLang="zh-TW" dirty="0"/>
                        <a:t>()     </a:t>
                      </a:r>
                    </a:p>
                    <a:p>
                      <a:r>
                        <a:rPr lang="en-US" altLang="zh-TW" dirty="0"/>
                        <a:t>.text()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52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屬性取得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設定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移除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getAttribute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屬性</a:t>
                      </a:r>
                      <a:r>
                        <a:rPr lang="en-US" altLang="zh-TW" dirty="0"/>
                        <a:t>’)</a:t>
                      </a:r>
                    </a:p>
                    <a:p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setAttribute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屬性</a:t>
                      </a:r>
                      <a:r>
                        <a:rPr lang="en-US" altLang="zh-TW" dirty="0"/>
                        <a:t>’,</a:t>
                      </a:r>
                      <a:r>
                        <a:rPr lang="zh-TW" altLang="en-US" dirty="0"/>
                        <a:t>值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removeAttribute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屬性</a:t>
                      </a:r>
                      <a:r>
                        <a:rPr lang="en-US" altLang="zh-TW" dirty="0"/>
                        <a:t>’)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attr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屬性</a:t>
                      </a:r>
                      <a:r>
                        <a:rPr lang="en-US" altLang="zh-TW" dirty="0"/>
                        <a:t>’)</a:t>
                      </a:r>
                    </a:p>
                    <a:p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attr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屬性</a:t>
                      </a:r>
                      <a:r>
                        <a:rPr lang="en-US" altLang="zh-TW" dirty="0"/>
                        <a:t>’,</a:t>
                      </a:r>
                      <a:r>
                        <a:rPr lang="zh-TW" altLang="en-US" dirty="0"/>
                        <a:t>值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removeAttr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屬性</a:t>
                      </a:r>
                      <a:r>
                        <a:rPr lang="en-US" altLang="zh-TW" dirty="0"/>
                        <a:t>’)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06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建立物件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移除物件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document.createElement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元素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標籤</a:t>
                      </a:r>
                      <a:r>
                        <a:rPr lang="en-US" altLang="zh-TW" dirty="0"/>
                        <a:t>’)</a:t>
                      </a:r>
                    </a:p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appendChild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子物件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.remove()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物件 </a:t>
                      </a:r>
                      <a:r>
                        <a:rPr lang="en-US" altLang="zh-TW" dirty="0"/>
                        <a:t>=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$(‘&lt;</a:t>
                      </a:r>
                      <a:r>
                        <a:rPr lang="zh-TW" altLang="en-US" dirty="0"/>
                        <a:t>標籤</a:t>
                      </a:r>
                      <a:r>
                        <a:rPr lang="en-US" altLang="zh-TW" dirty="0"/>
                        <a:t>&gt;XXXX&lt;</a:t>
                      </a:r>
                      <a:r>
                        <a:rPr lang="zh-TW" altLang="en-US" dirty="0"/>
                        <a:t>標籤</a:t>
                      </a:r>
                      <a:r>
                        <a:rPr lang="en-US" altLang="zh-TW" dirty="0"/>
                        <a:t>&gt;’)</a:t>
                      </a:r>
                      <a:br>
                        <a:rPr lang="en-US" altLang="zh-TW" dirty="0"/>
                      </a:br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.append(</a:t>
                      </a:r>
                      <a:r>
                        <a:rPr lang="zh-TW" altLang="en-US" dirty="0"/>
                        <a:t>子物件</a:t>
                      </a:r>
                      <a:r>
                        <a:rPr lang="en-US" altLang="zh-TW" dirty="0"/>
                        <a:t>)</a:t>
                      </a:r>
                      <a:br>
                        <a:rPr lang="en-US" altLang="zh-TW" dirty="0"/>
                      </a:br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.remove()</a:t>
                      </a:r>
                    </a:p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.empty() </a:t>
                      </a:r>
                      <a:r>
                        <a:rPr lang="zh-TW" altLang="en-US" dirty="0"/>
                        <a:t>清空子物件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26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新增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移除樣式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類別選擇器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classList.add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類別選擇器</a:t>
                      </a:r>
                      <a:r>
                        <a:rPr lang="en-US" altLang="zh-TW" dirty="0"/>
                        <a:t>’)</a:t>
                      </a:r>
                    </a:p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classList.remove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類別選擇器</a:t>
                      </a:r>
                      <a:r>
                        <a:rPr lang="en-US" altLang="zh-TW" dirty="0"/>
                        <a:t>’)</a:t>
                      </a:r>
                    </a:p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 err="1"/>
                        <a:t>classList.toggle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類別選擇器</a:t>
                      </a:r>
                      <a:r>
                        <a:rPr lang="en-US" altLang="zh-TW" dirty="0"/>
                        <a:t>’)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addClass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類別選擇器</a:t>
                      </a:r>
                      <a:r>
                        <a:rPr lang="en-US" altLang="zh-TW" dirty="0"/>
                        <a:t>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removeClass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類別選擇器</a:t>
                      </a:r>
                      <a:r>
                        <a:rPr lang="en-US" altLang="zh-TW" dirty="0"/>
                        <a:t>’)</a:t>
                      </a:r>
                      <a:endParaRPr lang="zh-TW" alt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toggleClass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類別選擇器</a:t>
                      </a:r>
                      <a:r>
                        <a:rPr lang="en-US" altLang="zh-TW" dirty="0"/>
                        <a:t>’)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522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取得子元素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childrens</a:t>
                      </a:r>
                      <a:r>
                        <a:rPr lang="en-US" altLang="zh-TW" dirty="0"/>
                        <a:t> </a:t>
                      </a:r>
                      <a:r>
                        <a:rPr lang="zh-TW" altLang="en-US" dirty="0"/>
                        <a:t>指所有孩子</a:t>
                      </a:r>
                      <a:endParaRPr lang="en-US" altLang="zh-TW" dirty="0"/>
                    </a:p>
                    <a:p>
                      <a:r>
                        <a:rPr lang="en-US" altLang="zh-TW" dirty="0" err="1"/>
                        <a:t>childrens</a:t>
                      </a:r>
                      <a:r>
                        <a:rPr lang="en-US" altLang="zh-TW" dirty="0"/>
                        <a:t>[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] </a:t>
                      </a:r>
                      <a:r>
                        <a:rPr lang="zh-TW" altLang="en-US" dirty="0"/>
                        <a:t>指第 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 </a:t>
                      </a:r>
                      <a:r>
                        <a:rPr lang="zh-TW" altLang="en-US" dirty="0"/>
                        <a:t>個小孩</a:t>
                      </a:r>
                      <a:r>
                        <a:rPr lang="en-US" altLang="zh-TW" dirty="0"/>
                        <a:t> </a:t>
                      </a:r>
                    </a:p>
                    <a:p>
                      <a:r>
                        <a:rPr lang="en-US" altLang="zh-TW" dirty="0" err="1"/>
                        <a:t>childrens</a:t>
                      </a:r>
                      <a:r>
                        <a:rPr lang="en-US" altLang="zh-TW" dirty="0"/>
                        <a:t>[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].children[j] </a:t>
                      </a:r>
                      <a:r>
                        <a:rPr lang="zh-TW" altLang="en-US" dirty="0"/>
                        <a:t>指第</a:t>
                      </a:r>
                      <a:r>
                        <a:rPr lang="en-US" altLang="zh-TW" dirty="0" err="1"/>
                        <a:t>i</a:t>
                      </a:r>
                      <a:r>
                        <a:rPr lang="zh-TW" altLang="en-US" dirty="0"/>
                        <a:t>個小孩的第</a:t>
                      </a:r>
                      <a:r>
                        <a:rPr lang="en-US" altLang="zh-TW" dirty="0"/>
                        <a:t>j</a:t>
                      </a:r>
                      <a:r>
                        <a:rPr lang="zh-TW" altLang="en-US" dirty="0"/>
                        <a:t>個孩子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children()</a:t>
                      </a:r>
                      <a:r>
                        <a:rPr lang="zh-TW" altLang="en-US" dirty="0"/>
                        <a:t> 指所有孩子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/>
                        <a:t>children().children() </a:t>
                      </a:r>
                      <a:r>
                        <a:rPr lang="zh-TW" altLang="en-US" dirty="0"/>
                        <a:t>指所有孫子</a:t>
                      </a:r>
                      <a:r>
                        <a:rPr lang="en-US" altLang="zh-TW" dirty="0"/>
                        <a:t> </a:t>
                      </a:r>
                    </a:p>
                    <a:p>
                      <a:r>
                        <a:rPr lang="en-US" altLang="zh-TW" dirty="0"/>
                        <a:t>children().eq(0)</a:t>
                      </a:r>
                      <a:r>
                        <a:rPr lang="zh-TW" altLang="en-US" dirty="0"/>
                        <a:t>第</a:t>
                      </a:r>
                      <a:r>
                        <a:rPr lang="en-US" altLang="zh-TW" dirty="0"/>
                        <a:t>1</a:t>
                      </a:r>
                      <a:r>
                        <a:rPr lang="zh-TW" altLang="en-US" dirty="0"/>
                        <a:t>個小孩 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children().eq(1)</a:t>
                      </a:r>
                      <a:r>
                        <a:rPr lang="zh-TW" altLang="en-US" dirty="0"/>
                        <a:t>第</a:t>
                      </a:r>
                      <a:r>
                        <a:rPr lang="en-US" altLang="zh-TW" dirty="0"/>
                        <a:t>2</a:t>
                      </a:r>
                      <a:r>
                        <a:rPr lang="zh-TW" altLang="en-US" dirty="0"/>
                        <a:t>個小孩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/>
                        <a:t>children().eq(0).children().eq(1)</a:t>
                      </a:r>
                      <a:r>
                        <a:rPr lang="zh-TW" altLang="en-US" dirty="0"/>
                        <a:t>第</a:t>
                      </a:r>
                      <a:r>
                        <a:rPr lang="en-US" altLang="zh-TW" dirty="0"/>
                        <a:t>1</a:t>
                      </a:r>
                      <a:r>
                        <a:rPr lang="zh-TW" altLang="en-US" dirty="0"/>
                        <a:t>個小孩的第</a:t>
                      </a:r>
                      <a:r>
                        <a:rPr lang="en-US" altLang="zh-TW" dirty="0"/>
                        <a:t>2</a:t>
                      </a:r>
                      <a:r>
                        <a:rPr lang="zh-TW" altLang="en-US" dirty="0"/>
                        <a:t>個孩子 </a:t>
                      </a:r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38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取得父元素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parentNode</a:t>
                      </a:r>
                      <a:r>
                        <a:rPr lang="zh-TW" altLang="en-US" dirty="0"/>
                        <a:t> 父親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parentNode.parentNo</a:t>
                      </a:r>
                      <a:r>
                        <a:rPr lang="zh-TW" altLang="en-US" dirty="0"/>
                        <a:t> 父親的父親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祖父</a:t>
                      </a:r>
                      <a:r>
                        <a:rPr lang="en-US" altLang="zh-TW" dirty="0"/>
                        <a:t>)…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.parent()    </a:t>
                      </a:r>
                      <a:r>
                        <a:rPr lang="zh-TW" altLang="en-US" dirty="0"/>
                        <a:t>或  </a:t>
                      </a:r>
                      <a:r>
                        <a:rPr lang="en-US" altLang="zh-TW" dirty="0"/>
                        <a:t>.parents().eq(0)            </a:t>
                      </a:r>
                      <a:r>
                        <a:rPr lang="zh-TW" altLang="en-US" dirty="0"/>
                        <a:t>父親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.parent().parent()  </a:t>
                      </a:r>
                      <a:r>
                        <a:rPr lang="zh-TW" altLang="en-US" dirty="0"/>
                        <a:t>或 </a:t>
                      </a:r>
                      <a:r>
                        <a:rPr lang="en-US" altLang="zh-TW" dirty="0"/>
                        <a:t>.parents().eq(1)</a:t>
                      </a:r>
                      <a:r>
                        <a:rPr lang="zh-TW" altLang="en-US" dirty="0"/>
                        <a:t>  祖父</a:t>
                      </a:r>
                    </a:p>
                    <a:p>
                      <a:r>
                        <a:rPr lang="en-US" altLang="zh-TW" dirty="0"/>
                        <a:t>.parent().parent().parent() </a:t>
                      </a:r>
                      <a:r>
                        <a:rPr lang="zh-TW" altLang="en-US" dirty="0"/>
                        <a:t>或 </a:t>
                      </a:r>
                      <a:r>
                        <a:rPr lang="en-US" altLang="zh-TW" dirty="0"/>
                        <a:t>.parents().eq(2) </a:t>
                      </a:r>
                      <a:r>
                        <a:rPr lang="zh-TW" altLang="en-US" dirty="0"/>
                        <a:t>曾祖父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264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32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6A0EE82-992F-42B4-AA30-0ABAC9A611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99</a:t>
            </a:fld>
            <a:endParaRPr lang="en-US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080C1211-6AC2-4A57-86DE-3746AC2DB1D7}"/>
              </a:ext>
            </a:extLst>
          </p:cNvPr>
          <p:cNvGraphicFramePr>
            <a:graphicFrameLocks noGrp="1"/>
          </p:cNvGraphicFramePr>
          <p:nvPr/>
        </p:nvGraphicFramePr>
        <p:xfrm>
          <a:off x="713432" y="106717"/>
          <a:ext cx="11173768" cy="3251200"/>
        </p:xfrm>
        <a:graphic>
          <a:graphicData uri="http://schemas.openxmlformats.org/drawingml/2006/table">
            <a:tbl>
              <a:tblPr firstRow="1" bandRow="1">
                <a:tableStyleId>{7D4EC54D-0DAB-4541-8A27-4D770AF52201}</a:tableStyleId>
              </a:tblPr>
              <a:tblGrid>
                <a:gridCol w="1624523">
                  <a:extLst>
                    <a:ext uri="{9D8B030D-6E8A-4147-A177-3AD203B41FA5}">
                      <a16:colId xmlns:a16="http://schemas.microsoft.com/office/drawing/2014/main" val="1576478154"/>
                    </a:ext>
                  </a:extLst>
                </a:gridCol>
                <a:gridCol w="5050983">
                  <a:extLst>
                    <a:ext uri="{9D8B030D-6E8A-4147-A177-3AD203B41FA5}">
                      <a16:colId xmlns:a16="http://schemas.microsoft.com/office/drawing/2014/main" val="3391402029"/>
                    </a:ext>
                  </a:extLst>
                </a:gridCol>
                <a:gridCol w="4498262">
                  <a:extLst>
                    <a:ext uri="{9D8B030D-6E8A-4147-A177-3AD203B41FA5}">
                      <a16:colId xmlns:a16="http://schemas.microsoft.com/office/drawing/2014/main" val="1430588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意義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javaScript</a:t>
                      </a:r>
                      <a:r>
                        <a:rPr lang="en-US" altLang="zh-TW" dirty="0"/>
                        <a:t> </a:t>
                      </a:r>
                      <a:r>
                        <a:rPr lang="zh-TW" altLang="en-US" dirty="0"/>
                        <a:t>語法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jQuery</a:t>
                      </a:r>
                      <a:r>
                        <a:rPr lang="zh-TW" altLang="en-US" dirty="0"/>
                        <a:t> 語法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330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事件程序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addEventListener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事件</a:t>
                      </a:r>
                      <a:r>
                        <a:rPr lang="en-US" altLang="zh-TW" dirty="0"/>
                        <a:t>’ , function() { …. } )</a:t>
                      </a:r>
                    </a:p>
                    <a:p>
                      <a:r>
                        <a:rPr lang="en-US" altLang="zh-TW" dirty="0"/>
                        <a:t>&lt;</a:t>
                      </a:r>
                      <a:r>
                        <a:rPr lang="zh-TW" altLang="en-US" dirty="0"/>
                        <a:t>標籤   </a:t>
                      </a:r>
                      <a:r>
                        <a:rPr lang="en-US" altLang="zh-TW" dirty="0"/>
                        <a:t>on</a:t>
                      </a:r>
                      <a:r>
                        <a:rPr lang="zh-TW" altLang="en-US" dirty="0"/>
                        <a:t>事件</a:t>
                      </a:r>
                      <a:r>
                        <a:rPr lang="en-US" altLang="zh-TW" dirty="0"/>
                        <a:t>=‘</a:t>
                      </a:r>
                      <a:r>
                        <a:rPr lang="zh-TW" altLang="en-US" dirty="0"/>
                        <a:t>函數</a:t>
                      </a:r>
                      <a:r>
                        <a:rPr lang="en-US" altLang="zh-TW" dirty="0"/>
                        <a:t>’&gt;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</a:t>
                      </a:r>
                      <a:r>
                        <a:rPr lang="zh-TW" altLang="en-US" dirty="0"/>
                        <a:t>事件</a:t>
                      </a:r>
                      <a:r>
                        <a:rPr lang="en-US" altLang="zh-TW" dirty="0"/>
                        <a:t>( function() { …..} )</a:t>
                      </a:r>
                    </a:p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.bind( ‘</a:t>
                      </a:r>
                      <a:r>
                        <a:rPr lang="zh-TW" altLang="en-US" dirty="0"/>
                        <a:t>事件</a:t>
                      </a:r>
                      <a:r>
                        <a:rPr lang="en-US" altLang="zh-TW" dirty="0"/>
                        <a:t>’ , function(){ … } 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52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display:block</a:t>
                      </a:r>
                      <a:endParaRPr lang="en-US" altLang="zh-TW" dirty="0"/>
                    </a:p>
                    <a:p>
                      <a:r>
                        <a:rPr lang="en-US" altLang="zh-TW" dirty="0" err="1"/>
                        <a:t>display:none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.show()</a:t>
                      </a:r>
                    </a:p>
                    <a:p>
                      <a:r>
                        <a:rPr lang="en-US" altLang="zh-TW" dirty="0"/>
                        <a:t>.hide()</a:t>
                      </a:r>
                    </a:p>
                    <a:p>
                      <a:r>
                        <a:rPr lang="en-US" altLang="zh-TW" dirty="0"/>
                        <a:t>.toggle()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06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CSS</a:t>
                      </a:r>
                      <a:r>
                        <a:rPr lang="zh-TW" altLang="en-US" dirty="0"/>
                        <a:t>樣式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.style.</a:t>
                      </a:r>
                      <a:r>
                        <a:rPr lang="zh-TW" altLang="en-US" dirty="0"/>
                        <a:t>屬性 </a:t>
                      </a:r>
                      <a:r>
                        <a:rPr lang="en-US" altLang="zh-TW" dirty="0"/>
                        <a:t>=</a:t>
                      </a:r>
                      <a:r>
                        <a:rPr lang="zh-TW" altLang="en-US" dirty="0"/>
                        <a:t> 新值 </a:t>
                      </a:r>
                      <a:r>
                        <a:rPr lang="en-US" altLang="zh-TW" dirty="0"/>
                        <a:t>;         ( </a:t>
                      </a:r>
                      <a:r>
                        <a:rPr lang="en-US" altLang="zh-TW" dirty="0" err="1"/>
                        <a:t>style.backgroungColor</a:t>
                      </a:r>
                      <a:r>
                        <a:rPr lang="en-US" altLang="zh-TW" dirty="0"/>
                        <a:t> = “blue”)</a:t>
                      </a:r>
                    </a:p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.style = “ </a:t>
                      </a:r>
                      <a:r>
                        <a:rPr lang="zh-TW" altLang="en-US" dirty="0"/>
                        <a:t>屬性 </a:t>
                      </a:r>
                      <a:r>
                        <a:rPr lang="en-US" altLang="zh-TW" dirty="0"/>
                        <a:t>: </a:t>
                      </a:r>
                      <a:r>
                        <a:rPr lang="zh-TW" altLang="en-US" dirty="0"/>
                        <a:t>新值 </a:t>
                      </a:r>
                      <a:r>
                        <a:rPr lang="en-US" altLang="zh-TW" dirty="0"/>
                        <a:t>“    .style = “ background-color : blue”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css</a:t>
                      </a:r>
                      <a:r>
                        <a:rPr lang="en-US" altLang="zh-TW" dirty="0"/>
                        <a:t>( { ‘</a:t>
                      </a:r>
                      <a:r>
                        <a:rPr lang="zh-TW" altLang="en-US" dirty="0"/>
                        <a:t>屬性</a:t>
                      </a:r>
                      <a:r>
                        <a:rPr lang="en-US" altLang="zh-TW" dirty="0"/>
                        <a:t>1’ :  </a:t>
                      </a:r>
                      <a:r>
                        <a:rPr lang="zh-TW" altLang="en-US" dirty="0"/>
                        <a:t>值</a:t>
                      </a:r>
                      <a:r>
                        <a:rPr lang="en-US" altLang="zh-TW" dirty="0"/>
                        <a:t>1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,  ‘</a:t>
                      </a:r>
                      <a:r>
                        <a:rPr lang="zh-TW" altLang="en-US" dirty="0"/>
                        <a:t>屬性</a:t>
                      </a:r>
                      <a:r>
                        <a:rPr lang="en-US" altLang="zh-TW" dirty="0"/>
                        <a:t>2’ : </a:t>
                      </a:r>
                      <a:r>
                        <a:rPr lang="zh-TW" altLang="en-US" dirty="0"/>
                        <a:t>值</a:t>
                      </a:r>
                      <a:r>
                        <a:rPr lang="en-US" altLang="zh-TW" dirty="0"/>
                        <a:t>2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} …. )</a:t>
                      </a:r>
                      <a:r>
                        <a:rPr lang="zh-TW" altLang="en-US" dirty="0"/>
                        <a:t> 或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物件</a:t>
                      </a:r>
                      <a:r>
                        <a:rPr lang="en-US" altLang="zh-TW" dirty="0"/>
                        <a:t>.</a:t>
                      </a:r>
                      <a:r>
                        <a:rPr lang="en-US" altLang="zh-TW" dirty="0" err="1"/>
                        <a:t>css</a:t>
                      </a:r>
                      <a:r>
                        <a:rPr lang="en-US" altLang="zh-TW" dirty="0"/>
                        <a:t>( ‘</a:t>
                      </a:r>
                      <a:r>
                        <a:rPr lang="zh-TW" altLang="en-US" dirty="0"/>
                        <a:t>屬性</a:t>
                      </a:r>
                      <a:r>
                        <a:rPr lang="en-US" altLang="zh-TW" dirty="0"/>
                        <a:t>1’ :  </a:t>
                      </a:r>
                      <a:r>
                        <a:rPr lang="zh-TW" altLang="en-US" dirty="0"/>
                        <a:t>值</a:t>
                      </a:r>
                      <a:r>
                        <a:rPr lang="en-US" altLang="zh-TW" dirty="0"/>
                        <a:t>1).</a:t>
                      </a:r>
                      <a:r>
                        <a:rPr lang="en-US" altLang="zh-TW" dirty="0" err="1"/>
                        <a:t>css</a:t>
                      </a:r>
                      <a:r>
                        <a:rPr lang="en-US" altLang="zh-TW" dirty="0"/>
                        <a:t>(‘</a:t>
                      </a:r>
                      <a:r>
                        <a:rPr lang="zh-TW" altLang="en-US" dirty="0"/>
                        <a:t>屬性</a:t>
                      </a:r>
                      <a:r>
                        <a:rPr lang="en-US" altLang="zh-TW" dirty="0"/>
                        <a:t>2’ :  </a:t>
                      </a:r>
                      <a:r>
                        <a:rPr lang="zh-TW" altLang="en-US" dirty="0"/>
                        <a:t>值</a:t>
                      </a:r>
                      <a:r>
                        <a:rPr lang="en-US" altLang="zh-TW" dirty="0"/>
                        <a:t>2)…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26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522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38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264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24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9AA90A0-A26D-42D0-B656-66B5083C1C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100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13E812C-F3B3-43F4-A05C-E724B1FEEC54}"/>
              </a:ext>
            </a:extLst>
          </p:cNvPr>
          <p:cNvSpPr txBox="1"/>
          <p:nvPr/>
        </p:nvSpPr>
        <p:spPr>
          <a:xfrm>
            <a:off x="488372" y="1324610"/>
            <a:ext cx="904817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TW" altLang="en-US" sz="3200" b="1" dirty="0">
                <a:solidFill>
                  <a:srgbClr val="0000FF"/>
                </a:solidFill>
              </a:rPr>
              <a:t>語法：</a:t>
            </a:r>
          </a:p>
          <a:p>
            <a:r>
              <a:rPr lang="en-US" altLang="zh-TW" sz="2000" dirty="0"/>
              <a:t>$.ajax({</a:t>
            </a:r>
          </a:p>
          <a:p>
            <a:r>
              <a:rPr lang="en-US" altLang="zh-TW" sz="2000" dirty="0"/>
              <a:t>  url:,</a:t>
            </a:r>
          </a:p>
          <a:p>
            <a:r>
              <a:rPr lang="en-US" altLang="zh-TW" sz="2000" dirty="0"/>
              <a:t>  method:,</a:t>
            </a:r>
          </a:p>
          <a:p>
            <a:r>
              <a:rPr lang="en-US" altLang="zh-TW" sz="2000" dirty="0"/>
              <a:t>  </a:t>
            </a:r>
            <a:r>
              <a:rPr lang="en-US" altLang="zh-TW" sz="2000" dirty="0" err="1"/>
              <a:t>dataType</a:t>
            </a:r>
            <a:r>
              <a:rPr lang="en-US" altLang="zh-TW" sz="2000" dirty="0"/>
              <a:t>:,</a:t>
            </a:r>
          </a:p>
          <a:p>
            <a:r>
              <a:rPr lang="en-US" altLang="zh-TW" sz="2000" dirty="0"/>
              <a:t>  data:</a:t>
            </a:r>
          </a:p>
          <a:p>
            <a:r>
              <a:rPr lang="en-US" altLang="zh-TW" sz="2000" dirty="0"/>
              <a:t>  </a:t>
            </a:r>
            <a:r>
              <a:rPr lang="en-US" altLang="zh-TW" sz="2000" dirty="0" err="1"/>
              <a:t>success:function</a:t>
            </a:r>
            <a:r>
              <a:rPr lang="en-US" altLang="zh-TW" sz="2000" dirty="0"/>
              <a:t>(res)</a:t>
            </a:r>
          </a:p>
          <a:p>
            <a:r>
              <a:rPr lang="en-US" altLang="zh-TW" sz="2000" dirty="0"/>
              <a:t>       {</a:t>
            </a:r>
          </a:p>
          <a:p>
            <a:r>
              <a:rPr lang="en-US" altLang="zh-TW" sz="2000" dirty="0"/>
              <a:t>          console.log(res)</a:t>
            </a:r>
          </a:p>
          <a:p>
            <a:r>
              <a:rPr lang="en-US" altLang="zh-TW" sz="2000" dirty="0"/>
              <a:t>        },</a:t>
            </a:r>
          </a:p>
          <a:p>
            <a:r>
              <a:rPr lang="en-US" altLang="zh-TW" sz="2000" dirty="0"/>
              <a:t>  </a:t>
            </a:r>
            <a:r>
              <a:rPr lang="en-US" altLang="zh-TW" sz="2000" dirty="0" err="1"/>
              <a:t>error:function</a:t>
            </a:r>
            <a:r>
              <a:rPr lang="en-US" altLang="zh-TW" sz="2000" dirty="0"/>
              <a:t>(err)</a:t>
            </a:r>
          </a:p>
          <a:p>
            <a:r>
              <a:rPr lang="en-US" altLang="zh-TW" sz="2000" dirty="0"/>
              <a:t>        {</a:t>
            </a:r>
          </a:p>
          <a:p>
            <a:r>
              <a:rPr lang="en-US" altLang="zh-TW" sz="2000" dirty="0"/>
              <a:t>          console.log(err)</a:t>
            </a:r>
          </a:p>
          <a:p>
            <a:r>
              <a:rPr lang="en-US" altLang="zh-TW" sz="2000" dirty="0"/>
              <a:t>        },</a:t>
            </a:r>
          </a:p>
          <a:p>
            <a:r>
              <a:rPr lang="en-US" altLang="zh-TW" sz="2000" dirty="0"/>
              <a:t> });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D57BEE9-944A-4242-8B04-F793C3DD4A48}"/>
              </a:ext>
            </a:extLst>
          </p:cNvPr>
          <p:cNvSpPr txBox="1"/>
          <p:nvPr/>
        </p:nvSpPr>
        <p:spPr>
          <a:xfrm>
            <a:off x="681697" y="381278"/>
            <a:ext cx="11213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jQuery </a:t>
            </a:r>
            <a:r>
              <a:rPr lang="zh-TW" altLang="en-US" sz="3600" b="1" dirty="0">
                <a:solidFill>
                  <a:srgbClr val="FF0000"/>
                </a:solidFill>
              </a:rPr>
              <a:t>的 </a:t>
            </a:r>
            <a:r>
              <a:rPr lang="en-US" altLang="zh-TW" sz="3600" b="1" dirty="0">
                <a:solidFill>
                  <a:srgbClr val="FF0000"/>
                </a:solidFill>
              </a:rPr>
              <a:t>$.ajax() </a:t>
            </a:r>
            <a:r>
              <a:rPr lang="zh-TW" altLang="en-US" sz="3600" b="1" dirty="0">
                <a:solidFill>
                  <a:srgbClr val="FF0000"/>
                </a:solidFill>
              </a:rPr>
              <a:t>方法 </a:t>
            </a:r>
            <a:r>
              <a:rPr lang="en-US" altLang="zh-TW" sz="3600" b="1" dirty="0">
                <a:solidFill>
                  <a:srgbClr val="FF0000"/>
                </a:solidFill>
              </a:rPr>
              <a:t>– </a:t>
            </a:r>
            <a:r>
              <a:rPr lang="zh-TW" altLang="en-US" sz="3600" b="1" dirty="0">
                <a:solidFill>
                  <a:srgbClr val="FF0000"/>
                </a:solidFill>
              </a:rPr>
              <a:t>非同步的</a:t>
            </a:r>
            <a:r>
              <a:rPr lang="en-US" altLang="zh-TW" sz="3600" b="1" dirty="0" err="1">
                <a:solidFill>
                  <a:srgbClr val="FF0000"/>
                </a:solidFill>
              </a:rPr>
              <a:t>javascript</a:t>
            </a:r>
            <a:r>
              <a:rPr lang="en-US" altLang="zh-TW" sz="3600" b="1" dirty="0">
                <a:solidFill>
                  <a:srgbClr val="FF0000"/>
                </a:solidFill>
              </a:rPr>
              <a:t> </a:t>
            </a:r>
            <a:r>
              <a:rPr lang="zh-TW" altLang="en-US" sz="3600" b="1" dirty="0">
                <a:solidFill>
                  <a:srgbClr val="FF0000"/>
                </a:solidFill>
              </a:rPr>
              <a:t>與 </a:t>
            </a:r>
            <a:r>
              <a:rPr lang="en-US" altLang="zh-TW" sz="3600" b="1" dirty="0">
                <a:solidFill>
                  <a:srgbClr val="FF0000"/>
                </a:solidFill>
              </a:rPr>
              <a:t>XML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85D295A-60EA-4187-BB3C-CC5F3675CB21}"/>
              </a:ext>
            </a:extLst>
          </p:cNvPr>
          <p:cNvSpPr txBox="1"/>
          <p:nvPr/>
        </p:nvSpPr>
        <p:spPr>
          <a:xfrm>
            <a:off x="4213513" y="1434876"/>
            <a:ext cx="9048173" cy="419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TW" sz="1800" dirty="0"/>
          </a:p>
          <a:p>
            <a:pPr>
              <a:lnSpc>
                <a:spcPct val="150000"/>
              </a:lnSpc>
            </a:pPr>
            <a:r>
              <a:rPr lang="en-US" altLang="zh-TW" sz="1800" b="1" dirty="0">
                <a:solidFill>
                  <a:srgbClr val="FF0000"/>
                </a:solidFill>
              </a:rPr>
              <a:t>url: </a:t>
            </a:r>
            <a:r>
              <a:rPr lang="zh-TW" altLang="en-US" sz="1800" dirty="0"/>
              <a:t>要請求資料的網址</a:t>
            </a:r>
          </a:p>
          <a:p>
            <a:pPr>
              <a:lnSpc>
                <a:spcPct val="150000"/>
              </a:lnSpc>
            </a:pPr>
            <a:r>
              <a:rPr lang="en-US" altLang="zh-TW" sz="1800" b="1" dirty="0">
                <a:solidFill>
                  <a:srgbClr val="FF0000"/>
                </a:solidFill>
              </a:rPr>
              <a:t>method: </a:t>
            </a:r>
            <a:r>
              <a:rPr lang="zh-TW" altLang="en-US" sz="1800" dirty="0"/>
              <a:t>請求資料的方式</a:t>
            </a:r>
            <a:r>
              <a:rPr lang="en-US" altLang="zh-TW" sz="1800" dirty="0"/>
              <a:t>(</a:t>
            </a:r>
            <a:r>
              <a:rPr lang="en-US" altLang="zh-TW" sz="1800" dirty="0" err="1"/>
              <a:t>Ex:POST</a:t>
            </a:r>
            <a:r>
              <a:rPr lang="en-US" altLang="zh-TW" sz="1800" dirty="0"/>
              <a:t> / GET / PUT...</a:t>
            </a:r>
            <a:r>
              <a:rPr lang="zh-TW" altLang="en-US" sz="1800" dirty="0"/>
              <a:t>等</a:t>
            </a:r>
            <a:r>
              <a:rPr lang="en-US" altLang="zh-TW" sz="18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1800" b="1" dirty="0" err="1">
                <a:solidFill>
                  <a:srgbClr val="FF0000"/>
                </a:solidFill>
              </a:rPr>
              <a:t>dataType</a:t>
            </a:r>
            <a:r>
              <a:rPr lang="en-US" altLang="zh-TW" sz="1800" b="1" dirty="0">
                <a:solidFill>
                  <a:srgbClr val="FF0000"/>
                </a:solidFill>
              </a:rPr>
              <a:t>: </a:t>
            </a:r>
            <a:r>
              <a:rPr lang="zh-TW" altLang="en-US" sz="1800" dirty="0"/>
              <a:t>請求資料的類型</a:t>
            </a:r>
            <a:r>
              <a:rPr lang="en-US" altLang="zh-TW" sz="1800" dirty="0"/>
              <a:t>(</a:t>
            </a:r>
            <a:r>
              <a:rPr lang="en-US" altLang="zh-TW" sz="1800" dirty="0" err="1"/>
              <a:t>Ex:xml</a:t>
            </a:r>
            <a:r>
              <a:rPr lang="en-US" altLang="zh-TW" sz="1800" dirty="0"/>
              <a:t>, json, script, or html...</a:t>
            </a:r>
            <a:r>
              <a:rPr lang="zh-TW" altLang="en-US" sz="1800" dirty="0"/>
              <a:t>等</a:t>
            </a:r>
            <a:r>
              <a:rPr lang="en-US" altLang="zh-TW" sz="18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1800" b="1" dirty="0">
                <a:solidFill>
                  <a:srgbClr val="FF0000"/>
                </a:solidFill>
              </a:rPr>
              <a:t>data: </a:t>
            </a:r>
            <a:r>
              <a:rPr lang="zh-TW" altLang="en-US" sz="1800" dirty="0"/>
              <a:t>如果需要傳送資料時，則將資料設定在這裡。</a:t>
            </a:r>
          </a:p>
          <a:p>
            <a:pPr>
              <a:lnSpc>
                <a:spcPct val="150000"/>
              </a:lnSpc>
            </a:pPr>
            <a:r>
              <a:rPr lang="zh-TW" altLang="en-US" sz="1800" dirty="0"/>
              <a:t>基本上述已經建立好了一個</a:t>
            </a:r>
            <a:r>
              <a:rPr lang="zh-TW" altLang="en-US" sz="1800" b="1" u="sng" dirty="0">
                <a:solidFill>
                  <a:srgbClr val="FF0000"/>
                </a:solidFill>
              </a:rPr>
              <a:t>向遠端請求資料的格式</a:t>
            </a:r>
            <a:r>
              <a:rPr lang="zh-TW" altLang="en-US" sz="1800" dirty="0"/>
              <a:t>，但這裡還少了一點東西。</a:t>
            </a:r>
          </a:p>
          <a:p>
            <a:pPr>
              <a:lnSpc>
                <a:spcPct val="150000"/>
              </a:lnSpc>
            </a:pPr>
            <a:r>
              <a:rPr lang="zh-TW" altLang="en-US" sz="1800" dirty="0"/>
              <a:t>那就是提供</a:t>
            </a:r>
            <a:r>
              <a:rPr lang="zh-TW" altLang="en-US" sz="1800" b="1" u="sng" dirty="0">
                <a:solidFill>
                  <a:srgbClr val="FF0000"/>
                </a:solidFill>
              </a:rPr>
              <a:t>成功或失敗訊息</a:t>
            </a:r>
            <a:r>
              <a:rPr lang="zh-TW" altLang="en-US" sz="1800" dirty="0"/>
              <a:t>讓我們可以知道結果為何。</a:t>
            </a:r>
          </a:p>
          <a:p>
            <a:pPr>
              <a:lnSpc>
                <a:spcPct val="150000"/>
              </a:lnSpc>
            </a:pPr>
            <a:r>
              <a:rPr lang="en-US" altLang="zh-TW" sz="1800" b="1" dirty="0">
                <a:solidFill>
                  <a:srgbClr val="FF0000"/>
                </a:solidFill>
              </a:rPr>
              <a:t>success: </a:t>
            </a:r>
            <a:r>
              <a:rPr lang="zh-TW" altLang="en-US" sz="1800" dirty="0"/>
              <a:t>當成功接收到資料時，</a:t>
            </a:r>
            <a:r>
              <a:rPr lang="en-US" altLang="zh-TW" sz="1800" dirty="0"/>
              <a:t>success </a:t>
            </a:r>
            <a:r>
              <a:rPr lang="zh-TW" altLang="en-US" sz="1800" dirty="0"/>
              <a:t>會執行並顯示結果。</a:t>
            </a:r>
          </a:p>
          <a:p>
            <a:pPr>
              <a:lnSpc>
                <a:spcPct val="150000"/>
              </a:lnSpc>
            </a:pPr>
            <a:r>
              <a:rPr lang="en-US" altLang="zh-TW" sz="1800" b="1" dirty="0">
                <a:solidFill>
                  <a:srgbClr val="FF0000"/>
                </a:solidFill>
              </a:rPr>
              <a:t>error : </a:t>
            </a:r>
            <a:r>
              <a:rPr lang="zh-TW" altLang="en-US" sz="1800" dirty="0"/>
              <a:t>當接收資料失敗時，</a:t>
            </a:r>
            <a:r>
              <a:rPr lang="en-US" altLang="zh-TW" sz="1800" dirty="0"/>
              <a:t>error </a:t>
            </a:r>
            <a:r>
              <a:rPr lang="zh-TW" altLang="en-US" sz="1800" dirty="0"/>
              <a:t>會執行並顯示結果。</a:t>
            </a:r>
          </a:p>
          <a:p>
            <a:pPr>
              <a:lnSpc>
                <a:spcPct val="150000"/>
              </a:lnSpc>
            </a:pPr>
            <a:r>
              <a:rPr lang="zh-TW" altLang="en-US" sz="1800" dirty="0"/>
              <a:t>以上大概就是這次會用到的設定，接下來來看看這次的實作吧</a:t>
            </a:r>
            <a:r>
              <a:rPr lang="en-US" altLang="zh-TW" sz="1800" dirty="0"/>
              <a:t>!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949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9EA6B45-9A9E-4940-9EED-922A657C81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101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A59932E-A44F-4CE4-ADF2-79B4A1985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80" y="1062456"/>
            <a:ext cx="7142656" cy="529389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6FEC387-4A86-4D46-B8D7-3F07A56F7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967" y="2117558"/>
            <a:ext cx="4609629" cy="3609473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7EAA89C9-CAAD-4619-98D1-450235DAF943}"/>
              </a:ext>
            </a:extLst>
          </p:cNvPr>
          <p:cNvCxnSpPr/>
          <p:nvPr/>
        </p:nvCxnSpPr>
        <p:spPr>
          <a:xfrm flipH="1" flipV="1">
            <a:off x="5409855" y="3184358"/>
            <a:ext cx="136358" cy="172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D7FA69-3B4B-4455-A145-11708B8DB1B8}"/>
              </a:ext>
            </a:extLst>
          </p:cNvPr>
          <p:cNvSpPr txBox="1"/>
          <p:nvPr/>
        </p:nvSpPr>
        <p:spPr>
          <a:xfrm>
            <a:off x="601580" y="211740"/>
            <a:ext cx="11354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實機練習：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</a:rPr>
              <a:t>24_</a:t>
            </a:r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運用 </a:t>
            </a:r>
            <a:r>
              <a:rPr lang="en-US" altLang="zh-TW" sz="1800" b="1" dirty="0">
                <a:solidFill>
                  <a:schemeClr val="accent6">
                    <a:lumMod val="50000"/>
                  </a:schemeClr>
                </a:solidFill>
              </a:rPr>
              <a:t>jQuery </a:t>
            </a:r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的 </a:t>
            </a:r>
            <a:r>
              <a:rPr lang="en-US" altLang="zh-TW" sz="1800" b="1" dirty="0">
                <a:solidFill>
                  <a:schemeClr val="accent6">
                    <a:lumMod val="50000"/>
                  </a:schemeClr>
                </a:solidFill>
              </a:rPr>
              <a:t>ajax </a:t>
            </a:r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方法 取得 台北市 中山區目前 </a:t>
            </a:r>
            <a:r>
              <a:rPr lang="en-US" altLang="zh-TW" sz="1800" b="1" dirty="0" err="1">
                <a:solidFill>
                  <a:schemeClr val="accent6">
                    <a:lumMod val="50000"/>
                  </a:schemeClr>
                </a:solidFill>
              </a:rPr>
              <a:t>youbike</a:t>
            </a:r>
            <a:r>
              <a:rPr lang="en-US" altLang="zh-TW" sz="1800" b="1" dirty="0">
                <a:solidFill>
                  <a:schemeClr val="accent6">
                    <a:lumMod val="50000"/>
                  </a:schemeClr>
                </a:solidFill>
              </a:rPr>
              <a:t> 2.0 </a:t>
            </a:r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站沒有車待送點</a:t>
            </a:r>
            <a:endParaRPr lang="en-US" altLang="zh-TW" sz="1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47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CB876C5-7EA4-44C5-9279-F9BFECBF7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102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89B030-CC50-42DA-8A45-BAC8F2AD80C0}"/>
              </a:ext>
            </a:extLst>
          </p:cNvPr>
          <p:cNvSpPr txBox="1"/>
          <p:nvPr/>
        </p:nvSpPr>
        <p:spPr>
          <a:xfrm>
            <a:off x="1096241" y="216656"/>
            <a:ext cx="51798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3200" b="1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使用 </a:t>
            </a:r>
            <a:r>
              <a:rPr lang="en-US" altLang="zh-TW" sz="3200" b="1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fetch() </a:t>
            </a:r>
            <a:r>
              <a:rPr lang="zh-TW" altLang="en-US" sz="3200" b="1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來介接 </a:t>
            </a:r>
            <a:r>
              <a:rPr lang="en-US" altLang="zh-TW" sz="3200" b="1" i="0" dirty="0" err="1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api</a:t>
            </a:r>
            <a:r>
              <a:rPr lang="en-US" altLang="zh-TW" sz="3200" b="1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 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AD3D0BA-2E29-47CC-B4F4-34A5B4165FDC}"/>
              </a:ext>
            </a:extLst>
          </p:cNvPr>
          <p:cNvSpPr txBox="1"/>
          <p:nvPr/>
        </p:nvSpPr>
        <p:spPr>
          <a:xfrm>
            <a:off x="1096241" y="759602"/>
            <a:ext cx="9534524" cy="1776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TW" sz="1600" b="1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MDN</a:t>
            </a:r>
            <a:b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Fetch API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提供了工具使操作 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http pipeline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更加容易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,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像是日常會用到的發送和接送資料都可以使用。並且有 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global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的 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fetch()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可以直接呼叫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,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使開發能夠用更簡潔的語法取得非同步資料。</a:t>
            </a:r>
            <a:b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以往都是依賴 </a:t>
            </a:r>
            <a:r>
              <a:rPr lang="en-US" altLang="zh-TW" sz="16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XMLHttpRequest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。 但相較下 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Fetch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使用上更容易，並被廣泛使用在 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Service Workers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。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Fetch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在設定 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HTTP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相關的設定時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,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也提供可讀性比較好的方法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,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這些設定包括 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CORS 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以及其他 </a:t>
            </a:r>
            <a:r>
              <a:rPr lang="en-US" altLang="zh-TW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header</a:t>
            </a:r>
            <a:r>
              <a:rPr lang="zh-TW" alt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Lato" panose="020F0502020204030203" pitchFamily="34" charset="0"/>
              </a:rPr>
              <a:t>。</a:t>
            </a:r>
            <a:endParaRPr lang="zh-TW" alt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7A6651D-68E1-4F60-AF02-36D4038BA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872" y="2719838"/>
            <a:ext cx="8193262" cy="4001637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392877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870C71-5057-43F6-BB9A-B24D75C2AB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103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9FBB632-501B-4093-B661-0DCE15DBCDDD}"/>
              </a:ext>
            </a:extLst>
          </p:cNvPr>
          <p:cNvSpPr txBox="1"/>
          <p:nvPr/>
        </p:nvSpPr>
        <p:spPr>
          <a:xfrm>
            <a:off x="960017" y="1388886"/>
            <a:ext cx="8898590" cy="307777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b="1" dirty="0">
                <a:solidFill>
                  <a:srgbClr val="FF0000"/>
                </a:solidFill>
              </a:rPr>
              <a:t>針對一</a:t>
            </a:r>
            <a:r>
              <a:rPr lang="en-US" altLang="zh-TW" b="1" dirty="0" err="1">
                <a:solidFill>
                  <a:srgbClr val="FF0000"/>
                </a:solidFill>
              </a:rPr>
              <a:t>url</a:t>
            </a:r>
            <a:r>
              <a:rPr lang="zh-TW" altLang="en-US" b="1" dirty="0">
                <a:solidFill>
                  <a:srgbClr val="FF0000"/>
                </a:solidFill>
              </a:rPr>
              <a:t>，發出一個</a:t>
            </a:r>
            <a:r>
              <a:rPr lang="en-US" altLang="zh-TW" b="1" dirty="0">
                <a:solidFill>
                  <a:srgbClr val="FF0000"/>
                </a:solidFill>
              </a:rPr>
              <a:t>fetch()</a:t>
            </a:r>
            <a:r>
              <a:rPr lang="zh-TW" altLang="en-US" b="1" dirty="0">
                <a:solidFill>
                  <a:srgbClr val="FF0000"/>
                </a:solidFill>
              </a:rPr>
              <a:t>請求，若有回應 </a:t>
            </a:r>
            <a:r>
              <a:rPr lang="en-US" altLang="zh-TW" b="1" dirty="0">
                <a:solidFill>
                  <a:srgbClr val="FF0000"/>
                </a:solidFill>
              </a:rPr>
              <a:t>res</a:t>
            </a:r>
            <a:r>
              <a:rPr lang="zh-TW" altLang="en-US" b="1" dirty="0">
                <a:solidFill>
                  <a:srgbClr val="FF0000"/>
                </a:solidFill>
              </a:rPr>
              <a:t>，將該 </a:t>
            </a:r>
            <a:r>
              <a:rPr lang="en-US" altLang="zh-TW" b="1" dirty="0">
                <a:solidFill>
                  <a:srgbClr val="FF0000"/>
                </a:solidFill>
              </a:rPr>
              <a:t>res</a:t>
            </a:r>
            <a:r>
              <a:rPr lang="zh-TW" altLang="en-US" b="1" dirty="0">
                <a:solidFill>
                  <a:srgbClr val="FF0000"/>
                </a:solidFill>
              </a:rPr>
              <a:t> 轉成 </a:t>
            </a:r>
            <a:r>
              <a:rPr lang="en-US" altLang="zh-TW" b="1" dirty="0">
                <a:solidFill>
                  <a:srgbClr val="FF0000"/>
                </a:solidFill>
              </a:rPr>
              <a:t>json</a:t>
            </a:r>
            <a:r>
              <a:rPr lang="zh-TW" altLang="en-US" b="1" dirty="0">
                <a:solidFill>
                  <a:srgbClr val="FF0000"/>
                </a:solidFill>
              </a:rPr>
              <a:t>格式，再將資料用 </a:t>
            </a:r>
            <a:r>
              <a:rPr lang="en-US" altLang="zh-TW" b="1" dirty="0">
                <a:solidFill>
                  <a:srgbClr val="FF0000"/>
                </a:solidFill>
              </a:rPr>
              <a:t>console.log()</a:t>
            </a:r>
            <a:r>
              <a:rPr lang="zh-TW" altLang="en-US" b="1" dirty="0">
                <a:solidFill>
                  <a:srgbClr val="FF0000"/>
                </a:solidFill>
              </a:rPr>
              <a:t>顯示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7747157-E802-4A40-A6FB-AFC893AB5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759" y="1836779"/>
            <a:ext cx="7200900" cy="2857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ACDA910-4803-435A-B532-B22E1A30B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356" y="2860749"/>
            <a:ext cx="7124700" cy="10572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B8CA2E8-EF45-4C4A-8BBA-883AA610F4CF}"/>
              </a:ext>
            </a:extLst>
          </p:cNvPr>
          <p:cNvSpPr txBox="1"/>
          <p:nvPr/>
        </p:nvSpPr>
        <p:spPr>
          <a:xfrm>
            <a:off x="960017" y="2196076"/>
            <a:ext cx="8148384" cy="523220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Wingdings" panose="05000000000000000000" pitchFamily="2" charset="2"/>
              <a:buChar char="n"/>
              <a:defRPr b="1"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針對一</a:t>
            </a:r>
            <a:r>
              <a:rPr lang="en-US" altLang="zh-TW" dirty="0" err="1"/>
              <a:t>url</a:t>
            </a:r>
            <a:r>
              <a:rPr lang="zh-TW" altLang="en-US" dirty="0"/>
              <a:t>，發出一個</a:t>
            </a:r>
            <a:r>
              <a:rPr lang="en-US" altLang="zh-TW" dirty="0"/>
              <a:t>fetch()</a:t>
            </a:r>
            <a:r>
              <a:rPr lang="zh-TW" altLang="en-US" dirty="0"/>
              <a:t>請求，方法是用</a:t>
            </a:r>
            <a:r>
              <a:rPr lang="en-US" altLang="zh-TW" dirty="0"/>
              <a:t>post</a:t>
            </a:r>
            <a:r>
              <a:rPr lang="zh-TW" altLang="en-US" dirty="0"/>
              <a:t>，</a:t>
            </a:r>
            <a:r>
              <a:rPr lang="en-US" altLang="zh-TW" dirty="0"/>
              <a:t>Content-type</a:t>
            </a:r>
            <a:r>
              <a:rPr lang="zh-TW" altLang="en-US" dirty="0"/>
              <a:t>用 表單形式，資料在 </a:t>
            </a:r>
            <a:r>
              <a:rPr lang="en-US" altLang="zh-TW" dirty="0"/>
              <a:t>body </a:t>
            </a:r>
            <a:r>
              <a:rPr lang="zh-TW" altLang="en-US" dirty="0"/>
              <a:t>上。</a:t>
            </a:r>
            <a:br>
              <a:rPr lang="en-US" altLang="zh-TW" dirty="0"/>
            </a:br>
            <a:r>
              <a:rPr lang="zh-TW" altLang="en-US" dirty="0"/>
              <a:t>若有回應 </a:t>
            </a:r>
            <a:r>
              <a:rPr lang="en-US" altLang="zh-TW" dirty="0"/>
              <a:t>res</a:t>
            </a:r>
            <a:r>
              <a:rPr lang="zh-TW" altLang="en-US" dirty="0"/>
              <a:t>，將該 </a:t>
            </a:r>
            <a:r>
              <a:rPr lang="en-US" altLang="zh-TW" dirty="0"/>
              <a:t>res</a:t>
            </a:r>
            <a:r>
              <a:rPr lang="zh-TW" altLang="en-US" dirty="0"/>
              <a:t> 轉成 </a:t>
            </a:r>
            <a:r>
              <a:rPr lang="en-US" altLang="zh-TW" dirty="0"/>
              <a:t>json</a:t>
            </a:r>
            <a:r>
              <a:rPr lang="zh-TW" altLang="en-US" dirty="0"/>
              <a:t>格式，再將資料用 </a:t>
            </a:r>
            <a:r>
              <a:rPr lang="en-US" altLang="zh-TW" dirty="0"/>
              <a:t>console.log()</a:t>
            </a:r>
            <a:r>
              <a:rPr lang="zh-TW" altLang="en-US" dirty="0"/>
              <a:t>顯示。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F243B22-8787-4F3A-985B-D506EEAEF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775" y="4688764"/>
            <a:ext cx="7219281" cy="15607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490A654-E81C-43C7-B9EE-9AE4D226C58D}"/>
              </a:ext>
            </a:extLst>
          </p:cNvPr>
          <p:cNvSpPr txBox="1"/>
          <p:nvPr/>
        </p:nvSpPr>
        <p:spPr>
          <a:xfrm>
            <a:off x="960017" y="4014603"/>
            <a:ext cx="9754593" cy="523220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Wingdings" panose="05000000000000000000" pitchFamily="2" charset="2"/>
              <a:buChar char="n"/>
              <a:defRPr b="1"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針對一</a:t>
            </a:r>
            <a:r>
              <a:rPr lang="en-US" altLang="zh-TW" dirty="0" err="1"/>
              <a:t>url</a:t>
            </a:r>
            <a:r>
              <a:rPr lang="zh-TW" altLang="en-US" dirty="0"/>
              <a:t>，發出一個</a:t>
            </a:r>
            <a:r>
              <a:rPr lang="en-US" altLang="zh-TW" dirty="0"/>
              <a:t>fetch()</a:t>
            </a:r>
            <a:r>
              <a:rPr lang="zh-TW" altLang="en-US" dirty="0"/>
              <a:t>請求，方法是用</a:t>
            </a:r>
            <a:r>
              <a:rPr lang="en-US" altLang="zh-TW" dirty="0"/>
              <a:t>post</a:t>
            </a:r>
            <a:r>
              <a:rPr lang="zh-TW" altLang="en-US" dirty="0"/>
              <a:t>，</a:t>
            </a:r>
            <a:r>
              <a:rPr lang="en-US" altLang="zh-TW" dirty="0"/>
              <a:t>Content-type</a:t>
            </a:r>
            <a:r>
              <a:rPr lang="zh-TW" altLang="en-US" dirty="0"/>
              <a:t>用 表單形式，資料亦可在</a:t>
            </a:r>
            <a:r>
              <a:rPr lang="en-US" altLang="zh-TW" dirty="0" err="1"/>
              <a:t>url</a:t>
            </a:r>
            <a:r>
              <a:rPr lang="zh-TW" altLang="en-US" dirty="0"/>
              <a:t>後面的</a:t>
            </a:r>
            <a:r>
              <a:rPr lang="en-US" altLang="zh-TW" dirty="0" err="1"/>
              <a:t>queryString</a:t>
            </a:r>
            <a:r>
              <a:rPr lang="en-US" altLang="zh-TW" dirty="0"/>
              <a:t> </a:t>
            </a:r>
            <a:r>
              <a:rPr lang="zh-TW" altLang="en-US" dirty="0"/>
              <a:t>上。</a:t>
            </a:r>
            <a:br>
              <a:rPr lang="en-US" altLang="zh-TW" dirty="0"/>
            </a:br>
            <a:r>
              <a:rPr lang="zh-TW" altLang="en-US" dirty="0"/>
              <a:t>若有回應 </a:t>
            </a:r>
            <a:r>
              <a:rPr lang="en-US" altLang="zh-TW" dirty="0"/>
              <a:t>res</a:t>
            </a:r>
            <a:r>
              <a:rPr lang="zh-TW" altLang="en-US" dirty="0"/>
              <a:t>，將該 </a:t>
            </a:r>
            <a:r>
              <a:rPr lang="en-US" altLang="zh-TW" dirty="0"/>
              <a:t>res</a:t>
            </a:r>
            <a:r>
              <a:rPr lang="zh-TW" altLang="en-US" dirty="0"/>
              <a:t> 轉成 </a:t>
            </a:r>
            <a:r>
              <a:rPr lang="en-US" altLang="zh-TW" dirty="0"/>
              <a:t>json</a:t>
            </a:r>
            <a:r>
              <a:rPr lang="zh-TW" altLang="en-US" dirty="0"/>
              <a:t>格式，再將資料用 </a:t>
            </a:r>
            <a:r>
              <a:rPr lang="en-US" altLang="zh-TW" dirty="0"/>
              <a:t>console.log()</a:t>
            </a:r>
            <a:r>
              <a:rPr lang="zh-TW" altLang="en-US" dirty="0"/>
              <a:t>顯示。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0ACA731-F915-4D35-AB91-CE0C7652BB62}"/>
              </a:ext>
            </a:extLst>
          </p:cNvPr>
          <p:cNvSpPr txBox="1"/>
          <p:nvPr/>
        </p:nvSpPr>
        <p:spPr>
          <a:xfrm>
            <a:off x="960017" y="395891"/>
            <a:ext cx="6098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</a:rPr>
              <a:t>fetch() 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的語法</a:t>
            </a:r>
          </a:p>
        </p:txBody>
      </p:sp>
    </p:spTree>
    <p:extLst>
      <p:ext uri="{BB962C8B-B14F-4D97-AF65-F5344CB8AC3E}">
        <p14:creationId xmlns:p14="http://schemas.microsoft.com/office/powerpoint/2010/main" val="303163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0305C23-067E-42EC-BCAE-874A29D090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104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6EE7A31-BCEF-4759-BA2E-C5CAD462B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2115555"/>
            <a:ext cx="7658100" cy="17049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C84608D-8778-4EB5-97BE-E1AA55C10B82}"/>
              </a:ext>
            </a:extLst>
          </p:cNvPr>
          <p:cNvSpPr txBox="1"/>
          <p:nvPr/>
        </p:nvSpPr>
        <p:spPr>
          <a:xfrm>
            <a:off x="1218703" y="1244091"/>
            <a:ext cx="9902070" cy="523220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Wingdings" panose="05000000000000000000" pitchFamily="2" charset="2"/>
              <a:buChar char="n"/>
              <a:defRPr b="1"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針對一</a:t>
            </a:r>
            <a:r>
              <a:rPr lang="en-US" altLang="zh-TW" dirty="0" err="1"/>
              <a:t>url</a:t>
            </a:r>
            <a:r>
              <a:rPr lang="zh-TW" altLang="en-US" dirty="0"/>
              <a:t>，發出一個</a:t>
            </a:r>
            <a:r>
              <a:rPr lang="en-US" altLang="zh-TW" dirty="0"/>
              <a:t>fetch()</a:t>
            </a:r>
            <a:r>
              <a:rPr lang="zh-TW" altLang="en-US" dirty="0"/>
              <a:t>請求，方法是用</a:t>
            </a:r>
            <a:r>
              <a:rPr lang="en-US" altLang="zh-TW" dirty="0"/>
              <a:t>post</a:t>
            </a:r>
            <a:r>
              <a:rPr lang="zh-TW" altLang="en-US" dirty="0"/>
              <a:t>，</a:t>
            </a:r>
            <a:r>
              <a:rPr lang="en-US" altLang="zh-TW" dirty="0"/>
              <a:t>Content-type</a:t>
            </a:r>
            <a:r>
              <a:rPr lang="zh-TW" altLang="en-US" dirty="0"/>
              <a:t>用 </a:t>
            </a:r>
            <a:r>
              <a:rPr lang="en-US" altLang="zh-TW" dirty="0"/>
              <a:t>json</a:t>
            </a:r>
            <a:r>
              <a:rPr lang="zh-TW" altLang="en-US" dirty="0"/>
              <a:t>形式，資料在 </a:t>
            </a:r>
            <a:r>
              <a:rPr lang="en-US" altLang="zh-TW" dirty="0"/>
              <a:t>body</a:t>
            </a:r>
            <a:r>
              <a:rPr lang="zh-TW" altLang="en-US" dirty="0"/>
              <a:t>上，先轉成字串型事。</a:t>
            </a:r>
            <a:br>
              <a:rPr lang="en-US" altLang="zh-TW" dirty="0"/>
            </a:br>
            <a:r>
              <a:rPr lang="zh-TW" altLang="en-US" dirty="0"/>
              <a:t>若有回應 </a:t>
            </a:r>
            <a:r>
              <a:rPr lang="en-US" altLang="zh-TW" dirty="0"/>
              <a:t>res</a:t>
            </a:r>
            <a:r>
              <a:rPr lang="zh-TW" altLang="en-US" dirty="0"/>
              <a:t>，將該 </a:t>
            </a:r>
            <a:r>
              <a:rPr lang="en-US" altLang="zh-TW" dirty="0"/>
              <a:t>res</a:t>
            </a:r>
            <a:r>
              <a:rPr lang="zh-TW" altLang="en-US" dirty="0"/>
              <a:t> 轉成 </a:t>
            </a:r>
            <a:r>
              <a:rPr lang="en-US" altLang="zh-TW" dirty="0"/>
              <a:t>json</a:t>
            </a:r>
            <a:r>
              <a:rPr lang="zh-TW" altLang="en-US" dirty="0"/>
              <a:t>格式，再將資料用 </a:t>
            </a:r>
            <a:r>
              <a:rPr lang="en-US" altLang="zh-TW" dirty="0"/>
              <a:t>console.log()</a:t>
            </a:r>
            <a:r>
              <a:rPr lang="zh-TW" altLang="en-US" dirty="0"/>
              <a:t>顯示。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F187DA5-D6A5-4FE1-927B-5369F847C7D0}"/>
              </a:ext>
            </a:extLst>
          </p:cNvPr>
          <p:cNvSpPr txBox="1"/>
          <p:nvPr/>
        </p:nvSpPr>
        <p:spPr>
          <a:xfrm>
            <a:off x="1358900" y="4686300"/>
            <a:ext cx="5044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.catch( err=&gt; console.log(err)) </a:t>
            </a:r>
            <a:endParaRPr lang="zh-TW" altLang="en-US" sz="28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3642279-DC4D-4855-878F-E8293AAC5B38}"/>
              </a:ext>
            </a:extLst>
          </p:cNvPr>
          <p:cNvSpPr txBox="1"/>
          <p:nvPr/>
        </p:nvSpPr>
        <p:spPr>
          <a:xfrm>
            <a:off x="1358900" y="4168774"/>
            <a:ext cx="2627642" cy="307777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Wingdings" panose="05000000000000000000" pitchFamily="2" charset="2"/>
              <a:buChar char="n"/>
              <a:defRPr b="1"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後面亦可加錯誤處理方式。</a:t>
            </a:r>
          </a:p>
        </p:txBody>
      </p:sp>
    </p:spTree>
    <p:extLst>
      <p:ext uri="{BB962C8B-B14F-4D97-AF65-F5344CB8AC3E}">
        <p14:creationId xmlns:p14="http://schemas.microsoft.com/office/powerpoint/2010/main" val="347505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7FFA912-D09E-4896-AA14-2872CEBABE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105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567CCF1-6A06-4ABF-9659-3CE934E09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87" y="1333500"/>
            <a:ext cx="6442614" cy="434558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4B9811F-5CF2-4172-A371-B8D98384FEE3}"/>
              </a:ext>
            </a:extLst>
          </p:cNvPr>
          <p:cNvSpPr txBox="1"/>
          <p:nvPr/>
        </p:nvSpPr>
        <p:spPr>
          <a:xfrm>
            <a:off x="601580" y="211740"/>
            <a:ext cx="10520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實機練習：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</a:rPr>
              <a:t>25_</a:t>
            </a:r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運用 </a:t>
            </a:r>
            <a:r>
              <a:rPr lang="en-US" altLang="zh-TW" sz="1800" b="1" dirty="0">
                <a:solidFill>
                  <a:schemeClr val="accent6">
                    <a:lumMod val="50000"/>
                  </a:schemeClr>
                </a:solidFill>
              </a:rPr>
              <a:t>fetch() </a:t>
            </a:r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方法 取得 台北市 中山區目前 </a:t>
            </a:r>
            <a:r>
              <a:rPr lang="en-US" altLang="zh-TW" sz="1800" b="1" dirty="0" err="1">
                <a:solidFill>
                  <a:schemeClr val="accent6">
                    <a:lumMod val="50000"/>
                  </a:schemeClr>
                </a:solidFill>
              </a:rPr>
              <a:t>youbike</a:t>
            </a:r>
            <a:r>
              <a:rPr lang="en-US" altLang="zh-TW" sz="1800" b="1" dirty="0">
                <a:solidFill>
                  <a:schemeClr val="accent6">
                    <a:lumMod val="50000"/>
                  </a:schemeClr>
                </a:solidFill>
              </a:rPr>
              <a:t> 2.0 </a:t>
            </a:r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站沒有車待送點</a:t>
            </a:r>
            <a:endParaRPr lang="en-US" altLang="zh-TW" sz="18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8FB1B6-83C4-4C68-9FE1-96E7207B0DD5}"/>
              </a:ext>
            </a:extLst>
          </p:cNvPr>
          <p:cNvSpPr/>
          <p:nvPr/>
        </p:nvSpPr>
        <p:spPr>
          <a:xfrm>
            <a:off x="2242266" y="5982811"/>
            <a:ext cx="72446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【ajax</a:t>
            </a:r>
            <a:r>
              <a:rPr lang="zh-TW" altLang="en-US" dirty="0"/>
              <a:t>科普</a:t>
            </a:r>
            <a:r>
              <a:rPr lang="en-US" altLang="zh-TW" dirty="0"/>
              <a:t>】【</a:t>
            </a:r>
            <a:r>
              <a:rPr lang="zh-TW" altLang="en-US" dirty="0"/>
              <a:t>前端</a:t>
            </a:r>
            <a:r>
              <a:rPr lang="en-US" altLang="zh-TW" dirty="0"/>
              <a:t>】fetch</a:t>
            </a:r>
            <a:r>
              <a:rPr lang="zh-TW" altLang="en-US" dirty="0"/>
              <a:t>、</a:t>
            </a:r>
            <a:r>
              <a:rPr lang="en-US" altLang="zh-TW" dirty="0" err="1"/>
              <a:t>axios</a:t>
            </a:r>
            <a:r>
              <a:rPr lang="zh-TW" altLang="en-US" dirty="0"/>
              <a:t>、</a:t>
            </a:r>
            <a:r>
              <a:rPr lang="en-US" altLang="zh-TW" dirty="0" err="1"/>
              <a:t>jquery</a:t>
            </a:r>
            <a:r>
              <a:rPr lang="zh-TW" altLang="en-US" dirty="0"/>
              <a:t>的</a:t>
            </a:r>
            <a:r>
              <a:rPr lang="en-US" altLang="zh-TW" dirty="0"/>
              <a:t>ajax</a:t>
            </a:r>
            <a:r>
              <a:rPr lang="zh-TW" altLang="en-US" dirty="0"/>
              <a:t>用法</a:t>
            </a:r>
          </a:p>
          <a:p>
            <a:r>
              <a:rPr lang="zh-TW" altLang="en-US" dirty="0">
                <a:hlinkClick r:id="rId3"/>
              </a:rPr>
              <a:t>https://www.youtube.com/watch?v=9dkBky9iIfg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544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723631-0CF5-4B2F-A5A2-AFC072374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106</a:t>
            </a:fld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7226FD-0838-47EC-AE66-31D11ECD4B3B}"/>
              </a:ext>
            </a:extLst>
          </p:cNvPr>
          <p:cNvSpPr/>
          <p:nvPr/>
        </p:nvSpPr>
        <p:spPr>
          <a:xfrm>
            <a:off x="1340700" y="1217712"/>
            <a:ext cx="57006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solidFill>
                  <a:srgbClr val="525252"/>
                </a:solidFill>
                <a:latin typeface="Fira Code"/>
              </a:rPr>
              <a:t>axios</a:t>
            </a:r>
            <a:r>
              <a:rPr lang="en-US" altLang="zh-TW" dirty="0">
                <a:solidFill>
                  <a:srgbClr val="525252"/>
                </a:solidFill>
                <a:latin typeface="Fira Code"/>
              </a:rPr>
              <a:t>  CDN</a:t>
            </a:r>
          </a:p>
          <a:p>
            <a:r>
              <a:rPr lang="en-US" altLang="zh-TW" dirty="0">
                <a:solidFill>
                  <a:srgbClr val="525252"/>
                </a:solidFill>
                <a:latin typeface="Fira Code"/>
              </a:rPr>
              <a:t>&lt;</a:t>
            </a:r>
            <a:r>
              <a:rPr lang="en-US" altLang="zh-TW" dirty="0">
                <a:solidFill>
                  <a:srgbClr val="2944DF"/>
                </a:solidFill>
                <a:latin typeface="Fira Code"/>
              </a:rPr>
              <a:t>script </a:t>
            </a:r>
            <a:r>
              <a:rPr lang="en-US" altLang="zh-TW" dirty="0" err="1">
                <a:solidFill>
                  <a:srgbClr val="671DDF"/>
                </a:solidFill>
                <a:latin typeface="Fira Code"/>
              </a:rPr>
              <a:t>src</a:t>
            </a:r>
            <a:r>
              <a:rPr lang="en-US" altLang="zh-TW" dirty="0">
                <a:solidFill>
                  <a:srgbClr val="525252"/>
                </a:solidFill>
                <a:latin typeface="Fira Code"/>
              </a:rPr>
              <a:t>="</a:t>
            </a:r>
            <a:r>
              <a:rPr lang="en-US" altLang="zh-TW" dirty="0">
                <a:solidFill>
                  <a:srgbClr val="DF1DDF"/>
                </a:solidFill>
                <a:latin typeface="Fira Code"/>
              </a:rPr>
              <a:t>https://cdn.jsdelivr.net/</a:t>
            </a:r>
            <a:r>
              <a:rPr lang="en-US" altLang="zh-TW" dirty="0" err="1">
                <a:solidFill>
                  <a:srgbClr val="DF1DDF"/>
                </a:solidFill>
                <a:latin typeface="Fira Code"/>
              </a:rPr>
              <a:t>npm</a:t>
            </a:r>
            <a:r>
              <a:rPr lang="en-US" altLang="zh-TW" dirty="0">
                <a:solidFill>
                  <a:srgbClr val="DF1DDF"/>
                </a:solidFill>
                <a:latin typeface="Fira Code"/>
              </a:rPr>
              <a:t>/</a:t>
            </a:r>
            <a:r>
              <a:rPr lang="en-US" altLang="zh-TW" dirty="0" err="1">
                <a:solidFill>
                  <a:srgbClr val="DF1DDF"/>
                </a:solidFill>
                <a:latin typeface="Fira Code"/>
              </a:rPr>
              <a:t>axios</a:t>
            </a:r>
            <a:r>
              <a:rPr lang="en-US" altLang="zh-TW" dirty="0">
                <a:solidFill>
                  <a:srgbClr val="DF1DDF"/>
                </a:solidFill>
                <a:latin typeface="Fira Code"/>
              </a:rPr>
              <a:t>/</a:t>
            </a:r>
            <a:r>
              <a:rPr lang="en-US" altLang="zh-TW" dirty="0" err="1">
                <a:solidFill>
                  <a:srgbClr val="DF1DDF"/>
                </a:solidFill>
                <a:latin typeface="Fira Code"/>
              </a:rPr>
              <a:t>dist</a:t>
            </a:r>
            <a:r>
              <a:rPr lang="en-US" altLang="zh-TW" dirty="0">
                <a:solidFill>
                  <a:srgbClr val="DF1DDF"/>
                </a:solidFill>
                <a:latin typeface="Fira Code"/>
              </a:rPr>
              <a:t>/axios.min.js</a:t>
            </a:r>
            <a:r>
              <a:rPr lang="en-US" altLang="zh-TW" dirty="0">
                <a:solidFill>
                  <a:srgbClr val="525252"/>
                </a:solidFill>
                <a:latin typeface="Fira Code"/>
              </a:rPr>
              <a:t>"&gt;&lt;/</a:t>
            </a:r>
            <a:r>
              <a:rPr lang="en-US" altLang="zh-TW" dirty="0">
                <a:solidFill>
                  <a:srgbClr val="2944DF"/>
                </a:solidFill>
                <a:latin typeface="Fira Code"/>
              </a:rPr>
              <a:t>script</a:t>
            </a:r>
            <a:r>
              <a:rPr lang="en-US" altLang="zh-TW" dirty="0">
                <a:solidFill>
                  <a:srgbClr val="525252"/>
                </a:solidFill>
                <a:latin typeface="Fira Code"/>
              </a:rPr>
              <a:t>&gt;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E63C7C9-D4EF-4F0C-BE4A-D60716F5E272}"/>
              </a:ext>
            </a:extLst>
          </p:cNvPr>
          <p:cNvSpPr txBox="1"/>
          <p:nvPr/>
        </p:nvSpPr>
        <p:spPr>
          <a:xfrm>
            <a:off x="960017" y="395891"/>
            <a:ext cx="6098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 err="1">
                <a:solidFill>
                  <a:schemeClr val="accent6">
                    <a:lumMod val="50000"/>
                  </a:schemeClr>
                </a:solidFill>
              </a:rPr>
              <a:t>axios</a:t>
            </a:r>
            <a:r>
              <a:rPr lang="en-US" altLang="zh-TW" sz="3600" b="1" dirty="0">
                <a:solidFill>
                  <a:schemeClr val="accent6">
                    <a:lumMod val="50000"/>
                  </a:schemeClr>
                </a:solidFill>
              </a:rPr>
              <a:t>() </a:t>
            </a:r>
            <a:r>
              <a:rPr lang="zh-TW" altLang="en-US" sz="3600" b="1" dirty="0">
                <a:solidFill>
                  <a:schemeClr val="accent6">
                    <a:lumMod val="50000"/>
                  </a:schemeClr>
                </a:solidFill>
              </a:rPr>
              <a:t>的語法</a:t>
            </a:r>
          </a:p>
        </p:txBody>
      </p:sp>
    </p:spTree>
    <p:extLst>
      <p:ext uri="{BB962C8B-B14F-4D97-AF65-F5344CB8AC3E}">
        <p14:creationId xmlns:p14="http://schemas.microsoft.com/office/powerpoint/2010/main" val="423692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主題">
  <a:themeElements>
    <a:clrScheme name="自定义 8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28EB0"/>
      </a:accent1>
      <a:accent2>
        <a:srgbClr val="00B6BF"/>
      </a:accent2>
      <a:accent3>
        <a:srgbClr val="FEB068"/>
      </a:accent3>
      <a:accent4>
        <a:srgbClr val="FF6372"/>
      </a:accent4>
      <a:accent5>
        <a:srgbClr val="228EB0"/>
      </a:accent5>
      <a:accent6>
        <a:srgbClr val="00B6B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6963</TotalTime>
  <Words>8019</Words>
  <Application>Microsoft Office PowerPoint</Application>
  <PresentationFormat>寬螢幕</PresentationFormat>
  <Paragraphs>1010</Paragraphs>
  <Slides>106</Slides>
  <Notes>39</Notes>
  <HiddenSlides>0</HiddenSlides>
  <MMClips>0</MMClips>
  <ScaleCrop>false</ScaleCrop>
  <HeadingPairs>
    <vt:vector size="6" baseType="variant">
      <vt:variant>
        <vt:lpstr>使用字型</vt:lpstr>
      </vt:variant>
      <vt:variant>
        <vt:i4>16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106</vt:i4>
      </vt:variant>
    </vt:vector>
  </HeadingPairs>
  <TitlesOfParts>
    <vt:vector size="123" baseType="lpstr">
      <vt:lpstr>Verdana</vt:lpstr>
      <vt:lpstr>Arial</vt:lpstr>
      <vt:lpstr>-apple-system</vt:lpstr>
      <vt:lpstr>SF Pro SC</vt:lpstr>
      <vt:lpstr>PMingLiu</vt:lpstr>
      <vt:lpstr>Helvetica Neue</vt:lpstr>
      <vt:lpstr>Fira Code</vt:lpstr>
      <vt:lpstr>Lucida Console</vt:lpstr>
      <vt:lpstr>Lato</vt:lpstr>
      <vt:lpstr>Calibri</vt:lpstr>
      <vt:lpstr>PMingLiu</vt:lpstr>
      <vt:lpstr>Noto Sans Symbols</vt:lpstr>
      <vt:lpstr>Wingdings</vt:lpstr>
      <vt:lpstr>微軟正黑體</vt:lpstr>
      <vt:lpstr>Consolas</vt:lpstr>
      <vt:lpstr>Segoe UI</vt:lpstr>
      <vt:lpstr>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jQuery 物件與 DOM 物件內容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DevenC</dc:creator>
  <cp:lastModifiedBy>許正憲</cp:lastModifiedBy>
  <cp:revision>138</cp:revision>
  <dcterms:created xsi:type="dcterms:W3CDTF">2017-07-19T00:44:57Z</dcterms:created>
  <dcterms:modified xsi:type="dcterms:W3CDTF">2025-02-05T16:08:26Z</dcterms:modified>
</cp:coreProperties>
</file>